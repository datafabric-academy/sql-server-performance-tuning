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สไลด์เปิดเด็ค — วางกรอบว่าโมดูลนี้มองลง "ใต้ผิว" ของ database ไปถึงระดับ Page 8 KB ก่อนไปต่อ Memory ในโมดูลถัดไป `Ref: Module_03_Database_Structures/README.md`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พิมพ์งบเวลา + จำนวน Exercise ให้ผู้เรียนรู้งบก่อนเริ่ม — ระวัง: ตารางสอนรายชั่วโมง Day 1 (`Trainer_Docs/Course_Guide_4Days.md:71-81`) ยังไม่มีช่วงเวลาของบทที่ 3 แม้แผนที่โมดูล `:128` ระบุ M3 อยู่วันที่ 1 — ต้องยืนยันงบเวลาจริงกับเจ้าของหลักสูตรก่อนประกอบเด็ค `Ref: Trainer_Docs/Course_Guide_4Days.md:124-136`</a:t>
            </a:r>
          </a:p>
          <a:p>
            <a:r>
              <a:t>จุดเพิ่มเติมที่ย่อออกจากสไลด์: Prerequisite แล็บ: `sysadmin` + AdventureWorks2025 + SSMS 2 หน้าต่าง query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สไลด์แรกของ Section 1 — ทบทวนว่าทำไม Page 8 KB คือหน่วย I/O จริง ต้องรู้มาก่อน: SELECT/JOIN + ศัพท์ Page/Extent/IAM — ชี้ลิงก์ Glossary กลาง (`Trainer_Docs/Glossary.md` ยังไม่มีใน repo ต้องสร้างตามแผนเฟส 0) `Ref: Module_03_Database_Structures/Sections/01_Structure_Internals/README.md:5-7`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ใช้แผนภาพลำดับชั้นเป็นแกนเล่า ย้ำตัวเลข 8 KB / 64 KB / 8 Pages และที่มาของกฎ "ไฟล์เท่ากัน" จาก Proportional Fill `Ref: Module_03_Database_Structures/Sections/01_Structure_Internals/README.md:13-51, 94-99`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ตาราง 4 แผนที่นี้จะกลับมาอีกครั้งตอนอธิบาย tempdb contention (สไลด์ 16) — ให้ผู้เรียนจำหน้าที่แบบ "ใครจดอะไร" `Ref: Module_03_Database_Structures/Sections/01_Structure_Internals/README.md:76-109`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ศัพท์ที่ต้องรู้ก่อน: DBCC = Database Console Commands, `TRACEON(3604)` ส่งผลลัพธ์ DBCC ออกทาง client, CTE/`GO n` พบในสคริปต์แล็บ — โค้ดบนสไลด์ต้อง pull จากสคริปต์จริง 2 ไฟล์ข้างต้น ซึ่งยังไม่มี header `MinVersion:` (ตรวจด้วย `grep -L MinVersion` = ขาด 5/5 ทั้งโมดูล) ต้องเติมก่อนขึ้นสไลด์ Code Lab `Ref: Module_03_Database_Structures/Labs/README.md:24-56, 60-126`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สไลด์แรกของ Section 2 — เชื่อมจาก Module 2 สู่ระดับการตั้งค่าไฟล์ ต้องรู้มาก่อน: IOPS/Latency/RAID + ศัพท์ IFI — ชี้ลิงก์ Glossary กลาง (ยังไม่มีไฟล์) · **ต้องเขียนเนื้อหาเพิ่ม:** Section 2 README ยังเป็น outline 31 บรรทัด ต้องขยาย 3.1–3.4 ตาม DoD ก่อนถือว่า section จบ `Ref: Module_03_Database_Structures/Sections/02_Data_File_Internals/README.md:5-25`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FAQ ข้อ 3 ของโมดูลถามเรื่องนี้ตรง ๆ (ทำไมไม่ควรใช้ Auto Shrink) — ให้ผู้เรียนตอบได้ก่อนจบ section · **ต้องเขียนเนื้อหาเพิ่ม:** README 3.3 ยังสั้น 6 บรรทัด ต้องขยายเหตุผล/หลักฐาน (เช่น fragmentation ก่อน–หลัง shrink) ตาม DoD `Ref: Module_03_Database_Structures/Sections/02_Data_File_Internals/README.md:15-20, Module_03_Database_Structures/README.md:50-52`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ศัพท์ที่ต้องรู้ก่อน: `sys.master_files` = catalog view ของไฟล์ database ทั้ง instance, IFI = Instant File Initialization (ข้ามการเขียน zero ตอนสร้าง/grow ไฟล์) — สคริปต์ทั้งสองไฟล์ยังไม่มี header `MinVersion:` ต้องเติมก่อนขึ้นสไลด์ `Ref: Module_03_Database_Structures/Sections/02_Data_File_Internals/Scripts/03_IFI_and_TempDB_Config.sql, 04_Database_File_Sizes.sql; Module_03_Database_Structures/README.md:71`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ให้ผู้เรียนตอบก่อนเฉลยจาก README 3.3–3.4 · **ต้องเขียนเนื้อหาเพิ่ม:** quiz bank รายโมดูลยังไม่มีใน repo (แผนเฟส 3) — คำถามชุดนี้ร่างจาก FAQ ของ module README ต้องย้ายเข้า quiz bank พร้อมเฉลย `Ref: Module_03_Database_Structures/README.md:50-52, Sections/02_Data_File_Internals/README.md:15-25`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สไลด์แรกของ Section 3 — ต้องรู้มาก่อน: autogrowth (Section 2) + ศัพท์ VLF ชี้ลิงก์ Glossary · **ต้องเขียนเนื้อหาเพิ่ม:** README 5.1 ครอบแค่ VLF ต้องเขียนเพิ่มเรื่อง Log Truncation / Checkpoint เพื่อให้เห็นว่า log วนใช้พื้นที่อย่างไร `Ref: Module_03_Database_Structures/Sections/03_Transaction_Log_Internals/README.md:5-9, Module_03_Database_Structures/README.md:70`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อ่านโค้ดตรวจนับ ghost ตามสไลด์ได้ทันทีเพราะมีใน README · **ต้องเขียนเนื้อหาเพิ่ม:** ขยาย 5.2 ตาม DoD เช่น ผลต่อ space reclaim และความสัมพันธ์กับ version store ที่โยงไป Section 4 `Ref: Module_03_Database_Structures/Sections/03_Transaction_Log_Internals/README.md:11-33`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ศัพท์ที่ต้องรู้ก่อน: `sys.dm_db_log_info` = DMV แสดง VLF ทั้ง log file (ต้อง 2016 SP2+), `DBCC SHRINKFILE` = คำสั่งหดขนาดไฟล์ — สคริปต์ 05 ยังไม่มี header `MinVersion:` ต้องเติมก่อนขึ้นสไลด์ `Ref: Module_03_Database_Structures/Labs/README.md:149-189, Sections/03_Transaction_Log_Internals/Scripts/05_VLF_Analysis.sql`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เฉลยจาก README 5.1–5.2 · **ต้องเขียนเนื้อหาเพิ่ม:** quiz bank ยังไม่มี — คำถามข้อ 1–2 ร่างจาก FAQ ของ module README ข้อ 1, ข้อ 3 จาก README 5.2 ต้องย้ายเข้า quiz bank พร้อมเฉลย `Ref: Module_03_Database_Structures/README.md:40-42, Sections/03_Transaction_Log_Internals/README.md:5-33`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สไลด์แรกของ Section 4 — ต้องรู้มาก่อน: GAM/SGAM/PFS (สไลด์ 5) + waits เบื้องต้น (M1) ศัพท์ PAGELATCH/Version Store ชี้ลิงก์ Glossary กลาง (ยังไม่มีไฟล์) · **ต้องเขียนเนื้อหาเพิ่ม:** README 4.1 มีแค่ 4 บรรทัด ต้องขยายเช่น tempdb rebuild ตอน startup และการวางแผนขนาด `Ref: Module_03_Database_Structures/Sections/04_TempDB_Internals/README.md:5-9`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สไลด์นี้คือหัวใจของ Lab Exercise 4 — ให้ผู้เรียนเห็นสายเดียวกันจาก Section 1 (allocation maps) → อาการ (waits) → ทางแก้ (ไฟล์เท่ากัน) `Ref: Module_03_Database_Structures/Sections/04_TempDB_Internals/README.md:11-23, Labs/README.md:193-247`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เนื้อหาชุดนี้อยู่ท้าย module README หัวข้อ 8.1–8.3 ซึ่งมี heading เสีย `## ###` ที่บรรทัด 60 — ต้องแก้ heading ก่อนตามแผนเฟส 0 · **ต้องเขียนเนื้อหาเพิ่ม:** ย้าย/ขยายเนื้อหา 8.1–8.3 ลงใน section 4 README ให้เป็นเนื้อหาปกติของ section `Ref: Module_03_Database_Structures/README.md:60-76, Trainer_Docs/Course_Guide_4Days.md:54`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เฉลยจาก README 4.2 + module README 8.1 · **ต้องเขียนเนื้อหาเพิ่ม:** quiz bank ยังไม่มี — คำถามข้อ 1 ร่างจาก FAQ ของ module README ข้อ 2 อีกสองข้อเพิ่มใหม่ ต้องย้ายเข้า quiz bank พร้อมเฉลย `Ref: Module_03_Database_Structures/README.md:45-47, 60-64, Sections/04_TempDB_Internals/README.md:11-23`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พิมพ์จำนวน Exercise (4) ให้ผู้สอนรู้ล่วงหน้าว่าต้องรันกี่จุด · **งาน normalize:** แล็บมีบล็อก "ผลที่คาดหวัง" เพียง 1 จุด (บรรทัด 110) ต้องทำเป็นรูปแบบ `**Expected:**` ครบ 4/4 Exercise ตามแผนเฟส 0 และต้องเพิ่ม `Scripts/` ให้ Section 4 อีก 1 จุดตามช่องว่าง M3 `Ref: Module_03_Database_Structures/Labs/README.md:24-282`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 4 ประเด็นโยงกลับไปที่แผนภาพลำดับชั้นในสไลด์ 4 แล้วส่งมอบต่อ Module 4 (Buffer Pool) — ให้ผู้เรียนลองตอบ wrap-up 3 คำถามของแล็บอีกครั้ง `Ref: Module_03_Database_Structures/Labs/README.md:264-268, Sections/02_Data_File_Internals/README.md:22-25`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ปกเด็ค — Module 3: Database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Module 3: Database Structures</a:t>
            </a:r>
            <a:r>
              <a:rPr sz="1600" b="0">
                <a:latin typeface="Leelawadee UI"/>
                <a:cs typeface="Leelawadee UI"/>
              </a:rPr>
              <a:t> — โครงสร้างการจัดเก็บข้อมูล: Database Files, Pages &amp; TempDB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จาก Page 8 KB ถึงการตั้งค่า TempDB — รากฐานของ Space Management และ Performance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4 Sections + Lab 3 (4 Exercise) — SQL Server 2025 (17.x) + AdventureWorks2025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สอนวันที่ 1 ของหลักสูตร (ตามแผนที่โมดูลของ Course Guide)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Database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Section 1 Structure Internals → Section 2 Data File Internals → Section 3 Transaction Log Internals → Section 4 TempDB Internals · </a:t>
            </a:r>
            <a:r>
              <a:rPr sz="1500" b="1">
                <a:latin typeface="Leelawadee UI"/>
                <a:cs typeface="Leelawadee UI"/>
              </a:rPr>
              <a:t>งบเวลาโมดูล ≈150 นาที</a:t>
            </a:r>
            <a:r>
              <a:rPr sz="1500" b="0">
                <a:latin typeface="Leelawadee UI"/>
                <a:cs typeface="Leelawadee UI"/>
              </a:rPr>
              <a:t> (ข้อเสนอจากสูตร 7.3 นาที/สไลด์ × 20 สไลด์ ≈ 146 นาที — ยังไม่มีตัวเลขในตารางสอน ต้องยืนยันกับเจ้าของหลักสูตร)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1">
                <a:latin typeface="Leelawadee UI"/>
                <a:cs typeface="Leelawadee UI"/>
              </a:rPr>
              <a:t>Lab 3: Pages, VLF &amp; TempDB Internals — 4 Exercise</a:t>
            </a:r>
            <a:r>
              <a:rPr sz="1500" b="0">
                <a:latin typeface="Leelawadee UI"/>
                <a:cs typeface="Leelawadee UI"/>
              </a:rPr>
              <a:t> (รันใน VM ผู้เรียนทุกคน)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Structure Internals — SQL Server อ่าน/เขียนเป็น Page ไม่ใช่ Row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ทุก Row/Index สุดท้ายถูกเก็บใน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Page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ขนาด 8 KB (8,192 bytes คงที่) — หน่วยย่อยที่สุดของ Data File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หลักการสำคัญ: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SQL Server อ่าน/เขียนเป็นหน่วย Page ไม่ใช่ Row — Query ที่อ่านหลาย Pages จึงช้ากว่าที่อ่านน้อย Pages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เส้นทางของ Section นี้: Page → Extent → Data File → Filegroup → Page Types → Allocation Maps แล้วจบด้วยการ "เปิดดู Page จริง" ด้วย DBCC PAGE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ต้องรู้มาก่อน: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SELECT/JOIN พื้นฐาน + แนวคิด Buffer Pool คร่าว ๆ — ศัพท์ Page / Extent / IAM ดู Glossary กลาง (ไฟล์ยังต้องสร้างตามแผนเฟส 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โครงสร้างลำดับชั้น: Page → Extent → Data File → Filegroup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Page (8 KB)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หน่วยเก็บข้อมูลย่อยที่สุด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Extent (64 KB = 8 Pages)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*Uniform Extent* ทั้ง 8 pages เป็นของ Object เดียว (รูปแบบหลักปัจจุบัน) vs *Mixed Extent* แชร์หลาย Object (พบในเวอร์ชันเก่า)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Data File (.mdf เสมอ 1 ไฟล์ / .ndf หลายไฟล์)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หลายไฟล์ใน Filegroup เดียวช่วยกระจาย I/O ลด GAM/SGAM contention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Filegroup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หน่วย Admin/Performance Planning มี PRIMARY เสมอ แยก Data/Index ตามประเภทข้อมูลหรือ Storage Tier 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Proportional Fill Algorithm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เขียนลงไฟล์ตามสัดส่วน Free Space ไฟล์ไม่เท่ากัน = IO hotspot จึงต้อง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Equal File Size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เสมอ</a:t>
            </a:r>
          </a:p>
        </p:txBody>
      </p:sp>
      <p:pic>
        <p:nvPicPr>
          <p:cNvPr id="4" name="Picture 3" descr="page-extent-filegroup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Page Types &amp; Allocation Maps (GAM / SGAM / IAM / PFS)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Page 8,192 bytes = Header + Data + Row Offset — Page Types สำคัญ: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Data (1)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ข้อมูล leaf level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Index (2)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โครง B-Tree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Text-Image (3, 4)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LOB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GAM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ติดตาม Extent ว่าง ·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SGAM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ติดตาม Mixed Extent ที่ยังมีหน้าว่าง — ละ 64,000 extents (~4 GB)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IAM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แผนที่ Extent ของแต่ละ Object ·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PFS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ติดตาม Free Space ระดับ Page — ละ 8,088 pages (~64 MB)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PFS Byte บอกความแน่น 5 ระดับ / GAM bit (1 = Extent ว่าง) / SGAM bit —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SGAM คือจุดเกิด Latch Contention บ่อยสุดใน TempDB ยุคเก่า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เกิน ~8,060 bytes ต่อแถว: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Row-Overflow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ย้ายส่วนเกินไป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ROW_OVERFLOW_DATA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vs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LOB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ย้ายไป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LOB_DATA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เหลือ Pointer 16–24 bytes ใน Data Page หลัก</a:t>
            </a:r>
          </a:p>
        </p:txBody>
      </p:sp>
      <p:pic>
        <p:nvPicPr>
          <p:cNvPr id="4" name="Picture 3" descr="page-anatomy-allocation-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เปิดดู Page จริง + GUID vs Sequential Key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หา page แรกของ </a:t>
            </a:r>
            <a:r>
              <a:rPr sz="1500" b="0">
                <a:latin typeface="Consolas"/>
                <a:cs typeface="Consolas"/>
              </a:rPr>
              <a:t>Person.Person</a:t>
            </a:r>
            <a:r>
              <a:rPr sz="1500" b="0">
                <a:latin typeface="Leelawadee UI"/>
                <a:cs typeface="Leelawadee UI"/>
              </a:rPr>
              <a:t> ด้วย </a:t>
            </a:r>
            <a:r>
              <a:rPr sz="1500" b="0">
                <a:latin typeface="Consolas"/>
                <a:cs typeface="Consolas"/>
              </a:rPr>
              <a:t>sys.system_internals_allocation_units</a:t>
            </a:r>
            <a:r>
              <a:rPr sz="1500" b="0">
                <a:latin typeface="Leelawadee UI"/>
                <a:cs typeface="Leelawadee UI"/>
              </a:rPr>
              <a:t> → </a:t>
            </a:r>
            <a:r>
              <a:rPr sz="1500" b="0">
                <a:latin typeface="Consolas"/>
                <a:cs typeface="Consolas"/>
              </a:rPr>
              <a:t>DBCC TRACEON(3604)</a:t>
            </a:r>
            <a:r>
              <a:rPr sz="1500" b="0">
                <a:latin typeface="Leelawadee UI"/>
                <a:cs typeface="Leelawadee UI"/>
              </a:rPr>
              <a:t> → </a:t>
            </a:r>
            <a:r>
              <a:rPr sz="1500" b="0">
                <a:latin typeface="Consolas"/>
                <a:cs typeface="Consolas"/>
              </a:rPr>
              <a:t>DBCC PAGE(..., 3)</a:t>
            </a:r>
            <a:r>
              <a:rPr sz="1500" b="0">
                <a:latin typeface="Leelawadee UI"/>
                <a:cs typeface="Leelawadee UI"/>
              </a:rPr>
              <a:t> อ่าน Page Header (</a:t>
            </a:r>
            <a:r>
              <a:rPr sz="1500" b="0">
                <a:latin typeface="Consolas"/>
                <a:cs typeface="Consolas"/>
              </a:rPr>
              <a:t>m_type = 1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m_freeCnt</a:t>
            </a:r>
            <a:r>
              <a:rPr sz="15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สร้าง </a:t>
            </a:r>
            <a:r>
              <a:rPr sz="1500" b="0">
                <a:latin typeface="Consolas"/>
                <a:cs typeface="Consolas"/>
              </a:rPr>
              <a:t>BadKeyTable</a:t>
            </a:r>
            <a:r>
              <a:rPr sz="1500" b="0">
                <a:latin typeface="Leelawadee UI"/>
                <a:cs typeface="Leelawadee UI"/>
              </a:rPr>
              <a:t> (NEWID()) คู่ </a:t>
            </a:r>
            <a:r>
              <a:rPr sz="1500" b="0">
                <a:latin typeface="Consolas"/>
                <a:cs typeface="Consolas"/>
              </a:rPr>
              <a:t>GoodKeyTable</a:t>
            </a:r>
            <a:r>
              <a:rPr sz="1500" b="0">
                <a:latin typeface="Leelawadee UI"/>
                <a:cs typeface="Leelawadee UI"/>
              </a:rPr>
              <a:t> (IDENTITY) insert จับเวลาด้วย </a:t>
            </a:r>
            <a:r>
              <a:rPr sz="1500" b="0">
                <a:latin typeface="Consolas"/>
                <a:cs typeface="Consolas"/>
              </a:rPr>
              <a:t>SET STATISTICS TIME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เทียบ </a:t>
            </a:r>
            <a:r>
              <a:rPr sz="1500" b="0">
                <a:latin typeface="Consolas"/>
                <a:cs typeface="Consolas"/>
              </a:rPr>
              <a:t>avg_fragmentation_in_percent</a:t>
            </a:r>
            <a:r>
              <a:rPr sz="1500" b="0">
                <a:latin typeface="Leelawadee UI"/>
                <a:cs typeface="Leelawadee UI"/>
              </a:rPr>
              <a:t> / </a:t>
            </a:r>
            <a:r>
              <a:rPr sz="1500" b="0">
                <a:latin typeface="Consolas"/>
                <a:cs typeface="Consolas"/>
              </a:rPr>
              <a:t>page_count</a:t>
            </a:r>
            <a:r>
              <a:rPr sz="1500" b="0">
                <a:latin typeface="Leelawadee UI"/>
                <a:cs typeface="Leelawadee UI"/>
              </a:rPr>
              <a:t> ด้วย </a:t>
            </a:r>
            <a:r>
              <a:rPr sz="1500" b="0">
                <a:latin typeface="Consolas"/>
                <a:cs typeface="Consolas"/>
              </a:rPr>
              <a:t>sys.dm_db_index_physical_stats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ผลที่คาดหวัง: BadKey fragmentation ~99% + page_count บวม / GoodKey &lt; 1% (จากบล็อก "ผลที่คาดหวัง" ของแล็บ)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"User does not have permission to run DBCC PAGE" — ต้อง </a:t>
            </a:r>
            <a:r>
              <a:rPr sz="1500" b="0">
                <a:latin typeface="Consolas"/>
                <a:cs typeface="Consolas"/>
              </a:rPr>
              <a:t>sysadmin</a:t>
            </a:r>
            <a:r>
              <a:rPr sz="1500" b="0">
                <a:latin typeface="Leelawadee UI"/>
                <a:cs typeface="Leelawadee UI"/>
              </a:rPr>
              <a:t> · </a:t>
            </a:r>
            <a:r>
              <a:rPr sz="1500" b="1">
                <a:latin typeface="Leelawadee UI"/>
                <a:cs typeface="Leelawadee UI"/>
              </a:rPr>
              <a:t>รุ่นขั้นต่ำ: SQL Server 2019+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Data File Internals — ตั้งค่าไฟล์ให้ถูกตั้งแต่วันแรก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Volume Configuration: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RAID 10 สำหรับ Log Files (write-intensive) / RAID 5 หรือ 10 สำหรับ Data Files, Format ด้วย Allocation Unit Size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64 KB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ให้ตรงกับ Extent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Isolation: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แยก Data Files และ Log Files คนละ Physical Disk ลด I/O contention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IFI (Instant File Initialization)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ข้ามขั้นตอน zero-filling ตอนจองพื้นที่: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CREATE DATABASE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RESTORE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Autogrow เร็วขึ้น ต้องสิทธิ์ "Perform Volume Maintenance Tasks" ให้ service account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Logical vs Physical I/O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Logical อ่านจาก Buffer Pool เร็ว / Physical อ่านจาก Disk latency สูง — เป้าหมาย Buffer Cache Hit Ratio สูงเกือบ 100%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ต้องรู้มาก่อน: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I/O Subsystem จาก Module 2 (IOPS / Latency / RAID) — ศัพท์ IFI / Autogrowth ดู Glossary กลาง (ยังต้องสร้าง)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Auto Grow vs Auto Shrink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Auto Grow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ใช้เป็น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Safety Net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เท่านั้น — pre-allocate ขนาดไฟล์ให้พอกับ workload ปกติ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ตั้ง Fixed Size (MB) เช่น 64–256 MB —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ห้าม PERCENT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เพื่อไม่ให้ grow แต่ละครั้งนานเกินไป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Log growth ต้องใหญ่พอให้ได้ VLF น้อย (โยง Section 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Auto Shrink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Strongly Discouraged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ทำให้เกิด Index Fragmentation ระดับสูง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วงจร Shrink-then-Grow สิ้นเปลือง CPU และ I/O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ทางแก้ที่ถูกคือจัดขนาดไฟล์ + จัดการ space ไม่ใช่ shrink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ตรวจ IFI และทบทวน File Sizes/Growth ทั้ง Instance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ตรวจ IFI: ดู service account จาก </a:t>
            </a:r>
            <a:r>
              <a:rPr sz="1600" b="0">
                <a:latin typeface="Consolas"/>
                <a:cs typeface="Consolas"/>
              </a:rPr>
              <a:t>sys.dm_server_services</a:t>
            </a:r>
            <a:r>
              <a:rPr sz="1600" b="0">
                <a:latin typeface="Leelawadee UI"/>
                <a:cs typeface="Leelawadee UI"/>
              </a:rPr>
              <a:t> + เช็คสิทธิ์ "Perform volume maintenance tasks" ใน Local Security Policy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ทบทวนขนาด/growth ทุก database ด้วย </a:t>
            </a:r>
            <a:r>
              <a:rPr sz="1600" b="0">
                <a:latin typeface="Consolas"/>
                <a:cs typeface="Consolas"/>
              </a:rPr>
              <a:t>sys.master_files</a:t>
            </a:r>
            <a:r>
              <a:rPr sz="1600" b="0">
                <a:latin typeface="Leelawadee UI"/>
                <a:cs typeface="Leelawadee UI"/>
              </a:rPr>
              <a:t> (แบบ Glenn Berry Diagnostic Queries) — ไฟล์ที่ </a:t>
            </a:r>
            <a:r>
              <a:rPr sz="1600" b="0">
                <a:latin typeface="Consolas"/>
                <a:cs typeface="Consolas"/>
              </a:rPr>
              <a:t>is_percent_growth = 1</a:t>
            </a:r>
            <a:r>
              <a:rPr sz="1600" b="0">
                <a:latin typeface="Leelawadee UI"/>
                <a:cs typeface="Leelawadee UI"/>
              </a:rPr>
              <a:t> คือ flag แดง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สร้าง config script ให้ TempDB ตามจำนวน CPU (PART 2 ของสคริปต์ — </a:t>
            </a:r>
            <a:r>
              <a:rPr sz="1600" b="1">
                <a:latin typeface="Leelawadee UI"/>
                <a:cs typeface="Leelawadee UI"/>
              </a:rPr>
              <a:t>อ่านก่อนรัน ห้าม execute โดยไม่ดู</a:t>
            </a:r>
            <a:r>
              <a:rPr sz="16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error ที่พบได้:</a:t>
            </a:r>
            <a:r>
              <a:rPr sz="1600" b="0">
                <a:latin typeface="Leelawadee UI"/>
                <a:cs typeface="Leelawadee UI"/>
              </a:rPr>
              <a:t> "VIEW SERVER STATE permission denied" ถ้าไม่มีสิทธิ์ · </a:t>
            </a:r>
            <a:r>
              <a:rPr sz="1600" b="1">
                <a:latin typeface="Leelawadee UI"/>
                <a:cs typeface="Leelawadee UI"/>
              </a:rPr>
              <a:t>รุ่นขั้นต่ำ: SQL Server 2019+</a:t>
            </a:r>
            <a:r>
              <a:rPr sz="1600" b="0">
                <a:latin typeface="Leelawadee UI"/>
                <a:cs typeface="Leelawadee UI"/>
              </a:rPr>
              <a:t> (2022+: log autogrow ≤ 64 MB ได้ประโยชน์จาก IFI ด้วย)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 — Data File Internals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ทำไมไม่ควรใช้ Auto Shrink? (Index Fragmentation สูง + วงจร Shrink-then-Grow กิน CPU/I/O)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IFI ต้องขอสิทธิ์อะไรให้ SQL Server Service Account และช่วยเร่งคำสั่งใดบ้าง?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Growth ควรตั้งเป็น MB หรือ PERCENT เพราะอะไร?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Transaction Log Internals — VLF และราคาของ Autogrowth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Transaction Log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.ldf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ถูกแบ่งโครงสร้างภายในเป็น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Virtual Log Files (VLF)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หน่วยบริหารของ log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High VLF Count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เกิดจาก Auto-growth ขนาดเล็กเกินไป (เช่น 1 MB) → Fragmented Log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Impact: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Database Startup / Restore / Replication ทำงานช้าลง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Best Practice: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Pre-allocate Log File + Auto-growth เป็นก้อนใหญ่ (เช่น 4 GB หรือ 8 GB) — ตรวจด้วย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sys.dm_db_log_info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(แทน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DBCC LOGINFO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ต้องรู้มาก่อน: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แนวคิด autogrowth จาก Section 2 — ศัพท์ VLF / Log Truncation ดู Glossary กลาง (ยังต้องสร้าง)</a:t>
            </a:r>
          </a:p>
        </p:txBody>
      </p:sp>
      <p:pic>
        <p:nvPicPr>
          <p:cNvPr id="4" name="Picture 3" descr="vlf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Ghost Cleanup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Ghost Records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Data Row ที่ถูก DELETE แล้วแต่ยังไม่ถูกลบออกจาก Page จริง — เปลี่ยน bit ใน Row Header แทนการลบทันที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ทำไมต้องมี Ghost: เพิ่มประสิทธิภาพ DELETE + รองรับ Row-level Locking / Snapshot Isolation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Ghost Cleanup Task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background process รันเป็นระยะเก็บ Ghost Records ออกจาก Pages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ตรวจนับได้ด้วย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ghost_record_count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จาก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sys.dm_db_index_physical_stats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(โค้ดมีใน README แล้ว)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Trace Flag 661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ปิด Ghost Cleanup ได้แต่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ไม่แนะนำ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ไฟล์โตเรื่อย ๆ (space ไม่ถูก reclaim), page splits เพิ่มขึ้น, ต้องพึ่ง Index Rebuild แทน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VLF Analysis: นับ VLF และแก้ Log Bloat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นับ VLF ทุก database ด้วย </a:t>
            </a:r>
            <a:r>
              <a:rPr sz="1600" b="0">
                <a:latin typeface="Consolas"/>
                <a:cs typeface="Consolas"/>
              </a:rPr>
              <a:t>sys.dm_db_log_info</a:t>
            </a:r>
            <a:r>
              <a:rPr sz="1600" b="0">
                <a:latin typeface="Leelawadee UI"/>
                <a:cs typeface="Leelawadee UI"/>
              </a:rPr>
              <a:t> JOIN </a:t>
            </a:r>
            <a:r>
              <a:rPr sz="1600" b="0">
                <a:latin typeface="Consolas"/>
                <a:cs typeface="Consolas"/>
              </a:rPr>
              <a:t>sys.master_files</a:t>
            </a:r>
            <a:r>
              <a:rPr sz="1600" b="0">
                <a:latin typeface="Leelawadee UI"/>
                <a:cs typeface="Leelawadee UI"/>
              </a:rPr>
              <a:t> — สคริปต์มี threshold ในตัว: &gt;1000 Critical / &gt;500 Warning / &gt;100 Moderate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จำลอง VLF ระเบิด (VM ทดสอบเท่านั้น): </a:t>
            </a:r>
            <a:r>
              <a:rPr sz="1600" b="0">
                <a:latin typeface="Consolas"/>
                <a:cs typeface="Consolas"/>
              </a:rPr>
              <a:t>FILEGROWTH = 1 MB</a:t>
            </a:r>
            <a:r>
              <a:rPr sz="1600" b="0">
                <a:latin typeface="Leelawadee UI"/>
                <a:cs typeface="Leelawadee UI"/>
              </a:rPr>
              <a:t> แล้วทำ transaction เขียน log หลายรอบ แล้วตรวจซ้ำเทียบจำนวน VLF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แก้กลับสู่ค่าที่ดี: </a:t>
            </a:r>
            <a:r>
              <a:rPr sz="1600" b="0">
                <a:latin typeface="Consolas"/>
                <a:cs typeface="Consolas"/>
              </a:rPr>
              <a:t>FILEGROWTH = 256 MB</a:t>
            </a:r>
            <a:r>
              <a:rPr sz="1600" b="0">
                <a:latin typeface="Leelawadee UI"/>
                <a:cs typeface="Leelawadee UI"/>
              </a:rPr>
              <a:t> (MB ไม่ใช่ PERCENT) — ลด VLF จริงจังด้วย </a:t>
            </a:r>
            <a:r>
              <a:rPr sz="1600" b="0">
                <a:latin typeface="Consolas"/>
                <a:cs typeface="Consolas"/>
              </a:rPr>
              <a:t>DBCC SHRINKFILE</a:t>
            </a:r>
            <a:r>
              <a:rPr sz="1600" b="0">
                <a:latin typeface="Leelawadee UI"/>
                <a:cs typeface="Leelawadee UI"/>
              </a:rPr>
              <a:t> + grow ก้อนใหญ่ครั้งเดียว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error ที่พบได้:</a:t>
            </a:r>
            <a:r>
              <a:rPr sz="1600" b="0">
                <a:latin typeface="Leelawadee UI"/>
                <a:cs typeface="Leelawadee UI"/>
              </a:rPr>
              <a:t> </a:t>
            </a:r>
            <a:r>
              <a:rPr sz="1600" b="0">
                <a:latin typeface="Consolas"/>
                <a:cs typeface="Consolas"/>
              </a:rPr>
              <a:t>sys.dm_db_log_info</a:t>
            </a:r>
            <a:r>
              <a:rPr sz="1600" b="0">
                <a:latin typeface="Leelawadee UI"/>
                <a:cs typeface="Leelawadee UI"/>
              </a:rPr>
              <a:t> ไม่มีบนรุ่นเก่า — ต้อง </a:t>
            </a:r>
            <a:r>
              <a:rPr sz="1600" b="1">
                <a:latin typeface="Leelawadee UI"/>
                <a:cs typeface="Leelawadee UI"/>
              </a:rPr>
              <a:t>SQL Server 2016 SP2+</a:t>
            </a:r>
            <a:r>
              <a:rPr sz="1600" b="0">
                <a:latin typeface="Leelawadee UI"/>
                <a:cs typeface="Leelawadee UI"/>
              </a:rPr>
              <a:t> (รุ่นเก่าใช้ </a:t>
            </a:r>
            <a:r>
              <a:rPr sz="1600" b="0">
                <a:latin typeface="Consolas"/>
                <a:cs typeface="Consolas"/>
              </a:rPr>
              <a:t>DBCC LOGINFO</a:t>
            </a:r>
            <a:r>
              <a:rPr sz="1600" b="0">
                <a:latin typeface="Leelawadee UI"/>
                <a:cs typeface="Leelawadee UI"/>
              </a:rPr>
              <a:t>) · ห้าม shrink log บน production ระหว่างชั่วโมงทำงาน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 — Transaction Log Internals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ทำไมไม่ควรมี VLF จำนวนมาก? (Startup / Restore / Replication ช้าลง)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VLF เยอะผิดปกติเกิดจากการตั้งค่าอะไร? (Auto-growth ขนาดเล็ก)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Trace Flag 661 ทำอะไร และทำไมจึงไม่แนะนำ?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TempDB Internals — Global Resource ที่ทุก Session แชร์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TempDB =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Global Resource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ของทั้ง Instance — ทุก database/session ใช้ร่วมกัน และถูกสร้างใหม่ทุกครั้งที่ restart Database Engine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User Objects: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Temporary tables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#Local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##Global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และ Table variables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Internal Objects: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Workfiles/Worktables สำหรับ Sort / Hash operations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Version Store: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 Row Versions สำหรับ Snapshot Isolation และ Online Index Build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ต้องรู้มาก่อน: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Allocation Maps (GAM/SGAM/PFS) จาก Section 1 + wait statistics พื้นฐานจาก M1 — ศัพท์ PAGELATCH / Version Store ดู Glossary กลาง (ยังต้องสร้าง)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TempDB Contention — PAGELATCH บน PFS / GAM / SGAM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หลาย Session สร้าง Temp Table พร้อมกัน → SQL Server ต้องอัปเดต Allocation Pages เดียวกัน → เกิดการ "แย่งกันเขียน" หน้าเดียว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Latch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กลไก lock ภายในที่ปกป้อง Data Page ขณะอ่าน/เขียนใน Memory — ต้องรอ Latch จึงเกิด Wait Type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PAGELATCH_EX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PAGELATCH_UP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(ต่างจาก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PAGEIOLATCH_*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ที่รอ Disk)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จุดเกิดใน TempDB: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PFS / GAM / SGAM Pages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(Allocation Bitmaps) — dbid 2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วินิจฉัย: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sys.dm_os_wait_stats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กรอง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PAGE%LATCH%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sys.dm_exec_requests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ดู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wait_resource LIKE '2:%'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วิธีแก้: Multiple Data Files (เริ่ม ≈ logical cores แต่ ≤ 8 ไฟล์) ขนาด/Auto-growth เท่ากันทุกไฟล์ (ให้ Proportional Fill สมดุล) + Memory-Optimized TempDB Metadata (2019+)</a:t>
            </a:r>
          </a:p>
        </p:txBody>
      </p:sp>
      <p:pic>
        <p:nvPicPr>
          <p:cNvPr id="4" name="Picture 3" descr="tempdb-contention-pagel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TempDB บน SQL Server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ADR ใน tempdb (ใหม่ 2025):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ALTER DATABASE tempdb SET ACCELERATED_DATABASE_RECOVERY = ON;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Instantaneous rollback ของ temp table/table variable + Aggressive log truncation (ต้อง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restart Database Engine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หลังเปิด)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TempDB Space Resource Governance (2025):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Resource Governor จำกัดพื้นที่ tempdb ต่อ workload group ป้องกัน runaway query — ตอนนี้อยู่ใน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Standard edition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แล้ว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Memory-Optimized TempDB Metadata (2019+, opt-in):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ยังแนะนำเปิด — ลด metadata contention บน workload หลายพัน temp table ต่อวินาที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tmpfs สำหรับ tempdb บน Linux (2025):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วาง tempdb บน memory filesystem 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Best Practice จาก Microsoft Learn: IFI + preallocate · หลาย data file ขนาด/autogrowth เท่ากัน (เริ่ม ≤ 8 ไฟล์ เพิ่มทีละกลุ่ม 4) · autogrowth เป็น MB 64–256 ไม่ใช้ PERCENT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 — TempDB Internals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จำนวน TempDB Data Files ที่แนะนำเบื้องต้นคือเท่าไร และมีเงื่อนไขอะไร? (≈ CPU core ไม่เกิน 8 ไฟล์ ขนาดเท่ากันทุกไฟล์)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PAGELATCH_EX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ต่างจาก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PAGEIOLATCH_EX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อย่างไร?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เปิด ADR ใน tempdb บน SQL Server 2025 แล้วต้องทำอะไรต่อ? (restart Database Engine)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3 — Pages, VLF &amp; TempDB Internals (4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1 — DBCC PAGE:</a:t>
            </a:r>
            <a:r>
              <a:rPr sz="1500" b="0">
                <a:latin typeface="Leelawadee UI"/>
                <a:cs typeface="Leelawadee UI"/>
              </a:rPr>
              <a:t> ดู Page จริงของ </a:t>
            </a:r>
            <a:r>
              <a:rPr sz="1500" b="0">
                <a:latin typeface="Consolas"/>
                <a:cs typeface="Consolas"/>
              </a:rPr>
              <a:t>Person.Person</a:t>
            </a:r>
            <a:r>
              <a:rPr sz="1500" b="0">
                <a:latin typeface="Leelawadee UI"/>
                <a:cs typeface="Leelawadee UI"/>
              </a:rPr>
              <a:t> (Page Header </a:t>
            </a:r>
            <a:r>
              <a:rPr sz="1500" b="0">
                <a:latin typeface="Consolas"/>
                <a:cs typeface="Consolas"/>
              </a:rPr>
              <a:t>m_type</a:t>
            </a:r>
            <a:r>
              <a:rPr sz="1500" b="0">
                <a:latin typeface="Leelawadee UI"/>
                <a:cs typeface="Leelawadee UI"/>
              </a:rPr>
              <a:t>/</a:t>
            </a:r>
            <a:r>
              <a:rPr sz="1500" b="0">
                <a:latin typeface="Consolas"/>
                <a:cs typeface="Consolas"/>
              </a:rPr>
              <a:t>m_freeCnt</a:t>
            </a:r>
            <a:r>
              <a:rPr sz="1500" b="0">
                <a:latin typeface="Leelawadee UI"/>
                <a:cs typeface="Leelawadee UI"/>
              </a:rPr>
              <a:t> + allocation units)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2 — Random GUID vs Sequential Key:</a:t>
            </a:r>
            <a:r>
              <a:rPr sz="1500" b="0">
                <a:latin typeface="Leelawadee UI"/>
                <a:cs typeface="Leelawadee UI"/>
              </a:rPr>
              <a:t> เทียบ fragmentation/page_count + จับ page split แบบ real-time ด้วย Extended Events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3 — VLF:</a:t>
            </a:r>
            <a:r>
              <a:rPr sz="1500" b="0">
                <a:latin typeface="Leelawadee UI"/>
                <a:cs typeface="Leelawadee UI"/>
              </a:rPr>
              <a:t> นับด้วย </a:t>
            </a:r>
            <a:r>
              <a:rPr sz="1500" b="0">
                <a:latin typeface="Consolas"/>
                <a:cs typeface="Consolas"/>
              </a:rPr>
              <a:t>sys.dm_db_log_info</a:t>
            </a:r>
            <a:r>
              <a:rPr sz="1500" b="0">
                <a:latin typeface="Leelawadee UI"/>
                <a:cs typeface="Leelawadee UI"/>
              </a:rPr>
              <a:t> ทำ VLF ระเบิด (FILEGROWTH 1 MB) แล้วแก้กลับ 256 MB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4 — TempDB:</a:t>
            </a:r>
            <a:r>
              <a:rPr sz="1500" b="0">
                <a:latin typeface="Leelawadee UI"/>
                <a:cs typeface="Leelawadee UI"/>
              </a:rPr>
              <a:t> ตรวจค่า → จำลอง contention จากหลายหน้าต่าง → เพิ่ม data files ขนาดเท่ากัน (+ Optional: ตรวจ IFI / พิจารณา ADR ใน tempdb บน 2025)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Prerequisite: </a:t>
            </a:r>
            <a:r>
              <a:rPr sz="1500" b="0">
                <a:latin typeface="Consolas"/>
                <a:cs typeface="Consolas"/>
              </a:rPr>
              <a:t>sysadmin</a:t>
            </a:r>
            <a:r>
              <a:rPr sz="1500" b="0">
                <a:latin typeface="Leelawadee UI"/>
                <a:cs typeface="Leelawadee UI"/>
              </a:rPr>
              <a:t> (จำเป็นสำหรับ </a:t>
            </a:r>
            <a:r>
              <a:rPr sz="1500" b="0">
                <a:latin typeface="Consolas"/>
                <a:cs typeface="Consolas"/>
              </a:rPr>
              <a:t>DBCC PAGE</a:t>
            </a:r>
            <a:r>
              <a:rPr sz="1500" b="0">
                <a:latin typeface="Leelawadee UI"/>
                <a:cs typeface="Leelawadee UI"/>
              </a:rPr>
              <a:t> / </a:t>
            </a:r>
            <a:r>
              <a:rPr sz="1500" b="0">
                <a:latin typeface="Consolas"/>
                <a:cs typeface="Consolas"/>
              </a:rPr>
              <a:t>DBCC TRACEON(3604)</a:t>
            </a:r>
            <a:r>
              <a:rPr sz="1500" b="0">
                <a:latin typeface="Leelawadee UI"/>
                <a:cs typeface="Leelawadee UI"/>
              </a:rPr>
              <a:t> / ALTER tempdb) + AdventureWorks2025 + SSMS 2 หน้าต่าง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 + รุ่นขั้นต่ำ:</a:t>
            </a:r>
            <a:r>
              <a:rPr sz="1500" b="0">
                <a:latin typeface="Leelawadee UI"/>
                <a:cs typeface="Leelawadee UI"/>
              </a:rPr>
              <a:t> "User does not have permission to run DBCC PAGE" ถ้าไม่ใช่ </a:t>
            </a:r>
            <a:r>
              <a:rPr sz="1500" b="0">
                <a:latin typeface="Consolas"/>
                <a:cs typeface="Consolas"/>
              </a:rPr>
              <a:t>sysadmin</a:t>
            </a:r>
            <a:r>
              <a:rPr sz="1500" b="0">
                <a:latin typeface="Leelawadee UI"/>
                <a:cs typeface="Leelawadee UI"/>
              </a:rPr>
              <a:t> · </a:t>
            </a:r>
            <a:r>
              <a:rPr sz="1500" b="0">
                <a:latin typeface="Consolas"/>
                <a:cs typeface="Consolas"/>
              </a:rPr>
              <a:t>sys.dm_db_log_info</a:t>
            </a:r>
            <a:r>
              <a:rPr sz="1500" b="0">
                <a:latin typeface="Leelawadee UI"/>
                <a:cs typeface="Leelawadee UI"/>
              </a:rPr>
              <a:t> ไม่มีบนรุ่นเก่า — ต้อง </a:t>
            </a:r>
            <a:r>
              <a:rPr sz="1500" b="1">
                <a:latin typeface="Leelawadee UI"/>
                <a:cs typeface="Leelawadee UI"/>
              </a:rPr>
              <a:t>SQL Server 2016 SP2+</a:t>
            </a:r>
            <a:r>
              <a:rPr sz="1500" b="0">
                <a:latin typeface="Leelawadee UI"/>
                <a:cs typeface="Leelawadee UI"/>
              </a:rPr>
              <a:t> (รุ่นเก่าใช้ </a:t>
            </a:r>
            <a:r>
              <a:rPr sz="1500" b="0">
                <a:latin typeface="Consolas"/>
                <a:cs typeface="Consolas"/>
              </a:rPr>
              <a:t>DBCC LOGINFO</a:t>
            </a:r>
            <a:r>
              <a:rPr sz="1500" b="0">
                <a:latin typeface="Leelawadee UI"/>
                <a:cs typeface="Leelawadee UI"/>
              </a:rPr>
              <a:t>) · แล็บใช้ได้ </a:t>
            </a:r>
            <a:r>
              <a:rPr sz="1500" b="1">
                <a:latin typeface="Leelawadee UI"/>
                <a:cs typeface="Leelawadee UI"/>
              </a:rPr>
              <a:t>SQL Server 2019+</a:t>
            </a:r>
            <a:r>
              <a:rPr sz="1500" b="0">
                <a:latin typeface="Leelawadee UI"/>
                <a:cs typeface="Leelawadee UI"/>
              </a:rPr>
              <a:t> (แนะนำ 2025/17.x) — Optional ADR ใน tempdb ต้องมี </a:t>
            </a:r>
            <a:r>
              <a:rPr sz="1500" b="1">
                <a:latin typeface="Leelawadee UI"/>
                <a:cs typeface="Leelawadee UI"/>
              </a:rPr>
              <a:t>17.x</a:t>
            </a:r>
            <a:r>
              <a:rPr sz="1500" b="0">
                <a:latin typeface="Leelawadee UI"/>
                <a:cs typeface="Leelawadee UI"/>
              </a:rPr>
              <a:t> เท่านั้น · จำลอง VLF ระเบิด / จำลอง tempdb contention / แก้ tempdb ทำบน VM ทดสอบเท่านั้น (ห้าม Production)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Wrap-up 3 คำถามท้ายแล็บ + Cleanup ปลายไฟล์ (</a:t>
            </a:r>
            <a:r>
              <a:rPr sz="1500" b="0">
                <a:latin typeface="Consolas"/>
                <a:cs typeface="Consolas"/>
              </a:rPr>
              <a:t>DROP TABLE BadKeyTable, GoodKeyTable, LogBloat</a:t>
            </a:r>
            <a:r>
              <a:rPr sz="1500" b="0">
                <a:latin typeface="Leelawadee UI"/>
                <a:cs typeface="Leelawadee UI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สรุปโมดูล 3 — Database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SQL Server อ่าน/เขียนเป็น </a:t>
            </a:r>
            <a:r>
              <a:rPr sz="1500" b="1">
                <a:latin typeface="Leelawadee UI"/>
                <a:cs typeface="Leelawadee UI"/>
              </a:rPr>
              <a:t>Page 8 KB</a:t>
            </a:r>
            <a:r>
              <a:rPr sz="1500" b="0">
                <a:latin typeface="Leelawadee UI"/>
                <a:cs typeface="Leelawadee UI"/>
              </a:rPr>
              <a:t> — โครงสร้าง Page/Extent/File/Filegroup คือเหตุผลเบื้องหลังกฎ "ไฟล์เท่ากัน"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ตั้งค่าไฟล์ตั้งแต่วันแรก: pre-allocate + growth เป็น MB + เปิด IFI + </a:t>
            </a:r>
            <a:r>
              <a:rPr sz="1500" b="1">
                <a:latin typeface="Leelawadee UI"/>
                <a:cs typeface="Leelawadee UI"/>
              </a:rPr>
              <a:t>ห้าม Auto Shrink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Log bloat มาจาก autogrowth เล็ก → </a:t>
            </a:r>
            <a:r>
              <a:rPr sz="1500" b="1">
                <a:latin typeface="Leelawadee UI"/>
                <a:cs typeface="Leelawadee UI"/>
              </a:rPr>
              <a:t>VLF เยอะ</a:t>
            </a:r>
            <a:r>
              <a:rPr sz="1500" b="0">
                <a:latin typeface="Leelawadee UI"/>
                <a:cs typeface="Leelawadee UI"/>
              </a:rPr>
              <a:t> — ตรวจด้วย </a:t>
            </a:r>
            <a:r>
              <a:rPr sz="1500" b="0">
                <a:latin typeface="Consolas"/>
                <a:cs typeface="Consolas"/>
              </a:rPr>
              <a:t>sys.dm_db_log_info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TempDB คือ global resource: หลายไฟล์ขนาดเท่ากัน ≤ 8 ไฟล์ + ดู </a:t>
            </a:r>
            <a:r>
              <a:rPr sz="1500" b="0">
                <a:latin typeface="Consolas"/>
                <a:cs typeface="Consolas"/>
              </a:rPr>
              <a:t>PAGELATCH</a:t>
            </a:r>
            <a:r>
              <a:rPr sz="1500" b="0">
                <a:latin typeface="Leelawadee UI"/>
                <a:cs typeface="Leelawadee UI"/>
              </a:rPr>
              <a:t> บน allocation bitmaps (+ ฟีเจอร์ 2025: ADR ใน tempdb, space governance)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ต่อไป: Module 4 Memory — ต่อเนื่องจาก Logical vs Physical I/O ที่เห็นใน Section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