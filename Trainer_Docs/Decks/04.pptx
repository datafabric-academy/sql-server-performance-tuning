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เปิดโมดูลด้วยประโยคว่าการเข้าถึงข้อมูลใน RAM เร็วกว่า Disk หลายพันเท่า จึงเป็นทรัพยากรสำคัญที่สุดของ SQL Server Ref: `Module_04_Memory/README.md:1-3`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ย้ำงบเวลาและจำนวน Exercise ให้ผู้เรียนวางแผน; เวลาจริงจากการทดสอบผู้เรียน (เฟส 4 ของแผน) ต้องนำมาเทียบกับงบบนสไลด์นี้ Ref: `Trainer_Docs/Course_Guide_4Days.md:87-88` · `Module_04_Memory/Labs/README.md`</a:t>
            </a:r>
          </a:p>
          <a:p>
            <a:r>
              <a:t>จุดเพิ่มเติมที่ย่อออกจากสไลด์: เป้าหมาย: ตั้งค่า Memory ได้อย่างปลอดภัย และวินิจฉัย Memory Pressure ได้ด้วย DMVs / Wait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พื้นฐาน OS (RAM / page file) และศัพท์ DMV — ชี้ลิงก์ Glossary กลาง (path รอกำหนดตาม Blocking เฟส 0 — วันนี้ repo ยังไม่มีไฟล์ glossary) · **ต้องเขียนเนื้อหาเพิ่ม**: section ปัจจุบัน 61 บรรทัด ไม่มีบล็อก ```sql และไม่มีหัวข้อ "ตรวจความเข้าใจ" Ref: `Module_04_Memory/Sections/01_Windows_Memory/README.md`</a:t>
            </a:r>
          </a:p>
          <a:p>
            <a:r>
              <a:t>จุดเพิ่มเติมที่ย่อออกจากสไลด์: เป้าหมาย 3: อธิบาย NUMA — Local/Remote Memory และ node awareness ของ SQL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**ต้องเขียนเนื้อหาเพิ่ม**: เพิ่มตัวอย่างการอ่านค่า VAS จริงจาก `sys.dm_os_process_memory` ซึ่งมีอยู่แล้วในสคริปต์วิเคราะห์ของ Section 3 Ref: `Module_04_Memory/Sections/01_Windows_Memory/README.md:5-8` · `Module_04_Memory/Sections/03_Memory_Pressure_Diagnostics/Scripts/02_Memory_Analysis.sql:19-26`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**ต้องเขียนเนื้อหาเพิ่ม**: เพิ่ม counters ฝั่ง Windows ที่ควรดูและเกณฑ์ตัดสิน Ref: `Module_04_Memory/Sections/01_Windows_Memory/README.md:10-14`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**ต้องเขียนเนื้อหาเพิ่ม**: เพิ่มเรื่อง soft-NUMA และวิธีตรวจ node จริงของ instance Ref: `Module_04_Memory/Sections/01_Windows_Memory/README.md:16-55` · `Module_04_Memory/README.md:71`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NUMA + Paging จาก Section 1 และศัพท์ Buffer Pool / DMV — ชี้ลิงก์ Glossary กลาง (ยังไม่มีไฟล์ — เฟส 0) · section นี้หนาที่สุดของโมดูล (325 บรรทัด) เนื้อหาตาม README ได้เลย Ref: `Module_04_Memory/Sections/02_SQL_Server_Memory/README.md`</a:t>
            </a:r>
          </a:p>
          <a:p>
            <a:r>
              <a:t>จุดเพิ่มเติมที่ย่อออกจากสไลด์: เป้าหมาย 3: ตั้งค่า min/max server memory อย่างปลอดภัย และใช้ Resource Governor จัดสรรงบ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คำแนะนำ LPIM ให้อ้าง Memory Management Architecture Guide ของ Microsoft ตามลิงก์ใน README Ref: `Module_04_Memory/Sections/02_SQL_Server_Memory/README.md:5-55`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แผนภาพนี้คือหัวใจของโมดูล — ชี้ให้เห็น Resource Monitor ก่อนไปต่อวิธีอ่าน ring buffer ใน Section 3 Ref: `Module_04_Memory/Sections/02_SQL_Server_Memory/README.md:57-319`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ตัวเลข 256 GB (bullet 6) ยังไม่นำขึ้น layout `07 Stat Callout` จนกว่าจะมี sign-off รันจริงบน 17.x ตาม spec §4.6 Ref: `Module_04_Memory/Sections/02_SQL_Server_Memory/README.md:121-187` · `Module_04_Memory/README.md:61-63`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Buffer Pool / Memory Clerks จาก Section 2 และแนวคิด wait type จาก Module 1 — ชี้ลิงก์ Glossary กลาง (ยังไม่มีไฟล์) Ref: `Module_04_Memory/Sections/03_Memory_Pressure_Diagnostics/README.md`</a:t>
            </a:r>
          </a:p>
          <a:p>
            <a:r>
              <a:t>จุดเพิ่มเติมที่ย่อออกจากสไลด์: เป้าหมาย 3: เข้าใจ Memory Grant Feedback และการวัดยุคใหม่ — ไม่ตัดสินจาก PLE ตัวเดียว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**ต้องเขียนเนื้อหาเพิ่ม**: เกณฑ์ตัดสินต่อประเภท workload และวิธีเก็บ baseline (แล็บส่งเรื่อง baseline ต่อไปยัง Lab 10 ตาม `Labs/README.md:101`) Ref: `Module_04_Memory/Sections/03_Memory_Pressure_Diagnostics/README.md:5-65` · `Module_04_Memory/README.md:69-72`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DMV (dynamic management view = system view สำรวจสถานะ runtime ของ instance) และ XQuery `.value()` ที่ใช้อ่าน XML จาก `sys.dm_os_ring_buffers` · ไฟล์ทั้งสามยังไม่มี header `MinVersion:` (0/4 ไฟล์ของโมดูล — ต้องเติมตามเฟส 0 ก่อนประกอบเด็ค) Ref: `Module_04_Memory/Labs/README.md:24-101`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Memory Grant (พื้นที่ memory ที่ engine จองล่วงหน้าสำหรับ Sort/Hash) และ window function `ROW_NUMBER() OVER (ORDER BY …)` ที่แล็บ Exercise 3 ใช้ Ref: `Module_04_Memory/Labs/README.md:105-146` · `Module_04_Memory/Sections/02_SQL_Server_Memory/Scripts/01_Memory_Spill.sql`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ศัพท์ MVCC / optimistic concurrency — ชี้ลิงก์ Glossary กลาง (ยังไม่มีไฟล์); concurrency เชิงลึกจะสอนต่อใน Module 5 · **ต้องเขียนเนื้อหาเพิ่ม**: section นี้สั้นสุดของโมดูล (49 บรรทัด) และยังไม่มี Scripts/ Ref: `Module_04_Memory/Sections/04_In_Memory_OLTP/README.md`</a:t>
            </a:r>
          </a:p>
          <a:p>
            <a:r>
              <a:t>จุดเพิ่มเติมที่ย่อออกจากสไลด์: เป้าหมาย 3: เลือก Durability (SCHEMA_AND_DATA vs SCHEMA_ONLY) และ Index type (Hash vs Bw-Tree) ให้ตรง workload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**ต้องเขียนเนื้อหาเพิ่ม**: เพิ่ม data flow ของ Checkpoint File Pairs และข้อจำกัดของ memory-optimized table Ref: `Module_04_Memory/Sections/04_In_Memory_OLTP/README.md:5-9` · `Module_04_Memory/README.md:65-67`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**ต้องเขียนเนื้อหาเพิ่ม**: ตัวอย่าง natively compiled proc ควรย้ายลง `Scripts/` ของ section นี้ด้วย Ref: `Module_04_Memory/Sections/04_In_Memory_OLTP/README.md:11-43`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BUCKET_COUNT (จำนวน bucket ของ hash index) และ DURABILITY = SCHEMA_ONLY (ไม่เก็บข้อมูลข้าม restart) · **ต้องเขียนเนื้อหาเพิ่ม** + **ยังไม่มีไฟล์สคริปต์**: T-SQL ทั้งหมดฝังใน Labs/README.md Exercise 4 — ต้องแยกเป็น `Sections/04_In_Memory_OLTP/Scripts/01_InMemory_OLTP_Demo.sql` ตามแผนขยาย Scripts 2/4 → 4/4 ก่อนประกอบเด็ค Ref: `Module_04_Memory/Labs/README.md:150-183`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แจ้งผู้เรียนล่วงหน้าว่าต้องรัน 4 Exercise; หัวใจของแล็บคือ Ex3 ซึ่งเชื่อม Memory Grant Feedback กลับไปที่ wait `RESOURCE_SEMAPHORE` ใน Section 3 Ref: `Module_04_Memory/Labs/README.md` · สคริปต์ประกอบจัดอยู่ใน `Sections/*/Scripts/` ของโมดูล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3 คำถาม FAQ ท้ายโมดูลเป็นการตรวจความเข้าใจ; quiz bank รายโมดูลเป็นงานเฟส 3 ของแผน — ยังไม่มีไฟล์ Ref: `Module_04_Memory/README.md:41-54` · `Trainer_Docs/Course_Guide_4Days.md:87-92`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4: Memory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หลักสูตร Microsoft SQL Server Performance Tuning (4 วัน / 24 ชั่วโมง)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Module 4: Memory Management — วันที่ 2 เวลา 09:00–10:30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ความต่อเนื่อง: ต่อจาก Module 3 (Database Structures) → ก่อน Module 5 (Concurrency &amp; Transactions)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ภาพรวมโมดูลและงบเวลา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latin typeface="Leelawadee UI"/>
                <a:cs typeface="Leelawadee UI"/>
              </a:rPr>
              <a:t>งบเวลาโมดูล 90 นาที</a:t>
            </a:r>
            <a:r>
              <a:rPr sz="1500" b="0">
                <a:latin typeface="Leelawadee UI"/>
                <a:cs typeface="Leelawadee UI"/>
              </a:rPr>
              <a:t> (09:00–10:30 วันที่ 2) + </a:t>
            </a:r>
            <a:r>
              <a:rPr sz="1500" b="1">
                <a:latin typeface="Leelawadee UI"/>
                <a:cs typeface="Leelawadee UI"/>
              </a:rPr>
              <a:t>LAB 4 อีก 60 นาที</a:t>
            </a:r>
            <a:r>
              <a:rPr sz="1500" b="0">
                <a:latin typeface="Leelawadee UI"/>
                <a:cs typeface="Leelawadee UI"/>
              </a:rPr>
              <a:t> (10:30–11:30) · 4 sections: Windows Memory → SQL Server Memory → Memory Pressure Diagnostics → In-Memory OLTP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แล็บมี </a:t>
            </a:r>
            <a:r>
              <a:rPr sz="1500" b="1">
                <a:latin typeface="Leelawadee UI"/>
                <a:cs typeface="Leelawadee UI"/>
              </a:rPr>
              <a:t>4 Exercise</a:t>
            </a:r>
            <a:r>
              <a:rPr sz="1500" b="0">
                <a:latin typeface="Leelawadee UI"/>
                <a:cs typeface="Leelawadee UI"/>
              </a:rPr>
              <a:t>: สุขภาพ memory → buffer pool ต่อ database → memory spill &amp; Memory Grant Feedback → In-Memory OLTP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Section 1: Windows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เป้าหมาย 1: อธิบาย Virtual Address Space (VAS) และข้อต่าง 32-bit vs 64-bit · เป้าหมาย 2: แยก Physical vs Virtual Memory และอธิบายผลของ Paging ต่อ SQL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Virtual Address Space (VAS) — 32-bit vs 64-bit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VAS = พื้นที่ address ที่ process มองเห็นและใช้งานได้ แยกอิสระจาก Physical RAM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บทสรุป tuning: บน 64-bit ให้โฟกัส Physical Memory และการจัดสรร ไม่ใช่ VAS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32-bit: ข้อจำกัดสูง (max ~4 GB) — ปัจจุบันไม่แนะนำให้ใช้งาน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64-bit: รองรับ VAS ขนาดมหาศาล (8 TB–128 TB) ข้อจำกัด address space หมดไป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เชื่อมโยง: อ่านค่า VAS committed จริงได้จาก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sys.dm_os_process_memory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virtual_address_space_committed_kb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Physical vs Virtual Memory และผลของ Paging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Physical Memory = หน่วยความจำหลัก (RAM) / Virtual Memory = กลไก OS ที่ใช้ Page File บน Disk ขยายพื้นที่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Paging = กระบวนการย้าย Data Pages ระหว่าง RAM และ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ถ้า Windows ทำ Paging process ของ SQL Server → Performance Degradation อย่างรุนแรง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เป้าหมายการ tuning: กันไม่ให้ SQL Server ถูก paging — ทางแก้คือ LPIM ซึ่งจะเจาะลึกใน Section 2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สัญญาณที่ต้องเฝ้าดู: Available RAM และ hard faults/sec ของ process (bullet เป้าหมาย — ยังไม่มีในเนื้อหา repo)</a:t>
            </a:r>
          </a:p>
        </p:txBody>
      </p:sp>
      <p:pic>
        <p:nvPicPr>
          <p:cNvPr id="4" name="Picture 3" descr="windows-physical-vs-virtual-p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NUMA — Local vs Remote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NUMA (Non-Uniform Memory Access) ออกแบบเพื่อลดคอขวด Memory Bus ในเครื่องที่มี CPU จำนวนมาก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Local Memory เข้าถึงเร็วที่สุด (~100 ns) / Remote Memory ข้าม node ช้ากว่า (~200–300 ns)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SQL Server Awareness: Engine พยายามจัดสรร Memory ใน node เดียวกับ Thread ที่ทำงานเสมอ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วัดต่อ node ไม่ใช่ดูรวม: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sys.dm_os_memory_nodes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และ PLE ต่อ Buffer Node (ใช้จริงในแล็บ Exercise 2 Step 3)</a:t>
            </a:r>
          </a:p>
        </p:txBody>
      </p:sp>
      <p:pic>
        <p:nvPicPr>
          <p:cNvPr id="4" name="Picture 3" descr="numa-local-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Section 2: SQL Server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เป้าหมาย 1: เลือก Memory Model ให้ถูก — Conventional / LPIM / Large Page · เป้าหมาย 2: อ่านโครงสร้างภายใน — Buffer Pool, Memory Clerks และ Page Lifecycle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Memory Models — Conventional / LPIM / Large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Conventional Memory Model: Dynamic Allocation — OS ทำ Paging ได้ จึงเสี่ยง Performance Degradation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LPIM (Lock Pages in Memory): Windows Policy กันไม่ให้ SQL Server Memory ถูก paging ลง Disk — เสถียรภาพสูง แนะนำสำหรับ Production Server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Large Page Memory Model: ใช้ 2 MB Pages แทน 4 KB ลด TLB Overhead — แลกด้วย Static Allocation ตอน Startup (เปิด service ช้า)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ตรวจผลจริง: ค่า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locked_page_allocations_kb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ใน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sys.dm_os_process_memory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(แล็บ Exercise 1 Step 2)</a:t>
            </a:r>
          </a:p>
        </p:txBody>
      </p:sp>
      <p:pic>
        <p:nvPicPr>
          <p:cNvPr id="4" name="Picture 3" descr="memory-models-lpim-larg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Buffer Pool และ Memory Clerks — Page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Buffer Pool = cache เก็บ Data/Index Pages ขนาด 8 KB — อ่านจาก memory (~100 ns) เร็วกว่า disk (~10 ms) ราว 100,000 เท่า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Memory Clerks ตัวอื่น: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MEMORYCLERK_SQLQUERYPLAN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(Plan Cache),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MEMORYCLERK_SQLCONNECTIONPOOL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OBJECTSTORE_LOCK_MANAGER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WORKSPACE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(Sort/Hash)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Page Lifecycle: cache miss → Physical Read;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Lazy Writer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evict page แบบ LRU เมื่อ memory ตึง;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Checkpoint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เขียน Dirty Pages ลง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Resource Monitor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(background thread) รับสัญญาณจาก Windows: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RESOURCE_MEMPHYSICAL_HIGH/LOW/STEADY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เมื่อ LOW จะ Trim Caches คืน memory ให้ OS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ตั้งแต่ SQL 2012+ ใช้ "Any Size" Page Allocator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max server memory คุมการใช้ memory เกือบทั้งหมด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(รวม CLR / multi-page)</a:t>
            </a:r>
          </a:p>
        </p:txBody>
      </p:sp>
      <p:pic>
        <p:nvPicPr>
          <p:cNvPr id="4" name="Picture 3" descr="buffer-poo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การตั้งค่า Memory — min/max server memory &amp; Resource Governor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max server memory = Critical Setting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คำนวณ = Total RAM − (OS Reserved + Other Applications)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Resource Governor: Classifier Function → Workload Groups → Resource Pools (กำหนด MIN/MAX %)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 Server 2025 Standard: buffer pool สูงสุด 256 GB ต่อ instance (เพิ่มจาก 128 GB ใน 2022)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ข้อควรรู้: ค่านี้ไม่ครอบคลุม Thread Stacks และ CLR allocations บางส่วน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min server memory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ค่าต่ำสุดที่จะรักษาไว้ (Reserve) — จะไม่คืน memory ให้ OS ถ้าต่ำกว่า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Use case: ป้องกัน Report ขนาดใหญ่แย่ง Memory จนกระทบ Transaction หลัก (เช่น ReportPool MAX 40%)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Section 3: Memory Pressure Diagnostics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เป้าหมาย 1: ใช้ Key Indicators ชี้ Memory Pressure — Buffer Cache Hit Ratio / Page Life Expectancy / Wait Types · เป้าหมาย 2: วิเคราะห์ด้วย DMVs และ Ring Buffer ของ Resource Monitor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Key Indicators — Buffer Cache Hit Ratio / PLE / Wait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Buffer Cache Hit Ratio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อัตราการอ่านเจอจาก cache — ควร &gt; 90–95% สำหรับ OLTP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Page Life Expectancy (PLE)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อายุเฉลี่ยของ page ใน memory (วินาที) — pattern Sawtooth / trend ตก = Memory Pressure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อ่าน PLE ให้ถูกวิธี: ดูต่อ NUMA node และเทียบกับ baseline — อย่าใช้เกณฑ์ 300 วินาทีเดิมบนเครื่อง RAM หลายสิบ GB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อย่าตัดสินจาก PLE ตัวเดียว: ดูคู่กับ Page Reads/Writes/sec, page faults ของ process และ waits —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RESOURCE_SEMAPHORE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(รอ Memory Grant),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CMEMTHREAD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(แย่ง memory object)</a:t>
            </a:r>
          </a:p>
        </p:txBody>
      </p:sp>
      <p:pic>
        <p:nvPicPr>
          <p:cNvPr id="4" name="Picture 3" descr="memory-pressure-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วิเคราะห์ Memory ด้วย DMVs + Resource Monitor Ring Buffer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ขั้น demo: เปิดหน้าต่าง workload ก่อน (</a:t>
            </a:r>
            <a:r>
              <a:rPr sz="1500" b="0">
                <a:latin typeface="Consolas"/>
                <a:cs typeface="Consolas"/>
              </a:rPr>
              <a:t>03_Workload_Buffer_Pool.sql</a:t>
            </a:r>
            <a:r>
              <a:rPr sz="1500" b="0">
                <a:latin typeface="Leelawadee UI"/>
                <a:cs typeface="Leelawadee UI"/>
              </a:rPr>
              <a:t> รัน ~5 นาที) → รัน </a:t>
            </a:r>
            <a:r>
              <a:rPr sz="1500" b="0">
                <a:latin typeface="Consolas"/>
                <a:cs typeface="Consolas"/>
              </a:rPr>
              <a:t>02_Memory_Analysis.sql</a:t>
            </a:r>
            <a:r>
              <a:rPr sz="1500" b="0">
                <a:latin typeface="Leelawadee UI"/>
                <a:cs typeface="Leelawadee UI"/>
              </a:rPr>
              <a:t> → ปิดท้ายดู ring buffer ด้วย </a:t>
            </a:r>
            <a:r>
              <a:rPr sz="1500" b="0">
                <a:latin typeface="Consolas"/>
                <a:cs typeface="Consolas"/>
              </a:rPr>
              <a:t>04_Resource_Monitor_Ring_Buffer.sql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อ่านผล: </a:t>
            </a:r>
            <a:r>
              <a:rPr sz="1500" b="0">
                <a:latin typeface="Consolas"/>
                <a:cs typeface="Consolas"/>
              </a:rPr>
              <a:t>MEMORYCLERK_SQLBUFFERPOOL</a:t>
            </a:r>
            <a:r>
              <a:rPr sz="1500" b="0">
                <a:latin typeface="Leelawadee UI"/>
                <a:cs typeface="Leelawadee UI"/>
              </a:rPr>
              <a:t> ควรเป็นตัวใหญ่สุด — clerk อื่นบวมผิดปกติ (เช่น </a:t>
            </a:r>
            <a:r>
              <a:rPr sz="1500" b="0">
                <a:latin typeface="Consolas"/>
                <a:cs typeface="Consolas"/>
              </a:rPr>
              <a:t>OBJECTSTORE_LOCK_MANAGER</a:t>
            </a:r>
            <a:r>
              <a:rPr sz="1500" b="0">
                <a:latin typeface="Leelawadee UI"/>
                <a:cs typeface="Leelawadee UI"/>
              </a:rPr>
              <a:t>) ให้ตามต่อ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ใครกิน cache: </a:t>
            </a:r>
            <a:r>
              <a:rPr sz="1500" b="0">
                <a:latin typeface="Consolas"/>
                <a:cs typeface="Consolas"/>
              </a:rPr>
              <a:t>sys.dm_os_buffer_descriptors</a:t>
            </a:r>
            <a:r>
              <a:rPr sz="1500" b="0">
                <a:latin typeface="Leelawadee UI"/>
                <a:cs typeface="Leelawadee UI"/>
              </a:rPr>
              <a:t> จัดอันดับ cached pages ต่อ database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Ring Buffer: Notification = </a:t>
            </a:r>
            <a:r>
              <a:rPr sz="1500" b="0">
                <a:latin typeface="Consolas"/>
                <a:cs typeface="Consolas"/>
              </a:rPr>
              <a:t>RESOURCE_MEMPHYSICAL_HIGH / LOW / STEADY</a:t>
            </a:r>
            <a:r>
              <a:rPr sz="1500" b="0">
                <a:latin typeface="Leelawadee UI"/>
                <a:cs typeface="Leelawadee UI"/>
              </a:rPr>
              <a:t> + ค่า Target/Committed ต่อ Memory Node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Error ที่พบได้: ยังไม่ได้รับ </a:t>
            </a:r>
            <a:r>
              <a:rPr sz="1500" b="0">
                <a:latin typeface="Consolas"/>
                <a:cs typeface="Consolas"/>
              </a:rPr>
              <a:t>VIEW SERVER STATE</a:t>
            </a:r>
            <a:r>
              <a:rPr sz="1500" b="0">
                <a:latin typeface="Leelawadee UI"/>
                <a:cs typeface="Leelawadee UI"/>
              </a:rPr>
              <a:t> → permission denied ตอน query DMV (Msg 300) · รุ่นขั้นต่ำ: SQL Server 2019+ (แนะนำ 17.x)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Memory Spill และ Memory Grant Feedback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ขั้น demo: เปิด "Include Actual Execution Plan" (Ctrl+M) → รัน sort บังคับ spill → เห็น warning ที่ Sort operator: "Operator used tempdb to spill data during execution"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รันซ้ำ 1–2 ครั้ง: </a:t>
            </a:r>
            <a:r>
              <a:rPr sz="1600" b="1">
                <a:latin typeface="Leelawadee UI"/>
                <a:cs typeface="Leelawadee UI"/>
              </a:rPr>
              <a:t>Memory Grant Feedback</a:t>
            </a:r>
            <a:r>
              <a:rPr sz="1600" b="0">
                <a:latin typeface="Leelawadee UI"/>
                <a:cs typeface="Leelawadee UI"/>
              </a:rPr>
              <a:t> เรียนรู้จาก spill รอบก่อน — เช็ค </a:t>
            </a:r>
            <a:r>
              <a:rPr sz="1600" b="0">
                <a:latin typeface="Consolas"/>
                <a:cs typeface="Consolas"/>
              </a:rPr>
              <a:t>is_memory_grant_feedback_adjusted = 1</a:t>
            </a:r>
            <a:r>
              <a:rPr sz="1600" b="0">
                <a:latin typeface="Leelawadee UI"/>
                <a:cs typeface="Leelawadee UI"/>
              </a:rPr>
              <a:t> ใน </a:t>
            </a:r>
            <a:r>
              <a:rPr sz="1600" b="0">
                <a:latin typeface="Consolas"/>
                <a:cs typeface="Consolas"/>
              </a:rPr>
              <a:t>sys.query_store_plan</a:t>
            </a:r>
            <a:r>
              <a:rPr sz="1600" b="0">
                <a:latin typeface="Leelawadee UI"/>
                <a:cs typeface="Leelawadee UI"/>
              </a:rPr>
              <a:t> (feedback ถูก persist ตั้งแต่ SQL 2022)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ดูคิวรอ grant: </a:t>
            </a:r>
            <a:r>
              <a:rPr sz="1600" b="0">
                <a:latin typeface="Consolas"/>
                <a:cs typeface="Consolas"/>
              </a:rPr>
              <a:t>sys.dm_exec_query_resource_semaphores</a:t>
            </a:r>
            <a:r>
              <a:rPr sz="1600" b="0">
                <a:latin typeface="Leelawadee UI"/>
                <a:cs typeface="Leelawadee UI"/>
              </a:rPr>
              <a:t> / </a:t>
            </a:r>
            <a:r>
              <a:rPr sz="1600" b="0">
                <a:latin typeface="Consolas"/>
                <a:cs typeface="Consolas"/>
              </a:rPr>
              <a:t>sys.dm_exec_query_memory_grants</a:t>
            </a:r>
            <a:r>
              <a:rPr sz="1600" b="0">
                <a:latin typeface="Leelawadee UI"/>
                <a:cs typeface="Leelawadee UI"/>
              </a:rPr>
              <a:t> — </a:t>
            </a:r>
            <a:r>
              <a:rPr sz="1600" b="0">
                <a:latin typeface="Consolas"/>
                <a:cs typeface="Consolas"/>
              </a:rPr>
              <a:t>total_waiter_count &gt; 0</a:t>
            </a:r>
            <a:r>
              <a:rPr sz="1600" b="0">
                <a:latin typeface="Leelawadee UI"/>
                <a:cs typeface="Leelawadee UI"/>
              </a:rPr>
              <a:t> = มี query รอ grant (</a:t>
            </a:r>
            <a:r>
              <a:rPr sz="1600" b="0">
                <a:latin typeface="Consolas"/>
                <a:cs typeface="Consolas"/>
              </a:rPr>
              <a:t>RESOURCE_SEMAPHORE</a:t>
            </a:r>
            <a:r>
              <a:rPr sz="16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Error ที่พบได้: ลืมเปิด Ctrl+M → ไม่เห็น warning; Query Store ปิดอยู่ → ไม่มีแถวให้ join · รุ่นขั้นต่ำ: SQL Server 2019+ (สคริปต์ set COMPATIBILITY_LEVEL = 150 เอง)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Section 4: In-Memory OLTP (Hekaton)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เป้าหมาย 1: อธิบายสถาปัตยกรรม lock-free / latch-free และ optimistic concurrency control (MVCC) · เป้าหมาย 2: เขียน Natively Compiled Stored Procedure ได้ พร้อมเงื่อนไขบังคับ 3 ข้อ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In-Memory OLTP Architecture — Lock-free &amp; Native Compilation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Lock-free / Latch-free Data Structures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ใช้ Optimistic Concurrency Control (MVCC) ขจัดปัญหา Blocking/Locking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Native Compilation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แปลง Stored Procedure เป็น DLL (Machine Code) ตอน create — ลด CPU instructions ตอนรัน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ประสิทธิภาพสูงกว่า T-SQL แบบ interpreted 10x–100x สำหรับ logic ที่คำนวณมาก (ตามข้อมูลใน README ของ section)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Pattern ที่เหมาะ: high-throughput insert + lookup — เช่น ETL staging, session store, IoT ingestion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SQL Server 2025: ลบ memory-optimized container/filegroup ที่ว่างได้แล้ว — ปิดจุดอ่อน "เคยลอง Hekaton แล้วถอดไม่ได้"</a:t>
            </a:r>
          </a:p>
        </p:txBody>
      </p:sp>
      <p:pic>
        <p:nvPicPr>
          <p:cNvPr id="4" name="Picture 3" descr="hekato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Natively Compiled SP &amp; Memory-Optimized Tables / Index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เงื่อนไขบังคับ: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WITH NATIVE_COMPILATION, SCHEMABINDING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EXECUTE AS OWNER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BEGIN ATOMIC WITH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(ระบุ TRANSACTION ISOLATION LEVEL = SNAPSHOT และ LANGUAGE)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Index: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Hash Index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equality search /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Bw-Tree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(memory-optimized nonclustered) = range scan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ผลของ SCHEMABINDING: ห้ามแก้ Table ที่ผูกไว้ จนกว่าจะ Drop Proc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Durable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SCHEMA_AND_DATA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): ข้อมูลคงอยู่ถาวร — มี Checkpoint File Pairs บน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Non-Durable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SCHEMA_ONLY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): อยู่ใน Memory เท่านั้น สูญหายเมื่อ Restart — เหมาะกับ ETL Staging / Session 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In-Memory OLTP: วัดความเร็ว 10,000 Inserts (Lab Exercise 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ขั้น demo: เพิ่ม filegroup </a:t>
            </a:r>
            <a:r>
              <a:rPr sz="1500" b="0">
                <a:latin typeface="Consolas"/>
                <a:cs typeface="Consolas"/>
              </a:rPr>
              <a:t>CONTAINS MEMORY_OPTIMIZED_DATA</a:t>
            </a:r>
            <a:r>
              <a:rPr sz="1500" b="0">
                <a:latin typeface="Leelawadee UI"/>
                <a:cs typeface="Leelawadee UI"/>
              </a:rPr>
              <a:t> → สร้าง </a:t>
            </a:r>
            <a:r>
              <a:rPr sz="1500" b="0">
                <a:latin typeface="Consolas"/>
                <a:cs typeface="Consolas"/>
              </a:rPr>
              <a:t>dbo.MO_Sessions</a:t>
            </a:r>
            <a:r>
              <a:rPr sz="1500" b="0">
                <a:latin typeface="Leelawadee UI"/>
                <a:cs typeface="Leelawadee UI"/>
              </a:rPr>
              <a:t> (Hash index </a:t>
            </a:r>
            <a:r>
              <a:rPr sz="1500" b="0">
                <a:latin typeface="Consolas"/>
                <a:cs typeface="Consolas"/>
              </a:rPr>
              <a:t>BUCKET_COUNT = 100000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DURABILITY = SCHEMA_ONLY</a:t>
            </a:r>
            <a:r>
              <a:rPr sz="15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วัดผล: วน INSERT 10,000 แถว แล้วอ่านค่า </a:t>
            </a:r>
            <a:r>
              <a:rPr sz="1500" b="0">
                <a:latin typeface="Consolas"/>
                <a:cs typeface="Consolas"/>
              </a:rPr>
              <a:t>DATEDIFF(..., MILLISECOND)</a:t>
            </a:r>
            <a:r>
              <a:rPr sz="1500" b="0">
                <a:latin typeface="Leelawadee UI"/>
                <a:cs typeface="Leelawadee UI"/>
              </a:rPr>
              <a:t> เป็น insert_10k_ms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สังเกต: SCHEMA_ONLY → ตารางหายเมื่อ restart (สาธิตให้เห็นจริงได้)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SQL Server 2025: ลบ memory-optimized filegroup ที่ว่างทิ้งได้ — ทางออกคนที่เคยลองแล้วเลิกใช้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Error ที่พบได้: ลืมสร้าง filegroup ก่อน → CREATE TABLE fail; BUCKET_COUNT ตั้งต่ำเกิน → hash collision กระทบประสิทธิภาพ · รุ่นขั้นต่ำ: SQL Server 2019+ (ฟีเจอร์ลบ filegroup เฉพาะ 17.x)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4 — Memory Pressure &amp; Buffer Pool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4 Exercise</a:t>
            </a:r>
            <a:r>
              <a:rPr sz="1500" b="0">
                <a:latin typeface="Leelawadee UI"/>
                <a:cs typeface="Leelawadee UI"/>
              </a:rPr>
              <a:t> (Exercise 4 optional) — งบเวลา 60 นาที (10:30–11:30)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Ex1 สุขภาพ Memory: </a:t>
            </a:r>
            <a:r>
              <a:rPr sz="1500" b="0">
                <a:latin typeface="Consolas"/>
                <a:cs typeface="Consolas"/>
              </a:rPr>
              <a:t>sys.dm_os_sys_memory</a:t>
            </a:r>
            <a:r>
              <a:rPr sz="1500" b="0">
                <a:latin typeface="Leelawadee UI"/>
                <a:cs typeface="Leelawadee UI"/>
              </a:rPr>
              <a:t> → </a:t>
            </a:r>
            <a:r>
              <a:rPr sz="1500" b="0">
                <a:latin typeface="Consolas"/>
                <a:cs typeface="Consolas"/>
              </a:rPr>
              <a:t>sys.dm_os_process_memory</a:t>
            </a:r>
            <a:r>
              <a:rPr sz="1500" b="0">
                <a:latin typeface="Leelawadee UI"/>
                <a:cs typeface="Leelawadee UI"/>
              </a:rPr>
              <a:t> → Top 10 Memory Clerks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Ex2 Buffer Pool ต่อ database: </a:t>
            </a:r>
            <a:r>
              <a:rPr sz="1500" b="0">
                <a:latin typeface="Consolas"/>
                <a:cs typeface="Consolas"/>
              </a:rPr>
              <a:t>sys.dm_os_buffer_descriptors</a:t>
            </a:r>
            <a:r>
              <a:rPr sz="1500" b="0">
                <a:latin typeface="Leelawadee UI"/>
                <a:cs typeface="Leelawadee UI"/>
              </a:rPr>
              <a:t> + object ที่ cache หนักสุด + PLE ต่อ NUMA node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Ex3 จำลอง Memory Spill + Memory Grant Feedback + ดู resource semaphore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Ex4 In-Memory OLTP: สร้าง </a:t>
            </a:r>
            <a:r>
              <a:rPr sz="1500" b="0">
                <a:latin typeface="Consolas"/>
                <a:cs typeface="Consolas"/>
              </a:rPr>
              <a:t>dbo.MO_Sessions</a:t>
            </a:r>
            <a:r>
              <a:rPr sz="1500" b="0">
                <a:latin typeface="Leelawadee UI"/>
                <a:cs typeface="Leelawadee UI"/>
              </a:rPr>
              <a:t> แล้ววัด 10k inserts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Prereq: AdventureWorks2025 + </a:t>
            </a:r>
            <a:r>
              <a:rPr sz="1500" b="0">
                <a:latin typeface="Consolas"/>
                <a:cs typeface="Consolas"/>
              </a:rPr>
              <a:t>VIEW SERVER STATE</a:t>
            </a:r>
            <a:r>
              <a:rPr sz="1500" b="0">
                <a:latin typeface="Leelawadee UI"/>
                <a:cs typeface="Leelawadee UI"/>
              </a:rPr>
              <a:t> + SSMS 2 หน้าต่าง query — ปิดท้ายด้วย 3 คำถาม wrap-up และ Cleanup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Error ที่พบได้: ไม่ได้รับ </a:t>
            </a:r>
            <a:r>
              <a:rPr sz="1500" b="0">
                <a:latin typeface="Consolas"/>
                <a:cs typeface="Consolas"/>
              </a:rPr>
              <a:t>VIEW SERVER STATE</a:t>
            </a:r>
            <a:r>
              <a:rPr sz="1500" b="0">
                <a:latin typeface="Leelawadee UI"/>
                <a:cs typeface="Leelawadee UI"/>
              </a:rPr>
              <a:t> → permission denied ตอน query DMV (Msg 300) · ลืมเปิด Ctrl+M (Ex3) → ไม่เห็น spill warning · Query Store ปิดอยู่ (Ex3) → ไม่มีแถวให้ join · ลืมสร้าง filegroup MEMORY_OPTIMIZED_DATA (Ex4) → CREATE TABLE fail · รุ่นขั้นต่ำ: </a:t>
            </a:r>
            <a:r>
              <a:rPr sz="1500" b="1">
                <a:latin typeface="Leelawadee UI"/>
                <a:cs typeface="Leelawadee UI"/>
              </a:rPr>
              <a:t>SQL Server 2019+</a:t>
            </a:r>
            <a:r>
              <a:rPr sz="1500" b="0">
                <a:latin typeface="Leelawadee UI"/>
                <a:cs typeface="Leelawadee UI"/>
              </a:rPr>
              <a:t> (แนะนำ 2025/17.x) — Memory Grant Feedback persist เฉพาะ 2022+ และฟีเจอร์ลบ filegroup ว่างเฉพาะ 17.x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สรุปโมดูล + ตรวจความเข้าใจ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เส้นทางโมดูล: Windows Memory → SQL Server Memory Architecture → Memory Pressure Diagnostics → In-Memory OLTP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ตรวจตัวเอง 3 คำถาม: PLE คืออะไรและควรอ่านอย่างไร / LPIM มีประโยชน์อย่างไร / </a:t>
            </a:r>
            <a:r>
              <a:rPr sz="1600" b="0">
                <a:latin typeface="Consolas"/>
                <a:cs typeface="Consolas"/>
              </a:rPr>
              <a:t>RESOURCE_SEMAPHORE</a:t>
            </a:r>
            <a:r>
              <a:rPr sz="1600" b="0">
                <a:latin typeface="Leelawadee UI"/>
                <a:cs typeface="Leelawadee UI"/>
              </a:rPr>
              <a:t> บอกอะไร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กติกาที่ต้องจำ: max server memory = Total RAM − (OS Reserved + Other Applications) และพิจารณา LPIM บน production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ต่อไป: Module 5 Concurrency &amp; Transactions — Lock Modes, Isolation Levels, ADR / Optimized Locking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