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เปิดโมดูลแรกด้วยประโยคเดียว — โมดูลนี้คือ "แผนที่" ที่โมดูลถัดไป (I/O, Memory, Concurrency, Query) จะซูมเข้าไปทีละส่วน **Ref:** Module_01_Architecture_Scheduling_Waits/README.md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พิมพ์งบเวลาและจำนวน Exercise ให้ผู้เรียนเห็นก่อนเริ่มตาม Slide Spec 4.2 — เวลาจริงจากการทดสอบผู้เรียน (เฟส 4) ต้องนำมาเทียบงบนี้ **Ref:** Trainer_Docs/Course_Guide_4Days.md (ตารางวันที่ 1) + Module_01_Architecture_Scheduling_Waits/Labs/README.md</a:t>
            </a:r>
          </a:p>
          <a:p>
            <a:r>
              <a:t>จุดเพิ่มเติมที่ย่อออกจากสไลด์: เป้าหมายปลายทาง: อ่านคอขวดจาก DMV ได้เอง ไม่เดาจาก Task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นิยาม DMV / scheduler / wait type อยู่ที่ Glossary.md (repo root) คู่กับ Module 0 ฉบับขั้นต่ำ — เพื่อกันกำแพงผู้เรียนจุดที่ section ใช้ `sys.dm_os_schedulers` โดยยังไม่เคยนิยาม DMV (README:108) **Ref:** Module_01_Architecture_Scheduling_Waits/Sections/01_Engine_Architecture_SQLOS/README.md</a:t>
            </a:r>
          </a:p>
          <a:p>
            <a:r>
              <a:t>จุดเพิ่มเติมที่ย่อออกจากสไลด์: เป้าหมาย: เล่าเส้นทางของ query ได้ครบทุกชั้น + รู้ว่าแต่ละชั้นวัดอะไรได้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เดินภาพจากบนลงล่างชั้นละ 1 ประโยค ยังไม่ลงลึก Optimizer — ให้ผู้เรียนถ่ายรูปแผนภาพนี้เก็บไว้ทั้งคอร์ส **Ref:** Module_01_Architecture_Scheduling_Waits/Sections/01_Engine_Architecture_SQLOS/README.md (หัวข้อ 1–5)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ชี้ว่าทั้งสองที่พักอยู่ในก้อน memory เดียวกัน (Buffer Pool) ต่างกันแค่ "เก็บอะไร ใครใช้" **Ref:** Module_01_Architecture_Scheduling_Waits/Sections/01_Engine_Architecture_SQLOS/README.md (หัวข้อ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ทำ "แบบฝึกหัดคิด" จาก README หัวข้อ 6 กับผู้เรียนสด — ให้แต่ละคนเดาจุดที่ query ช้าได้ก่อน แล้วค่อยเฉลยครบ 6 จุด **Ref:** Module_01_Architecture_Scheduling_Waits/Sections/01_Engine_Architecture_SQLOS/README.md (หัวข้อ 6 + สรุป)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Section 1.1 (SQLOS, task/worker/scheduler) + ศัพท์ scheduler/wait type ใน Trainer_Docs/Glossary.md **Ref:** Module_01_Architecture_Scheduling_Waits/Sections/02_Scheduling_Windows_vs_SQL/README.md</a:t>
            </a:r>
          </a:p>
          <a:p>
            <a:r>
              <a:t>จุดเพิ่มเติมที่ย่อออกจากสไลด์: จำรูปเดียวให้ได้: Thread Life Cycle (State Machine) — แล้วอ่านต่อได้ทั้ง section | ปลายทาง: อ่านสัญญาณ CPU pressure จาก runnable queue + Signal Wait Ratio ได้ก่อนคนอื่นหลายก้าว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ให้ผู้เรียนจำเลขคู่ 15.6 ms vs 4 ms — เลข 4 ms จะกลับมาผูกกับ `SOS_SCHEDULER_YIELD` ใน Section 1.4 **Ref:** Module_01_Architecture_Scheduling_Waits/Sections/02_Scheduling_Windows_vs_SQL/README.md (หัวข้อ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 state machine เป็นเรื่องราวตามลูกศร (task เข้าคิว → ได้ CPU → ต้องรอ → กลับคิว) แล้วโยงกลับสมการ Response Time — กติกา 2 ข้อ: หนึ่ง scheduler ให้ CPU ได้ครั้งละหนึ่ง worker, worker ที่รอ resource ต้องออกจาก CPU **Ref:** Module_01_Architecture_Scheduling_Waits/Sections/02_Scheduling_Windows_vs_SQL/README.md (หัวข้อ 2–4)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**ศัพท์/syntax ต้องรู้ก่อน:** WHILE loop (T-SQL procedural loop ใช้วนคำนวณเพื่อเผา CPU จำลอง workload) และคอลัมน์ `runnable_tasks_count`/`yield_count` ของ `sys.dm_os_schedulers` — อธิบาย 1 บรรทัดก่อนรัน; ย้ำเส้นเชื่อม quantum 4 ms ↔ `SOS_SCHEDULER_YIELD` **Ref:** Module_01_Architecture_Scheduling_Waits/Sections/02_Scheduling_Windows_vs_SQL/README.md (หัวข้อ 4) + Labs/README.md (Exercise 3)</a:t>
            </a:r>
          </a:p>
          <a:p>
            <a:r>
              <a:t>Scripts: `Module_01_Architecture_Scheduling_Waits/Sections/02_Scheduling_Windows_vs_SQL/Scripts/03_CPU_Stress_Test.sql` · `04_Yield_Mechanism.sql` · `02_Workload_HighCPU.sql`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Section 1.1–1.2 (scheduler/worker) + ศัพท์ NUMA/scheduler ใน Trainer_Docs/Glossary.md **Ref:** Module_01_Architecture_Scheduling_Waits/Sections/03_NUMA_Architecture/README.md</a:t>
            </a:r>
          </a:p>
          <a:p>
            <a:r>
              <a:t>จุดเพิ่มเติมที่ย่อออกจากสไลด์: Local Access เร็ว / Foreign Access ช้ากว่า — "การเดินไปเอา memory ข้าม node มีค่าใช้จ่าย" | ปลายทาง: อ่านค่า performance ระดับ node ไม่ใช่ค่ารวมทั้ง instance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วาดแผนภาพ `numa-topology.png` (กติกาภาพ Slide Spec 4.4) ก่อนประกอบเด็ค และพิจารณาเติม `Sections/03_NUMA_Architecture/Scripts/` ให้ section นี้ (แผนแม่บท M1: "เติม Scripts/ อีก 3 sections") **Ref:** Module_01_Architecture_Scheduling_Waits/Sections/03_NUMA_Architecture/README.md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ให้ผู้เรียนรัน query บน VM ของตัวเองแล้วอ่าน `node_state_desc` ดัง ๆ — ใช้ประโยชน์จากแล็บ Exercise 1 Step 2 **Ref:** Module_01_Architecture_Scheduling_Waits/Sections/03_NUMA_Architecture/README.md (หัวข้อ 1) + Labs/README.md (Exercise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โยงไปหาแล็บ Exercise 1 ที่เก็บทุกค่านี้ — ย้ำว่า baseline วันแรกคือตั๋วเข้างาน troubleshooting ทุกครั้ง เพราะ "ปกติ" ของแต่ละ server ไม่เหมือนกัน **Ref:** Module_01_Architecture_Scheduling_Waits/Sections/03_NUMA_Architecture/README.md (หัวข้อ 2–3)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Section 1.2 (SUSPENDED vs RUNNABLE, Signal Wait) + นิยาม wait type/DMV ใน Trainer_Docs/Glossary.md; Exercise ฝั่งนี้ต้องมีสิทธิ์ VIEW SERVER STATE **Ref:** Module_01_Architecture_Scheduling_Waits/Sections/04_Wait_Statistics/README.md</a:t>
            </a:r>
          </a:p>
          <a:p>
            <a:r>
              <a:t>จุดเพิ่มเติมที่ย่อออกจากสไลด์: สมการที่ต้องจำ: Response Time = Service Time (CPU) + Wait Time (รอ resource) | ปลายทาง: จัดอันดับ top waits → แปล wait → resource → แก้ถูกจุด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 "ทำไมต้องกรอง benign waits" ให้ชัดก่อนโชว์โค้ด — ไม่งั้นผู้เรียนจะตกใจเห็น `LAZYWRITER_SLEEP` ติดอันดับ **Ref:** Module_01_Architecture_Scheduling_Waits/Sections/04_Wait_Statistics/README.md (หัวข้อ 1–3)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ผูกกลับ State Machine ของ Section 1.2 — SUSPENDED = Resource Wait, RUNNABLE = Signal Wait; ผู้เรียนที่จำแผนภาพได้จะต่อสมการนี้ได้ทันที **Ref:** Module_01_Architecture_Scheduling_Waits/Sections/04_Wait_Statistics/README.md (หัวข้อ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**ศัพท์/syntax ต้องรู้ก่อน:** CTE (`WITH Waits AS …` — ตั้งชื่อ result set ชั่วคราวใน query เดียว), window function `SUM(wait_s) OVER ()` (คิดสัดส่วน % โดยไม่ต้อง GROUP BY), `CROSS APPLY` (เรียก table-valued function ต่อหนึ่งแถว เช่น `sys.dm_exec_sql_text`) — อธิบายทั้ง 3 ก่อนเปิดโค้ด + ทำไมต้องกรอง benign waits ~80 รายการ **Ref:** Module_01_Architecture_Scheduling_Waits/Sections/04_Wait_Statistics/README.md + Labs/README.md (Exercise 2, 4)</a:t>
            </a:r>
          </a:p>
          <a:p>
            <a:r>
              <a:t>Scripts: `Module_01_Architecture_Scheduling_Waits/Sections/04_Wait_Statistics/Scripts/01_Workload_NetworkWait.sql` · `05_Wait_Stats_Deep_Dive.sql` · `07_Workload_Mixed_Waits.sql` · `08_Wait_Stats_Analysis.sql`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เนื้อหาทั้งโมดูล + ศัพท์ deprecated/DMV ใน Trainer_Docs/Glossary.md **Ref:** Module_01_Architecture_Scheduling_Waits/Sections/05_Modern_Features_2025/README.md</a:t>
            </a:r>
          </a:p>
          <a:p>
            <a:r>
              <a:t>จุดเพิ่มเติมที่ย่อออกจากสไลด์: แผนของ section นี้: ถอดของเก่าออกจากสมอง ใส่ของใหม่เข้าไป (2019 → 2025) + Checklist วันแรกของ server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สไลด์นี้คือ "รายการถอน–ฝาก" ของ DBA ยุคเปลี่ยนรุ่น — ให้ผู้เรียนเช็กว่า production ของตัวเองยังมีของฝั่งซ้ายอยู่หรือไม่ **Ref:** Module_01_Architecture_Scheduling_Waits/Sections/05_Modern_Features_2025/README.md (หัวข้อ 1–2)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สร้าง `Sections/05_Modern_Features_2025/Scripts/` (เช่น `09_2025_Checklist.sql`) เพื่อยกระดับเช็กลิสต์นี้เป็น Code Lab ได้ตาม Slide Spec 4.6 (ตอนนี้ T-SQL อยู่ใน README เท่านั้น) พร้อม header `MinVersion:` **Ref:** Module_01_Architecture_Scheduling_Waits/Sections/05_Modern_Features_2025/README.md (หัวข้อ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เฉลย: (1) ส่วนใหญ่เป็นพฤติกรรมปกติของ Parallel Execution — ถ้า CXPACKET สูงโดดจึงจูน Cost Threshold for Parallelism / MAXDOP (2) Signal = ของมาแล้วรอ CPU ว่าง (CPU pressure), Resource = รอของจริง (3) หยุดรอ resource เช่น disk หรือ lock (4) PAGEIOLATCH = disk, PAGELATCH = latch ใน memory (hot page) **Ref:** Module_01_Architecture_Scheduling_Waits/README.md (คำถามท้ายโมดูล) + Sections/04_Wait_Statistics/README.md (ตรวจความเข้าใจ)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แจ้งจำนวน Exercise = 4 ให้ผู้เรียนวางแผนเวลา; **syntax ต้องรู้ก่อน:** CTE, `SUM() OVER ()`, `CROSS APPLY` (อธิบายก่อนเปิด Ex2 ตามมติ #9) และ `DBCC SQLPERF('sys.dm_os_wait_stats', CLEAR)` เป็น cleanup เฉพาะ VM ทดสอบ — ห้ามรันบน production; error ที่พบได้: permission denied → ใช้ role `##MS_ServerPerformanceStateReader##`; รุ่นขั้นต่ำ SQL Server 2019+ (แนะนำ 17.x) **Ref:** Module_01_Architecture_Scheduling_Waits/Labs/README.md</a:t>
            </a:r>
          </a:p>
          <a:p>
            <a:r>
              <a:t>Scripts: `Module_01_Architecture_Scheduling_Waits/Labs/README.md` — สคริปต์ประกอบ: `Sections/02_Scheduling_Windows_vs_SQL/Scripts/02_Workload_HighCPU.sql`, `03_CPU_Stress_Test.sql`, `04_Yield_Mechanism.sql`, `06_Workload_Active_Queries.sql` + `Sections/04_Wait_Statistics/Scripts/01_Workload_NetworkWait.sql`, `05_Wait_Stats_Deep_Dive.sql`, `07_Workload_Mixed_Waits.sql`, `08_Wait_Stats_Analysis.sql`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ปิดโมดูลด้วยการทวน "แผนที่" รอบสั้น ๆ แล้วชวนผู้เรียนที่ยังไม่จบแล็บกลับไปจบก่อนเข้า Module 2 **Ref:** Module_01_Architecture_Scheduling_Waits/README.md + Sections/05_Modern_Features_2025/README.md (สรุปท้าย section)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01: Architecture, Scheduling &amp; Waits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SQL Server Performance Tuning — หลักสูตร 4 วัน / 24 ชั่วโมง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Module 01: Architecture, Scheduling &amp; Waits — เด็คนำร่องของหลักสูตร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วันที่ 1 · บรรยาย 09:30–11:00 + LAB 11:00–12:00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ผู้สอน / วันที่อบรม: (เติมก่อนประกอบเด็คจริง)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แผนที่โมดูล และงบเวลา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งบเวลาโมดูล: </a:t>
            </a:r>
            <a:r>
              <a:rPr sz="1500" b="1">
                <a:latin typeface="Leelawadee UI"/>
                <a:cs typeface="Leelawadee UI"/>
              </a:rPr>
              <a:t>150 นาที</a:t>
            </a:r>
            <a:r>
              <a:rPr sz="1500" b="0">
                <a:latin typeface="Leelawadee UI"/>
                <a:cs typeface="Leelawadee UI"/>
              </a:rPr>
              <a:t> (บรรยาย 90 นาที + LAB 60 นาที) · LAB 1: Wait Statistics &amp; CPU Pressure — </a:t>
            </a:r>
            <a:r>
              <a:rPr sz="1500" b="1">
                <a:latin typeface="Leelawadee UI"/>
                <a:cs typeface="Leelawadee UI"/>
              </a:rPr>
              <a:t>4 Exercise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เส้นทาง 5 sections: Engine/SQLOS → Scheduling → NUMA → Wait Statistics → Modern Features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1.1 Engine Architecture &amp; SQLOS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"ระบบช้า" — query หนึ่งคำสั่งเดินทางผ่านชั้นไหน และคอขวดซ่อนอยู่ชั้นไหนได้บ้าง? · แผนที่ 5 ชั้น: Protocol → Query Execution → Buffer Pool → Storage Engine → SQLOS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แผนที่ SQL Server Database Engine — 5 ชั้น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Protocol layer: TDS/SNI — Shared Memory / Named Pipes / TCP/IP; TDS 8.0 (2022+) บังคับ TLS 1.3 ก่อน TDS session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Query execution layer: Command Parser → Query Optimizer (Cost-based ดู Statistics) → Query Executor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จุดตัดสินใจสำคัญที่สุดของ diagram: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"มี Plan อยู่ใน Plan Cache หรือไม่?"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hit = ข้าม compile, miss = สร้าง plan ใหม่แล้วเก็บ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Storage engine layer: Access Methods → Buffer/Page/Transaction/Lock Manager + เส้นทาง Log Cache → Log Writer (Write-Ahead Logging)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SQLOS layer: Thread Scheduling (cooperative, quantum ~4 ms) + Memory Management — ฐานรองรับทุกชั้น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แผนภาพนี้คือแผนที่หลักของหลักสูตร — M2 I/O, M3 โครงสร้าง, M4 Memory, M7/M8 Query + Plan Cache จะซูมทีละส่วน</a:t>
            </a:r>
          </a:p>
        </p:txBody>
      </p:sp>
      <p:pic>
        <p:nvPicPr>
          <p:cNvPr id="4" name="Picture 3" descr="eng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486944"/>
            <a:ext cx="5440680" cy="30728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Buffer Pool — Plan Cache vs Data Cache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Plan Cache: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เก็บ compiled execution plans; ใช้ซ้ำเมื่อ query/parameter เดิม; บวมผิดปกติ = ad-hoc workload pollution (ลึกที่ M8)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อายุเฉลี่ยของ page ใน Data Cache = PLE (Page Life Expectancy) — ต้องอ่านต่อ NUMA node (ต่อยอด M4)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Data Cache: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เก็บ data pages (8 KB) ที่อ่านจาก disk; page อยู่ในนี้ = Logical Read ไม่ต้องแตะ disk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Logical Read vs Physical Read — ตัวชี้วัดแรกที่แยก "ช้าเพราะ CPU/Plan" ออกจาก "ช้าเพราะ Storage"</a:t>
            </a:r>
          </a:p>
        </p:txBody>
      </p:sp>
      <p:pic>
        <p:nvPicPr>
          <p:cNvPr id="5" name="Picture 4" descr="eng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486944"/>
            <a:ext cx="5440680" cy="30728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เดินทางของ Query — 8 ขั้นตามลูกศรในแผนภาพ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1–2: TDS packet ผ่าน SNI (TCP/IP) → Command Parser ตรวจ syntax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3–4: Optimizer ถาม "มี Plan หรือไม่?" (ครั้งแรกสร้าง + เก็บ cache / ครั้งถัดไป reuse) → Executor สั่งงาน Access Methods ทีละ operator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5: Buffer Manager / Page Manager — page ใน Data Cache = Logical Read, ไม่มี = อ่านจาก Data Files จริง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6: Transaction Manager เขียน Transaction Log ก่อนเสมอ (WAL — ต้นตอ wait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WRITELOG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+ Lock Manager กัน transaction เหยียบกัน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ขั้น 7–8: SQLOS จัดคิว CPU ตลอดทาง → ผลลัพธ์กลับ client — client รับไม่ทัน =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ASYNC_NETWORK_IO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คำถามชวนคิด: query เดียว "ช้า" ได้จากกี่จุด? — ตอบได้ทุกจุด = ต้องวัดด้วย DMVs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sys.dm_os_*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ไม่เดา — Task Manager ของ Windows ไม่พอ</a:t>
            </a:r>
          </a:p>
        </p:txBody>
      </p:sp>
      <p:pic>
        <p:nvPicPr>
          <p:cNvPr id="4" name="Picture 3" descr="engin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486944"/>
            <a:ext cx="5440680" cy="30728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1.2 Scheduling: Windows vs SQL Server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ทำไม DBA ต้องเข้าใจ Scheduler — CPU scheduling เป็นคอขวดอันดับต้น ๆ ไม่ใช่แค่ disk/index · SQL Server ไม่ปล่อยให้ Windows จัดคิว — สร้างระบบจัดคิวของตัวเอง: </a:t>
            </a:r>
            <a:r>
              <a:rPr sz="1500" b="1">
                <a:latin typeface="Leelawadee UI"/>
                <a:cs typeface="Leelawadee UI"/>
              </a:rPr>
              <a:t>SQLOS Scheduler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Preemptive (Windows) vs Cooperative (SQL Server)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Windows (Preemptive):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OS สั่งหยุด thread เมื่อหมด Time Slice; quantum ~15.6 ms; context switch OS-managed (overhead สูง); ผู้ควบคุม = Windows Kernel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⚠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lightweight pooling (fiber mode) deprecated ใน SQL Server 2025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cooperative scheduling คือโมเดลเดียวที่ Microsoft สนับสนุน อย่าตั้งค่านี้บน production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SQL Server (Non-Preemptive/Cooperative):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worker Yield เองเมื่อทำงานเสร็จหรือต้องรอ; quantum ~4 ms; context switch เบากว่ามาก; ผู้ควบคุม = SQLOS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เหตุผลที่เลือก Cooperative: SQL Server รู้บริบทของงานดีกว่า OS (รอ I/O/Lock → ยอมแพ้ CPU ทันที) + คุม fairness ของคิวเอง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Thread Life Cycle — State Machine ของ Worker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เส้นทางหลัก: task ใหม่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RUNNABLE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(ต่อคิว)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RUNNING ON CPU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COMPLETED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รอ I/O/resource (ไม่ใช่ CPU) →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SUSPENDED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(เข้า Waiter list) → resource พร้อม → กลับ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RUNNABLE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ครบ quantum ~4 ms แต่งานยังไม่จบ → Yield กลับ RUNNABLE — บันทึกเป็น wait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SOS_SCHEDULER_YIELD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State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worker กำลังทำอะไร /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Scheduler lists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(Worker, Runnable, Waiter, I-O, Timer) = worker กำลังรออะไร — อ่านคู่กันตามแผนภาพ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Response Time = Service Time (RUNNING) + Resource Wait (SUSPENDED) + Signal Wait (RUNNABLE)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ความยาว Runnable list =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runnable_tasks_count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จาก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sys.dm_os_schedulers</a:t>
            </a:r>
          </a:p>
        </p:txBody>
      </p:sp>
      <p:pic>
        <p:nvPicPr>
          <p:cNvPr id="4" name="Picture 3" descr="thread-life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900614"/>
            <a:ext cx="5440680" cy="42454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จำลอง CPU Pressure และเห็น SOS_SCHEDULER_YIELD สด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B: รัน </a:t>
            </a:r>
            <a:r>
              <a:rPr sz="1500" b="0">
                <a:latin typeface="Consolas"/>
                <a:cs typeface="Consolas"/>
              </a:rPr>
              <a:t>03_CPU_Stress_Test.sql</a:t>
            </a:r>
            <a:r>
              <a:rPr sz="1500" b="0">
                <a:latin typeface="Leelawadee UI"/>
                <a:cs typeface="Leelawadee UI"/>
              </a:rPr>
              <a:t> พร้อมกัน 3–4 หน้าต่าง (~60 วินาที) — เวอร์ชันทางเลือก </a:t>
            </a:r>
            <a:r>
              <a:rPr sz="1500" b="0">
                <a:latin typeface="Consolas"/>
                <a:cs typeface="Consolas"/>
              </a:rPr>
              <a:t>02_Workload_HighCPU.sql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C: ดู scheduler แบบ real-time ด้วย </a:t>
            </a:r>
            <a:r>
              <a:rPr sz="1500" b="0">
                <a:latin typeface="Consolas"/>
                <a:cs typeface="Consolas"/>
              </a:rPr>
              <a:t>04_Yield_Mechanism.sql</a:t>
            </a:r>
            <a:r>
              <a:rPr sz="1500" b="0">
                <a:latin typeface="Leelawadee UI"/>
                <a:cs typeface="Leelawadee UI"/>
              </a:rPr>
              <a:t> — </a:t>
            </a:r>
            <a:r>
              <a:rPr sz="1500" b="0">
                <a:latin typeface="Consolas"/>
                <a:cs typeface="Consolas"/>
              </a:rPr>
              <a:t>yield_count</a:t>
            </a:r>
            <a:r>
              <a:rPr sz="1500" b="0">
                <a:latin typeface="Leelawadee UI"/>
                <a:cs typeface="Leelawadee UI"/>
              </a:rPr>
              <a:t> / </a:t>
            </a:r>
            <a:r>
              <a:rPr sz="1500" b="0">
                <a:latin typeface="Consolas"/>
                <a:cs typeface="Consolas"/>
              </a:rPr>
              <a:t>runnable_tasks_count</a:t>
            </a:r>
            <a:r>
              <a:rPr sz="1500" b="0">
                <a:latin typeface="Leelawadee UI"/>
                <a:cs typeface="Leelawadee UI"/>
              </a:rPr>
              <a:t> ต่อ scheduler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ผลที่คาด: </a:t>
            </a:r>
            <a:r>
              <a:rPr sz="1500" b="0">
                <a:latin typeface="Consolas"/>
                <a:cs typeface="Consolas"/>
              </a:rPr>
              <a:t>runnable_tasks_count</a:t>
            </a:r>
            <a:r>
              <a:rPr sz="1500" b="0">
                <a:latin typeface="Leelawadee UI"/>
                <a:cs typeface="Leelawadee UI"/>
              </a:rPr>
              <a:t> ค้าง &gt; 0 และ </a:t>
            </a:r>
            <a:r>
              <a:rPr sz="1500" b="0">
                <a:latin typeface="Consolas"/>
                <a:cs typeface="Consolas"/>
              </a:rPr>
              <a:t>last_wait_type = SOS_SCHEDULER_YIELD</a:t>
            </a:r>
            <a:r>
              <a:rPr sz="1500" b="0">
                <a:latin typeface="Leelawadee UI"/>
                <a:cs typeface="Leelawadee UI"/>
              </a:rPr>
              <a:t> (quantum exhaustion)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"VIEW SERVER STATE permission was denied" → ต้องได้สิทธิ์ VIEW SERVER STATE หรือ role </a:t>
            </a:r>
            <a:r>
              <a:rPr sz="1500" b="0">
                <a:latin typeface="Consolas"/>
                <a:cs typeface="Consolas"/>
              </a:rPr>
              <a:t>##MS_ServerPerformanceStateReader##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(แนะนำ 2025 17.x) — ไฟล์ .sql ยังไม่มี header </a:t>
            </a:r>
            <a:r>
              <a:rPr sz="1500" b="0">
                <a:latin typeface="Consolas"/>
                <a:cs typeface="Consolas"/>
              </a:rPr>
              <a:t>MinVersion:</a:t>
            </a:r>
            <a:r>
              <a:rPr sz="1500" b="0">
                <a:latin typeface="Leelawadee UI"/>
                <a:cs typeface="Leelawadee UI"/>
              </a:rPr>
              <a:t> ต้องเติมตามเฟส 0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`Module_01_Architecture_Scheduling_Waits/Sections/02_Scheduling_Windows_vs_SQL/Scripts/03_CPU_Stress_Test.sql` · `04_Yield_Mechanism.sql` · `02_Workload_HighCPU.sql`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1.3 NUMA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คำถามสถาปัตยกรรมแรกเมื่อ CPU หลาย socket: "memory ตัวไหนอยู่ใกล้ CPU ตัวไหน?" · SMP แชร์ bus เดียว — CPU ยิ่งเยอะ bus ยิ่งแน่น → NUMA แบ่ง CPU + Memory เป็น </a:t>
            </a:r>
            <a:r>
              <a:rPr sz="1500" b="1">
                <a:latin typeface="Leelawadee UI"/>
                <a:cs typeface="Leelawadee UI"/>
              </a:rPr>
              <a:t>Node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SMP vs NUMA — Node คือหน่วยความจำใกล้ตัว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SMP (Symmetric Multiprocessing): ทุก CPU แชร์ bus เดียวไป memory เดียว — bus เป็นคอขวดของสถาปัตยกรรมเอง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NUMA (Non-Uniform Memory Access): Node = กลุ่ม CPU + Local Memory; ข้าม node ผ่าน interconnect — latency สูงกว่าชัดเจน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SQL Server จัดการให้อัตโนมัติ: memory node แบ่งตาม NUMA node, scheduler ผูกกับ CPU ใน node ตัวเอง, connection จับคู่ node แบบ round-robin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Hot Add CPU deprecated ใน SQL Server 2025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วางแผนขนาด CPU ตั้งแต่ต้น อย่าคาดหวังเพิ่ม CPU ระหว่างใช้งาน</a:t>
            </a:r>
          </a:p>
        </p:txBody>
      </p:sp>
      <p:pic>
        <p:nvPicPr>
          <p:cNvPr id="4" name="Picture 3" descr="numa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Hardware NUMA vs Software (Soft) NUMA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Hardware NUMA: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มากับ socket ของ mainboard; SQL Server ตรวจพบและใช้อัตโนมัติ;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node_state_desc = ONLINE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ตรวจจริง: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SELECT node_id, node_state_desc, online_scheduler_count, active_worker_count, avg_load_balance FROM sys.dm_os_nodes;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Software (Soft) NUMA: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SQLOS สร้างอัตโนมัติ (2016+) เมื่อ logical core ต่อ node เกิน 8;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node_state_desc = ONLINE AUTOMATIC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เกือบทุก server ยุคใหม่ (core ต่อ socket &gt; 8) จะเห็น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ONLINE AUTOMATIC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เป็นพฤติกรรมปกติ ไม่ใช่ความผิดปกติ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ทำไม NUMA จึงสำคัญกับ Performance 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PLE ต้องอ่าน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ต่อ NUMA node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ค่ารวมทั้ง instance อ่านไม่ได้ (ต่อยอด Module 4)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Parallel query ข้าม node มีต้นทุนสูง — MAXDOP ที่เกินจำนวน core ต่อ node ทำให้ query ข้าม node มากขึ้น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Soft-NUMA + Resource Governor = workload isolation ได้ละเอียดขึ้น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เก็บ NUMA topology baseline ตั้งแต่วันแรก: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sys.dm_os_sys_info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sys.dm_os_nodes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(Glenn Berry diagnostic queries มีหมวด NUMA พร้อมรัน)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ห้าม set processor affinity เองโดยไม่มีเหตุผลชัดเจน — ปล่อยให้ SQLOS balance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1.4 Wait Statistics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ปรัชญา </a:t>
            </a:r>
            <a:r>
              <a:rPr sz="1500" b="1">
                <a:latin typeface="Leelawadee UI"/>
                <a:cs typeface="Leelawadee UI"/>
              </a:rPr>
              <a:t>Waits &amp; Queues</a:t>
            </a:r>
            <a:r>
              <a:rPr sz="1500" b="0">
                <a:latin typeface="Leelawadee UI"/>
                <a:cs typeface="Leelawadee UI"/>
              </a:rPr>
              <a:t>: ไม่เดา — อ่านบัญชีการรอที่ engine จดไว้ให้เอง คอขวดจริงจัดอันดับให้อยู่แล้ว · </a:t>
            </a:r>
            <a:r>
              <a:rPr sz="1500" b="0">
                <a:latin typeface="Consolas"/>
                <a:cs typeface="Consolas"/>
              </a:rPr>
              <a:t>sys.dm_os_wait_stats</a:t>
            </a:r>
            <a:r>
              <a:rPr sz="1500" b="0">
                <a:latin typeface="Leelawadee UI"/>
                <a:cs typeface="Leelawadee UI"/>
              </a:rPr>
              <a:t> บันทึกทุกครั้งที่ task หยุดรอ: รออะไร / นานแค่ไหน / กี่ครั้ง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อ่าน Wait Statistics อย่างมืออาชีพ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ค่าใน DMV =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สะสมตั้งแต่ restart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→ เปรียบเทียบต้องใช้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delta ระหว่าง snapshot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(เก็บ baseline ทุก 15 นาที — ต่อยอด Module 10)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กรอง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benign waits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~80 รายการ (สไตล์ Glenn Berry) ก่อนจัดอันดับ — benign = การรอปกติของระบบ เช่น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SLEEP_*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XE_TIMER_EVENT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Wait map ตามคอขวด: CPU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SOS_SCHEDULER_YIELD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CXPACKET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/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CXCONSUMER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THREADPOOL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I/O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PAGEIOLATCH_SH/EX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WRITELOG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Memory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RESOURCE_SEMAPHORE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Lock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LCK_M_*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PAGELATCH_*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Network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ASYNC_NETWORK_IO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PREEMPTIVE_OS_*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ขั้นตอนวินิจฉัย 5 ขั้น: เก็บ delta → จัดอันดับ top waits → แปล wait → ยืนยันด้วยข้อมูลชั้นที่สอง (file stats / blocking chain) → แก้แล้ววัดซ้ำ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อย่าแก้หลายอย่างพร้อมกัน — แก้ทีละอย่างแล้ววัดผล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Resource Wait vs Signal Wait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Resource Wait: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รอ "ของจริง" — disk, lock, network; คำนวณ =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wait_time_ms − signal_wait_time_ms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(คู่กับ state SUSPENDED)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เกณฑ์: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signal_wait_pct &gt; 10–15%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ต่อเนื่อง = CPU pressure — ย้อนไปแก้ที่ Scheduling (Section 1.2) ไม่ใช่ disk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Signal Wait: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ของมาแล้วแต่ "รอ CPU ว่าง" = สัญญาณ CPU pressure (คู่กับ state RUNNABLE)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SQL: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SELECT SUM(signal_wait_time_ms)*1.0/SUM(wait_time_ms)*100 AS signal_wait_pct FROM sys.dm_os_wait_stats WHERE wait_time_ms &gt; 0;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จำลอง ASYNC_NETWORK_IO และวิเคราะห์ Top Waits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B: รัน </a:t>
            </a:r>
            <a:r>
              <a:rPr sz="1500" b="0">
                <a:latin typeface="Consolas"/>
                <a:cs typeface="Consolas"/>
              </a:rPr>
              <a:t>01_Workload_NetworkWait.sql</a:t>
            </a:r>
            <a:r>
              <a:rPr sz="1500" b="0">
                <a:latin typeface="Leelawadee UI"/>
                <a:cs typeface="Leelawadee UI"/>
              </a:rPr>
              <a:t> (SELECT 500,000 แถว ทิ้งไว้ให้ grid ค้าง) — ทางเลือก workload ผสมหลาย wait: </a:t>
            </a:r>
            <a:r>
              <a:rPr sz="1500" b="0">
                <a:latin typeface="Consolas"/>
                <a:cs typeface="Consolas"/>
              </a:rPr>
              <a:t>07_Workload_Mixed_Waits.sql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Window C: ตรวจ wait สดจาก </a:t>
            </a:r>
            <a:r>
              <a:rPr sz="1500" b="0">
                <a:latin typeface="Consolas"/>
                <a:cs typeface="Consolas"/>
              </a:rPr>
              <a:t>sys.dm_exec_requests</a:t>
            </a:r>
            <a:r>
              <a:rPr sz="1500" b="0">
                <a:latin typeface="Leelawadee UI"/>
                <a:cs typeface="Leelawadee UI"/>
              </a:rPr>
              <a:t> แล้ววิเคราะห์ Top waits ด้วย </a:t>
            </a:r>
            <a:r>
              <a:rPr sz="1500" b="0">
                <a:latin typeface="Consolas"/>
                <a:cs typeface="Consolas"/>
              </a:rPr>
              <a:t>08_Wait_Stats_Analysis.sql</a:t>
            </a:r>
            <a:r>
              <a:rPr sz="1500" b="0">
                <a:latin typeface="Leelawadee UI"/>
                <a:cs typeface="Leelawadee UI"/>
              </a:rPr>
              <a:t> (Glenn Berry 2016–2025)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เจาะลึก real-time: </a:t>
            </a:r>
            <a:r>
              <a:rPr sz="1500" b="0">
                <a:latin typeface="Consolas"/>
                <a:cs typeface="Consolas"/>
              </a:rPr>
              <a:t>05_Wait_Stats_Deep_Dive.sql</a:t>
            </a:r>
            <a:r>
              <a:rPr sz="1500" b="0">
                <a:latin typeface="Leelawadee UI"/>
                <a:cs typeface="Leelawadee UI"/>
              </a:rPr>
              <a:t> — </a:t>
            </a:r>
            <a:r>
              <a:rPr sz="1500" b="0">
                <a:latin typeface="Consolas"/>
                <a:cs typeface="Consolas"/>
              </a:rPr>
              <a:t>sys.dm_os_waiting_tasks</a:t>
            </a:r>
            <a:r>
              <a:rPr sz="1500" b="0">
                <a:latin typeface="Leelawadee UI"/>
                <a:cs typeface="Leelawadee UI"/>
              </a:rPr>
              <a:t> (DMV ตอบคำถาม "ทำไมฉันกำลังรอ?")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ผลที่คาด: </a:t>
            </a:r>
            <a:r>
              <a:rPr sz="1500" b="0">
                <a:latin typeface="Consolas"/>
                <a:cs typeface="Consolas"/>
              </a:rPr>
              <a:t>ASYNC_NETWORK_IO</a:t>
            </a:r>
            <a:r>
              <a:rPr sz="1500" b="0">
                <a:latin typeface="Leelawadee UI"/>
                <a:cs typeface="Leelawadee UI"/>
              </a:rPr>
              <a:t> = SQL Server พร้อมส่งข้อมูลแต่ client/network รับไม่ทัน — แก้ฝั่ง application ไม่ใช่ storage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permission denied on VIEW SERVER STATE; </a:t>
            </a:r>
            <a:r>
              <a:rPr sz="1500" b="0">
                <a:latin typeface="Consolas"/>
                <a:cs typeface="Consolas"/>
              </a:rPr>
              <a:t>ASYNC_NETWORK_IO</a:t>
            </a:r>
            <a:r>
              <a:rPr sz="1500" b="0">
                <a:latin typeface="Leelawadee UI"/>
                <a:cs typeface="Leelawadee UI"/>
              </a:rPr>
              <a:t> ปรากฏเฉพาะตอน result set ยังส่งไม่จบ — ต้องทิ้งหน้าต่าง results ค้างไว้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(แนะนำ 17.x) — ต้องเติม header </a:t>
            </a:r>
            <a:r>
              <a:rPr sz="1500" b="0">
                <a:latin typeface="Consolas"/>
                <a:cs typeface="Consolas"/>
              </a:rPr>
              <a:t>MinVersion:</a:t>
            </a:r>
            <a:r>
              <a:rPr sz="1500" b="0">
                <a:latin typeface="Leelawadee UI"/>
                <a:cs typeface="Leelawadee UI"/>
              </a:rPr>
              <a:t> ตามเฟส 0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`Module_01_Architecture_Scheduling_Waits/Sections/04_Wait_Statistics/Scripts/01_Workload_NetworkWait.sql` · `05_Wait_Stats_Deep_Dive.sql` · `07_Workload_Mixed_Waits.sql` · `08_Wait_Stats_Analysis.sql`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1.5 Modern Features &amp; 2025 Checklist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แนวคิดฐาน (SQLOS, Scheduling, Waits) ไม่เคยเปลี่ยน — แต่รายละเอียดรอบ ๆ เปลี่ยนเร็ว · "ประสบการณ์ 10 ปี อาจเป็น 1 ปี ที่ทำซ้ำ 10 รอบ — ถ้ายังใช้ความรู้ยุค 2012 จัดการ server ยุค 2025"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ถอดออกจากสมอง vs ใส่เข้าไปในสมอง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ถอดออก: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lightweight pooling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(deprecated 2025) · Hot Add CPU (deprecated) · SQL Profiler / SQL Trace → Extended Events (M9) · สูตร PLE = 300 วินาที (ใช้ไม่ได้กับ RAM ยุคใหม่)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ตีความใหม่: ดู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CXPACKET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คู่กับ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CXCONSUMER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เสมอ — CXCONSUMER สูงตามหลังมักเป็นพฤติกรรมปกติของ parallel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ใส่เข้าไป: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sys.dm_exec_query_plan_stats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(2019+, ตั้ง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LAST_QUERY_PLAN_STATS = 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— Last Actual Plan จาก plan cache โดยไม่ต้องพึ่ง Query 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server role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##MS_ServerPerformanceStateReader##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(2022+) — monitoring account อ่าน DMV ได้โดยไม่ต้อง sysadmin · Glenn Berry 2025 Diagnostic Queries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Checklist สำหรับ Server ที่เพิ่งขึ้น SQL Server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1. เก็บ topology baseline: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sys.dm_os_sys_info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cpu_count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socket_count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numa_node_count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max_workers_count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sqlserver_start_time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2. ให้สิทธิ์ monitoring อย่างปลอดภัย: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ALTER SERVER ROLE ##MS_ServerPerformanceStateReader## ADD MEMBER [monitoring_login];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3. ตรวจ deprecated settings: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sys.configurations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lightweight pooling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priority boost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4. เปิด Last Actual Plan: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ALTER DATABASE SCOPED CONFIGURATION SET LAST_QUERY_PLAN_STATS = ON;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ปิดท้าย: รัน Glenn Berry 2025 Diagnostic Queries เก็บ baseline วันแรก — "ปกติ" ของแต่ละ server ไม่เหมือนกัน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ทางไปต่อ: M3 ADR/tempdb governance · M5 Optimized Locking (TID+LAQ) · M7 OPPO + DOP Feedback · M8 Optimized sp_executesql · M9 time-bound XE sessions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ตรวจความเข้าใจรวบยอด Module 01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1. Top waits สูงสุดคือ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CXPACKET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และ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CXCONSUMER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คู่กัน — แปลว่าอะไร?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2. ความแตกต่างระหว่าง Signal Wait และ Resource Wait คืออะไร?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3. สถานะ SUSPENDED หมายถึง worker กำลังทำอะไร?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4.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PAGEIOLATCH_SH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กับ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PAGELATCH_EX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— ตัวไหนเกี่ยวกับ disk ตัวไหนเกี่ยวกับ memory?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Wait Statistics &amp; CPU Pressure (4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Lab 1: Wait Statistics &amp; CPU Pressure — </a:t>
            </a:r>
            <a:r>
              <a:rPr sz="1500" b="1">
                <a:latin typeface="Leelawadee UI"/>
                <a:cs typeface="Leelawadee UI"/>
              </a:rPr>
              <a:t>4 Exercise</a:t>
            </a:r>
            <a:r>
              <a:rPr sz="1500" b="0">
                <a:latin typeface="Leelawadee UI"/>
                <a:cs typeface="Leelawadee UI"/>
              </a:rPr>
              <a:t> (งบแล็บ 60 นาที) · Scenario: Proseware Inc. ร้อง "ระบบช้า" แต่ Infrastructure ปฏิเสธเพิ่ม CPU เพราะกราฟแสดง CPU ~60% — พิสูจน์ด้วย DMV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Ex1: CPU/NUMA topology — </a:t>
            </a:r>
            <a:r>
              <a:rPr sz="1500" b="0">
                <a:latin typeface="Consolas"/>
                <a:cs typeface="Consolas"/>
              </a:rPr>
              <a:t>sys.dm_os_sys_info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sys.dm_os_nodes</a:t>
            </a:r>
            <a:r>
              <a:rPr sz="1500" b="0">
                <a:latin typeface="Leelawadee UI"/>
                <a:cs typeface="Leelawadee UI"/>
              </a:rPr>
              <a:t>, </a:t>
            </a:r>
            <a:r>
              <a:rPr sz="1500" b="0">
                <a:latin typeface="Consolas"/>
                <a:cs typeface="Consolas"/>
              </a:rPr>
              <a:t>sys.dm_os_schedulers</a:t>
            </a:r>
            <a:r>
              <a:rPr sz="1500" b="0">
                <a:latin typeface="Leelawadee UI"/>
                <a:cs typeface="Leelawadee UI"/>
              </a:rPr>
              <a:t> (Window A)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Ex2: วัด Signal Wait Ratio + Top waits แบบกรอง benign waits (Window A)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Ex3: จำลอง CPU pressure (Window B) + ตาม runnable queue real-time (Window C)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Ex4: จำลอง </a:t>
            </a:r>
            <a:r>
              <a:rPr sz="1500" b="0">
                <a:latin typeface="Consolas"/>
                <a:cs typeface="Consolas"/>
              </a:rPr>
              <a:t>ASYNC_NETWORK_IO</a:t>
            </a:r>
            <a:r>
              <a:rPr sz="1500" b="0">
                <a:latin typeface="Leelawadee UI"/>
                <a:cs typeface="Leelawadee UI"/>
              </a:rPr>
              <a:t> — ลูกค้ารับข้อมูลไม่ทัน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เตรียม: AdventureWorks2025 + VIEW SERVER STATE (หรือ role </a:t>
            </a:r>
            <a:r>
              <a:rPr sz="1500" b="0">
                <a:latin typeface="Consolas"/>
                <a:cs typeface="Consolas"/>
              </a:rPr>
              <a:t>##MS_ServerPerformanceStateReader##</a:t>
            </a:r>
            <a:r>
              <a:rPr sz="1500" b="0">
                <a:latin typeface="Leelawadee UI"/>
                <a:cs typeface="Leelawadee UI"/>
              </a:rPr>
              <a:t>) + SSMS 3 หน้าต่าง query</a:t>
            </a:r>
          </a:p>
          <a:p>
            <a:pPr marL="0" indent="0">
              <a:spcAft>
                <a:spcPts val="0"/>
              </a:spcAft>
              <a:buNone/>
            </a:pPr>
            <a:r>
              <a:rPr sz="1150" b="0">
                <a:latin typeface="Consolas"/>
                <a:cs typeface="Consolas"/>
              </a:rPr>
              <a:t>Scripts: `Module_01_Architecture_Scheduling_Waits/Labs/README.md` — สคริปต์ประกอบ: `Sections/02_Scheduling_Windows_vs_SQL/Scripts/02_Workload_HighCPU.sql`, `03_CPU_Stress_Test.sql`, `04_Yield_Mechanism.sql`, `06_Workload_Active_Queries.sql` + `Sections/04_Wait_Statistics/Scripts/01_Workload_NetworkWait.sql`, `05_Wait_Stats_Deep_Dive.sql`, `07_Workload_Mixed_Waits.sql`, `08_Wait_Stats_Analysis.sql`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 Module 01 และทางไปต่อ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แผนที่ 5 ชั้น + Buffer Pool 2 ที่พัก (Plan Cache / Data Cache) + จุดตัดสินใจ "มี Plan อยู่หรือไม่?"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Cooperative Scheduling quantum ~4 ms — </a:t>
            </a:r>
            <a:r>
              <a:rPr sz="1500" b="1">
                <a:latin typeface="Leelawadee UI"/>
                <a:cs typeface="Leelawadee UI"/>
              </a:rPr>
              <a:t>RUNNABLE → RUNNING → SUSPENDED</a:t>
            </a:r>
            <a:r>
              <a:rPr sz="1500" b="0">
                <a:latin typeface="Leelawadee UI"/>
                <a:cs typeface="Leelawadee UI"/>
              </a:rPr>
              <a:t> คือภาษากลางของการวินิจฉัย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อ่าน performance ระดับ NUMA node เสมอ ไม่ใช่ค่ารวม (PLE, workers)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Waits &amp; Queues: อ่านแบบ delta + กรอง benign waits + แยก Resource vs Signal (&gt;10–15% = CPU pressure)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2025: ถอด lightweight pooling / Hot Add CPU / Profiler / สูตร PLE 300 — ใส่ query_plan_stats / performance reader role / baseline Glenn Berry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ถัดไป: Module 02 — I/O Subsystem (เดิน Storage engine layer ต่อ)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