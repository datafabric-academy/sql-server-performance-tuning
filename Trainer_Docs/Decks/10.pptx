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เปิดโมดูลด้วยประโยคจาก README ของโมดูล — Monitoring และ Baselining เป็นขั้นพื้นฐานสำคัญที่สุดของการบริหารประสิทธิภาพ ผู้ดูแลระบบที่ไม่มี Baseline จะระบุไม่ได้ว่าอะไร "ผิดปกติ" `Ref: Module_10_Monitoring_Tracing/README.md:1`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พิมพ์งบเวลา (นาที) และจำนวน Exercise ให้ผู้สอนและผู้เรียนเห็นก่อนเริ่มตาม Slide Spec 4.2 — เวลาจริงจากการทดสอบผู้เรียนเฟส 4 ต้องเทียบกับงบนี้ `Ref: Trainer_Docs/Course_Guide_4Days.md:113,115` · `Module_10_Monitoring_Tracing/Labs/README.md:6-21` · `Module_10_Monitoring_Tracing/README.md:3-11`</a:t>
            </a:r>
          </a:p>
          <a:p>
            <a:r>
              <a:t>จุดเพิ่มเติมที่ย่อออกจากสไลด์: ต้องมี: SQL Server 2019+ (แนะนำ **2025 17.x**) · database **AdventureWorks2025** · permission `VIEW SERVER STATE` | เป้าหมายระดับ 1–4 ของโมดูล: เข้าใจเครื่องมือ/DMVs → สร้างและอ่าน Baseline → ใช้ Performance Center เป็น Checklist → ออกแบบ Monitoring &amp; Alerting Strategy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**ต้องรู้มาก่อน:** ผู้เรียนต้องรู้ว่า DMV คืออะไรก่อน — ลิงก์ glossary กลางตามแผนเฟส 0 (ไฟล์ glossary ยังไม่มีใน repo ต้องสร้างก่อนเปิดสอน) · **ต้องเขียนเนื้อหาเพิ่ม:** S1 ยังเป็น outline 89 บรรทัด ไม่มี "ตรวจความเข้าใจ" และตารางใน README มีแถวซ้ำ (`sys.dm_db_index_physical_stats` สองจุด) ต้องแก้ตอนขยาย `Ref: Module_10_Monitoring_Tracing/Sections/01_Monitoring_Tracing/README.md:5-20`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**ต้องเขียนเนื้อหาเพิ่ม:** หัวข้อ Deep Dive นี้มีใน README แค่ ~10 บรรทัด ต้องขยายพร้อมวาดภาพก่อนประกอบเด็ค (M10 ยังไม่มี tracked PNG เลย) `Ref: Module_10_Monitoring_Tracing/Sections/01_Monitoring_Tracing/README.md:22-34`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**ต้องเขียนเนื้อหาเพิ่ม:** README มี duplicate heading `### 2.3` สองจุด (PerfMon และ Other Tools) ต้องแก้ตอนขยาย และโยงให้ชัดว่า XEvents จะลงลึกใน Module 9 `Ref: Module_10_Monitoring_Tracing/Sections/01_Monitoring_Tracing/README.md:36-57`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**ต้องรู้ก่อน:** `CROSS APPLY` = เรียก table-valued function ต่อแถวด้านซ้าย (ที่นี่ใช้ดึง text ของ query จาก `sql_handle`) — ผู้เรียนระดับ SELECT/JOIN ต้องได้คำอธิบายบรรทัดนี้ก่อนอ่านโค้ด · **ต้องเขียนเนื้อหาเพิ่ม:** ขั้นตอน demo walk-through ยังไม่มีใน section README `Ref: Module_10_Monitoring_Tracing/Sections/01_Monitoring_Tracing/Scripts/02_Monitor_Queries.sql` · `Module_10_Monitoring_Tracing/Labs/README.md:9`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**ต้องรู้มาก่อน:** wait stats จาก Module 1 — ลิงก์ glossary กลาง (ยังไม่มีไฟล์) · **ต้องเขียนเนื้อหาเพิ่ม:** S2 ยังเป็น outline 91 บรรทัด ไม่มี "ตรวจความเข้าใจ" ต้องขยายตาม DoD ก่อนเปิดเทอม `Ref: Module_10_Monitoring_Tracing/Sections/02_Baselining_Benchmarking/README.md:5-12`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**ต้องเขียนเนื้อหาเพิ่ม** + พบ inconsistency ใน repo ที่ต้อง align ก่อนขึ้นสไลด์: S1 README:40 บอก disk latency "10–15ms" แต่ S2 README:38 และ FAQ ของโมดูลบอก 20ms · threshold เหล่านี้ห้ามใช้ layout `07 Stat Callout` จนกว่าจะผ่าน sign-off รันจริงบน 17.x `Ref: Module_10_Monitoring_Tracing/Sections/02_Baselining_Benchmarking/README.md:18-52` · `Sections/01_Monitoring_Tracing/Scripts/06_Key_PerfMon_Counters.txt` · `Module_10_Monitoring_Tracing/README.md:46-48,61-68`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**ต้องเขียนเนื้อหาเพิ่ม:** หัวข้อ alerting และเครื่องมือภายนอกมีอยู่แค่ bullet สั้น ๆ ใน module README (Skill Progression ระดับ 4 + Alerting Threshold) และในตาราง Day 4 ของ Guide ต้องขยายใน section ก่อนสอน `Ref: Module_10_Monitoring_Tracing/Sections/02_Baselining_Benchmarking/README.md:14-16,54-56` · `Module_10_Monitoring_Tracing/README.md:10-11,70-72` · `Trainer_Docs/Course_Guide_4Days.md:113`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**ต้องรู้ก่อน:** `INSERT … SELECT TOP (20) … ORDER BY wait_time_ms DESC` = เก็บเฉพาะ Top waits ต่อรอบ snapshot · **ต้องเขียนเนื้อหาเพิ่ม** + **คำเตือนการผลิต:** `03_Baseline_Collection.sql` comment ภาษาไทยเพี้ยน (ตรวจด้วย `file` แล้วเป็น double-encoded UTF-8 ไม่ใช่ UTF-8 ปกติ) — ต้องแก้ encoding ก่อนใช้สอน `Ref: Module_10_Monitoring_Tracing/Sections/02_Baselining_Benchmarking/Scripts/03_Baseline_Collection.sql` · `Scripts/01_Workload_Noise.sql` · `Sections/01_Monitoring_Tracing/Scripts/05_Wait_Stats_Baseline.sql`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**ต้องรู้ก่อน (มติ #9):** Ex2 ใช้ **CTE** (`WITH FirstSnap AS (…)` = ชุดผลลัพธ์ตั้งชื่อชั่วคราวสำหรับ query ถัดไป) และ **window function** (`ROW_NUMBER() OVER (ORDER BY …)` = จัดอันดับแถวภายในชุดผลลัพธ์) — ผู้เรียนระดับ SELECT/JOIN ต้องอ่านโค้ดออกก่อนลงมือ · **error ที่พบได้:** `VIEW SERVER STATE permission was denied` · **ต้องเขียนเนื้อหาเพิ่ม:** แล็บยังไม่มีบล็อก `**Expected:**` ต่อ Exercise (ตรวจ `grep -c "Expected"` = 0) และไม่มีบล็อก "ต้องรู้ก่อน" — ต้อง normalize ตาม DoD ก่อนถือว่าแล็บพร้อม `Ref: Module_10_Monitoring_Tracing/Labs/README.md` (Exercise 2 delta query ที่ :135-149, คำถามท้ายแล็บ :201-205)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**ต้องเขียน quiz bank เพิ่ม:** quiz bank รายโมดูลยังไม่มี (0 ไฟล์ทั้งหลักสูตร) — คำถาม 3 ข้อนี้ดึงชั่วคราวจาก FAQ ของ module README ต้องสร้าง quiz bank M10 ก่อนขึ้นเด็คจริง `Ref: Module_10_Monitoring_Tracing/README.md:35-48` · `Module_10_Monitoring_Tracing/Labs/README.md:207-215`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1 Cover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880A5-8FAB-9913-1EFC-8D73DF516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057399"/>
            <a:ext cx="11183112" cy="1737360"/>
          </a:xfrm>
        </p:spPr>
        <p:txBody>
          <a:bodyPr/>
          <a:lstStyle>
            <a:lvl1pPr>
              <a:defRPr sz="40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gline">
            <a:extLst>
              <a:ext uri="{FF2B5EF4-FFF2-40B4-BE49-F238E27FC236}">
                <a16:creationId xmlns:a16="http://schemas.microsoft.com/office/drawing/2014/main" id="{921E5C1F-D102-2273-4815-E78BE19D97B3}"/>
              </a:ext>
            </a:extLst>
          </p:cNvPr>
          <p:cNvSpPr txBox="1"/>
          <p:nvPr userDrawn="1"/>
        </p:nvSpPr>
        <p:spPr>
          <a:xfrm>
            <a:off x="502920" y="1371600"/>
            <a:ext cx="10515600" cy="2693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8B8BA6"/>
                </a:solidFill>
                <a:latin typeface="Leelawadee UI" panose="020B0502040204020203" pitchFamily="34" charset="-34"/>
              </a:rPr>
              <a:t>WORLDWIDE LEADER IN PEOPLE, TECHNOLOGY AND BUSINESS TRAINING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2475ED5-2732-1ADD-A07D-4747CCB8FA0D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02920" y="3977640"/>
            <a:ext cx="11183112" cy="1097280"/>
          </a:xfrm>
        </p:spPr>
        <p:txBody>
          <a:bodyPr/>
          <a:lstStyle>
            <a:lvl1pPr marL="0" indent="0" algn="ctr">
              <a:buNone/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B0ECF00A-C239-A338-1330-D88658C633D7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E2D2BF88-38BF-9016-9ECD-6B5B2CDEC683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CFB404D7-FB5A-06B4-AF03-AC30A862FADE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611173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2 Module Divider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C5AF3-C270-3F8C-6402-3028D2FF3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4224528"/>
            <a:ext cx="11183112" cy="1051560"/>
          </a:xfrm>
        </p:spPr>
        <p:txBody>
          <a:bodyPr/>
          <a:lstStyle>
            <a:lvl1pPr>
              <a:defRPr sz="37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igNumber">
            <a:extLst>
              <a:ext uri="{FF2B5EF4-FFF2-40B4-BE49-F238E27FC236}">
                <a16:creationId xmlns:a16="http://schemas.microsoft.com/office/drawing/2014/main" id="{71608DF8-9323-8675-3E0F-69F575DBF6AD}"/>
              </a:ext>
            </a:extLst>
          </p:cNvPr>
          <p:cNvSpPr txBox="1"/>
          <p:nvPr userDrawn="1"/>
        </p:nvSpPr>
        <p:spPr>
          <a:xfrm>
            <a:off x="429768" y="1554480"/>
            <a:ext cx="4023360" cy="206210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800" b="1">
                <a:solidFill>
                  <a:srgbClr val="FFFFFF"/>
                </a:solidFill>
                <a:latin typeface="Leelawadee UI" panose="020B0502040204020203" pitchFamily="34" charset="-34"/>
              </a:rPr>
              <a:t>01</a:t>
            </a:r>
          </a:p>
        </p:txBody>
      </p:sp>
      <p:sp>
        <p:nvSpPr>
          <p:cNvPr id="7" name="ModuleKicker">
            <a:extLst>
              <a:ext uri="{FF2B5EF4-FFF2-40B4-BE49-F238E27FC236}">
                <a16:creationId xmlns:a16="http://schemas.microsoft.com/office/drawing/2014/main" id="{8F80D9DC-8352-308C-6D4C-1CF5C32E555E}"/>
              </a:ext>
            </a:extLst>
          </p:cNvPr>
          <p:cNvSpPr txBox="1"/>
          <p:nvPr userDrawn="1"/>
        </p:nvSpPr>
        <p:spPr>
          <a:xfrm>
            <a:off x="502920" y="3886200"/>
            <a:ext cx="2743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E94B22"/>
                </a:solidFill>
                <a:latin typeface="Leelawadee UI" panose="020B0502040204020203" pitchFamily="34" charset="-34"/>
              </a:rPr>
              <a:t>MODULE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051971E-2430-31F9-624F-3013E02F640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5285232"/>
            <a:ext cx="11183112" cy="822960"/>
          </a:xfrm>
        </p:spPr>
        <p:txBody>
          <a:bodyPr/>
          <a:lstStyle>
            <a:lvl1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1pPr>
            <a:lvl2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2pPr>
            <a:lvl3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3pPr>
            <a:lvl4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4pPr>
            <a:lvl5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BrandSquare">
            <a:extLst>
              <a:ext uri="{FF2B5EF4-FFF2-40B4-BE49-F238E27FC236}">
                <a16:creationId xmlns:a16="http://schemas.microsoft.com/office/drawing/2014/main" id="{ED7860CE-8BCD-1EDB-80A7-006E4B04889C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BrandWordmark">
            <a:extLst>
              <a:ext uri="{FF2B5EF4-FFF2-40B4-BE49-F238E27FC236}">
                <a16:creationId xmlns:a16="http://schemas.microsoft.com/office/drawing/2014/main" id="{3F9BBCD2-610E-34F6-3EBA-417303A22F28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1" name="CourseFooter">
            <a:extLst>
              <a:ext uri="{FF2B5EF4-FFF2-40B4-BE49-F238E27FC236}">
                <a16:creationId xmlns:a16="http://schemas.microsoft.com/office/drawing/2014/main" id="{40298D1F-3D43-7E33-7DFB-202AFD609081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06097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3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8DF1E-9EFA-03E1-C45C-33A7D1558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ECB77B-9789-F88B-5FEC-DD86D6BF931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783080"/>
            <a:ext cx="11183112" cy="4480560"/>
          </a:xfrm>
        </p:spPr>
        <p:txBody>
          <a:bodyPr/>
          <a:lstStyle>
            <a:lvl1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7B531DF2-DA55-6E36-DA85-4CEA1D496EF3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A7E44A4D-806B-DAD0-C11E-641D31AF7361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DBD347E7-97DE-14C3-9402-1B2A0FE14DDD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884435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4 Two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C824-D6B1-84AD-4D02-58A5DD72F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BEC6DA-F0D6-6C13-8252-DD3CD328DB6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783080"/>
            <a:ext cx="5394960" cy="4480560"/>
          </a:xfrm>
        </p:spPr>
        <p:txBody>
          <a:bodyPr/>
          <a:lstStyle>
            <a:lvl1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DE1CFEC-65E5-AE40-94E3-B098BDF3E0E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291072" y="1783080"/>
            <a:ext cx="5394960" cy="4480560"/>
          </a:xfrm>
        </p:spPr>
        <p:txBody>
          <a:bodyPr/>
          <a:lstStyle>
            <a:lvl1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005A685D-F87A-7E95-5666-A850472BAE07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B385C038-2509-71B7-275D-6D27512D77B0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069261BB-B597-5A1A-4F02-1068C401FA80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422564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5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43770-572F-A7EB-FE61-BD74A91E8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89EA8A-5F10-57E6-E9D1-990BB462C9E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02920" y="1783080"/>
            <a:ext cx="11183112" cy="4297680"/>
          </a:xfrm>
        </p:spPr>
        <p:txBody>
          <a:bodyPr/>
          <a:lstStyle>
            <a:lvl1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BrandSquare">
            <a:extLst>
              <a:ext uri="{FF2B5EF4-FFF2-40B4-BE49-F238E27FC236}">
                <a16:creationId xmlns:a16="http://schemas.microsoft.com/office/drawing/2014/main" id="{F9262207-DA50-353B-D5E5-7DBAAC39C99B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randWordmark">
            <a:extLst>
              <a:ext uri="{FF2B5EF4-FFF2-40B4-BE49-F238E27FC236}">
                <a16:creationId xmlns:a16="http://schemas.microsoft.com/office/drawing/2014/main" id="{089EA7E6-55F0-111D-3F96-E39555A4CBEC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9" name="CourseFooter">
            <a:extLst>
              <a:ext uri="{FF2B5EF4-FFF2-40B4-BE49-F238E27FC236}">
                <a16:creationId xmlns:a16="http://schemas.microsoft.com/office/drawing/2014/main" id="{A7FE3C47-2373-D3EF-4A93-77C5F285234B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991239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6 Code La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D4DDD-212C-1D63-C399-269518A8C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Panel">
            <a:extLst>
              <a:ext uri="{FF2B5EF4-FFF2-40B4-BE49-F238E27FC236}">
                <a16:creationId xmlns:a16="http://schemas.microsoft.com/office/drawing/2014/main" id="{776273E8-AD3A-1C34-49C3-DC754F8B4655}"/>
              </a:ext>
            </a:extLst>
          </p:cNvPr>
          <p:cNvSpPr/>
          <p:nvPr userDrawn="1"/>
        </p:nvSpPr>
        <p:spPr>
          <a:xfrm>
            <a:off x="502920" y="1737360"/>
            <a:ext cx="11183112" cy="4572000"/>
          </a:xfrm>
          <a:prstGeom prst="roundRect">
            <a:avLst>
              <a:gd name="adj" fmla="val 6000"/>
            </a:avLst>
          </a:prstGeom>
          <a:solidFill>
            <a:srgbClr val="0D0D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F13386-576F-633E-9642-6069CF9B0B7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31520" y="1920240"/>
            <a:ext cx="10725912" cy="4206240"/>
          </a:xfrm>
        </p:spPr>
        <p:txBody>
          <a:bodyPr/>
          <a:lstStyle>
            <a:lvl1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1pPr>
            <a:lvl2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2pPr>
            <a:lvl3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3pPr>
            <a:lvl4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4pPr>
            <a:lvl5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6A364C23-0200-75DB-E887-D53D0760CA30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CD123CE5-BCD9-C048-2463-15511C29B60E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E3B40D2F-B569-5E54-9C13-6B620A39821D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689040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7 Stat Call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9D54F-7887-8A44-868B-EEAD8D5CD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889D7C-256D-B603-21F0-014984F2AE8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920240"/>
            <a:ext cx="5120640" cy="2468880"/>
          </a:xfrm>
        </p:spPr>
        <p:txBody>
          <a:bodyPr/>
          <a:lstStyle>
            <a:lvl1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1pPr>
            <a:lvl2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2pPr>
            <a:lvl3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3pPr>
            <a:lvl4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4pPr>
            <a:lvl5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D303795-F2F2-BD1B-F013-A7BEDC9C21EE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035040" y="1920240"/>
            <a:ext cx="5650992" cy="2468880"/>
          </a:xfrm>
        </p:spPr>
        <p:txBody>
          <a:bodyPr/>
          <a:lstStyle>
            <a:lvl1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1pPr>
            <a:lvl2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2pPr>
            <a:lvl3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3pPr>
            <a:lvl4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4pPr>
            <a:lvl5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05734C6E-DFF0-3B57-818C-69E93EBBA4D9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ED34F2E4-2EFC-35B4-335A-C6685CE81AF6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CE22CBFE-B40D-9D03-2AFC-7142E4A4B59C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980950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8 Closing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644D5-82AF-1F6F-6D81-485651FB1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743200"/>
            <a:ext cx="11183112" cy="1188720"/>
          </a:xfrm>
        </p:spPr>
        <p:txBody>
          <a:bodyPr/>
          <a:lstStyle>
            <a:lvl1pPr>
              <a:defRPr sz="60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357F960-21B7-7ABA-5A32-74E0A78A622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4114800"/>
            <a:ext cx="11183112" cy="822960"/>
          </a:xfrm>
        </p:spPr>
        <p:txBody>
          <a:bodyPr/>
          <a:lstStyle>
            <a:lvl1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1pPr>
            <a:lvl2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2pPr>
            <a:lvl3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3pPr>
            <a:lvl4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4pPr>
            <a:lvl5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BrandSquare">
            <a:extLst>
              <a:ext uri="{FF2B5EF4-FFF2-40B4-BE49-F238E27FC236}">
                <a16:creationId xmlns:a16="http://schemas.microsoft.com/office/drawing/2014/main" id="{FA49E17A-5A87-1B78-588F-DCEB268137FF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randWordmark">
            <a:extLst>
              <a:ext uri="{FF2B5EF4-FFF2-40B4-BE49-F238E27FC236}">
                <a16:creationId xmlns:a16="http://schemas.microsoft.com/office/drawing/2014/main" id="{35DBE03E-E4F0-39D7-F041-68477893B78C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9" name="CourseFooter">
            <a:extLst>
              <a:ext uri="{FF2B5EF4-FFF2-40B4-BE49-F238E27FC236}">
                <a16:creationId xmlns:a16="http://schemas.microsoft.com/office/drawing/2014/main" id="{AE7B03E4-B170-4E44-4131-4D61229F43B8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1715879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DAD681-7824-3500-2A23-3D98C1DF7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E8B42-9A59-95CD-9743-7DA33FD96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C859E-9E75-8253-5703-D8A8697D04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50564-7AFF-45C3-A26A-84A3050240D6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66B3B-860E-E2B1-C023-0B0E80CBDC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E3BBA-287C-4617-EE72-89683A6B7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58F649-BB84-456D-AE44-E4FB38E42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886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Module 10: Monitoring &amp; Tracing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latin typeface="Leelawadee UI"/>
                <a:cs typeface="Leelawadee UI"/>
              </a:rPr>
              <a:t>Module 10: Monitoring &amp; Tracing</a:t>
            </a:r>
            <a:r>
              <a:rPr sz="1600" b="0">
                <a:latin typeface="Leelawadee UI"/>
                <a:cs typeface="Leelawadee UI"/>
              </a:rPr>
              <a:t> — เฝ้าระวังประสิทธิภาพ (Monitoring) และสร้าง Performance Baseline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หลักสูตร SQL Server Performance Tuning — Day 4 (Monitoring, Tuning Strategy &amp; Troubleshooting)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คำโปรย: "ไม่มี Baseline ที่ดี = บอกไม่ได้ว่าพฤติกรรมปัจจุบันของระบบ 'ผิดปกติ' หรือไม่"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Monitoring &amp; Baselines (งบเวลา + Exercise)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1">
                <a:latin typeface="Leelawadee UI"/>
                <a:cs typeface="Leelawadee UI"/>
              </a:rPr>
              <a:t>งบเวลาโมดูล: 150 นาที</a:t>
            </a:r>
            <a:r>
              <a:rPr sz="1500" b="0">
                <a:latin typeface="Leelawadee UI"/>
                <a:cs typeface="Leelawadee UI"/>
              </a:rPr>
              <a:t> — บรรยาย 90 นาที (10:30–12:00) + LAB 10 60 นาที (13:00–14:00) · </a:t>
            </a:r>
            <a:r>
              <a:rPr sz="1500" b="1">
                <a:latin typeface="Leelawadee UI"/>
                <a:cs typeface="Leelawadee UI"/>
              </a:rPr>
              <a:t>2 Sections:</a:t>
            </a:r>
            <a:r>
              <a:rPr sz="1500" b="0">
                <a:latin typeface="Leelawadee UI"/>
                <a:cs typeface="Leelawadee UI"/>
              </a:rPr>
              <a:t> 1) Monitoring &amp; Tracing 2) Baselining &amp; Benchmarking</a:t>
            </a:r>
          </a:p>
          <a:p>
            <a:pPr marL="0" indent="0">
              <a:spcAft>
                <a:spcPts val="400"/>
              </a:spcAft>
              <a:buNone/>
            </a:pPr>
            <a:r>
              <a:rPr sz="1500" b="1">
                <a:latin typeface="Leelawadee UI"/>
                <a:cs typeface="Leelawadee UI"/>
              </a:rPr>
              <a:t>แล็บ 3 Exercise:</a:t>
            </a:r>
            <a:r>
              <a:rPr sz="1500" b="0">
                <a:latin typeface="Leelawadee UI"/>
                <a:cs typeface="Leelawadee UI"/>
              </a:rPr>
              <a:t> สร้างโครงสร้าง Baseline → จำลอง Workload แล้วอ่าน Delta → Daily Health Check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DMOs — Snapshot vs Cumulative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DMOs (Dynamic Management Objects)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= System Views/Functions ที่ให้สถานะ Real-time ว่า "ตอนนี้เกิดอะไรขึ้นใน Engine"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Snapshot DMVs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สถานะปัจจุบัน: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sys.dm_exec_requests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(active query + wait status + blocking)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Cumulative DMVs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สะสมตั้งแต่ restart: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sys.dm_os_wait_stats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(reset ด้วย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DBCC SQLPERF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) ·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sys.dm_io_virtual_file_stats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(I/O latency ต่อไฟล์)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On-demand: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sys.dm_db_index_physical_stats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(Index Fragmentation)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ค่า Cumulative ต้อง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เก็บ Delta เทียบ snapshot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จึงบอกได้ว่า "ตอนนี้" มีปัญหาอะไร — ค่าสะสมดิบไม่ใช้ตัดสิน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Monitoring Architecture — ข้อมูลถูกเก็บจากไหน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SQLOS DMV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(เช่น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sys.dm_os_schedulers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) — อ่านตรงจาก Memory Structure ของ SQL Server (User Mode, เร็วมาก)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Kernel DMV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(เช่น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sys.dm_io_virtual_file_stats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) — ต้องขอข้อมูลจาก Windows (Context Switch → Kernel Mode → มี overhead เล็กน้อยถ้าเรียกถี่เกิน)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PerfMon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— SQL เขียนค่า counter ลง </a:t>
            </a: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Shared Memory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ของ Windows เป็นระยะ → PerfMon อ่านจาก memory ไม่กวน Engine (Low Overhead)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Ring Buffers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— "กล่องดำ" ใน memory บันทึกเหตุการณ์สำคัญแบบวนทับ (Error, Memory Broker, Scheduler Monitor) — ดูย้อนหลังได้แม้ไม่เปิด trace แต่ข้อมูลหายเร็วถ้า Event หนาแน่น</a:t>
            </a:r>
          </a:p>
        </p:txBody>
      </p:sp>
      <p:pic>
        <p:nvPicPr>
          <p:cNvPr id="4" name="Picture 3" descr="monitoring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เครื่องมือ Monitoring — Legacy vs Modern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ซ้าย (Legacy):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SQL Profiler / Trace — สถานะ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Deprecated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, overhead สูง ไม่แนะนำบน Production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ขวา (Modern):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Activity Monitor และ Performance Dashboard (SSMS → Reports → Standard Reports) — ภาพรวมเบื้องต้นก่อนลงลึก DMVs/XEvents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ซ้าย (Legacy):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The Default Trace — ทำงานเบื้องหลัง (Schema Changes, Errors, Auto-grow Events)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ขวา (Modern):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Extended Events (XEvents) — Low Overhead / High Flexibility, เครื่องมือ Tracing หลัก (เจาะลึกใน Module 9)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วิเคราะห์ต่อ: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DTA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(Database Engine Tuning Advisor — แนะนำ index จาก workload) +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Distributed Replay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(จำลอง workload จากหลาย client ก่อน Upgrade)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Mini-WhoIsActive: ดู Active Queries สด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รัน </a:t>
            </a:r>
            <a:r>
              <a:rPr sz="1500" b="0">
                <a:latin typeface="Consolas"/>
                <a:cs typeface="Consolas"/>
              </a:rPr>
              <a:t>02_Monitor_Queries.sql</a:t>
            </a:r>
            <a:r>
              <a:rPr sz="1500" b="0">
                <a:latin typeface="Leelawadee UI"/>
                <a:cs typeface="Leelawadee UI"/>
              </a:rPr>
              <a:t> — </a:t>
            </a:r>
            <a:r>
              <a:rPr sz="1500" b="0">
                <a:latin typeface="Consolas"/>
                <a:cs typeface="Consolas"/>
              </a:rPr>
              <a:t>sys.dm_exec_requests</a:t>
            </a:r>
            <a:r>
              <a:rPr sz="1500" b="0">
                <a:latin typeface="Leelawadee UI"/>
                <a:cs typeface="Leelawadee UI"/>
              </a:rPr>
              <a:t> JOIN </a:t>
            </a:r>
            <a:r>
              <a:rPr sz="1500" b="0">
                <a:latin typeface="Consolas"/>
                <a:cs typeface="Consolas"/>
              </a:rPr>
              <a:t>sys.dm_exec_sessions</a:t>
            </a:r>
            <a:r>
              <a:rPr sz="1500" b="0">
                <a:latin typeface="Leelawadee UI"/>
                <a:cs typeface="Leelawadee UI"/>
              </a:rPr>
              <a:t> + </a:t>
            </a:r>
            <a:r>
              <a:rPr sz="1500" b="1">
                <a:latin typeface="Leelawadee UI"/>
                <a:cs typeface="Leelawadee UI"/>
              </a:rPr>
              <a:t>CROSS APPLY</a:t>
            </a:r>
            <a:r>
              <a:rPr sz="1500" b="0">
                <a:latin typeface="Leelawadee UI"/>
                <a:cs typeface="Leelawadee UI"/>
              </a:rPr>
              <a:t> </a:t>
            </a:r>
            <a:r>
              <a:rPr sz="1500" b="0">
                <a:latin typeface="Consolas"/>
                <a:cs typeface="Consolas"/>
              </a:rPr>
              <a:t>sys.dm_exec_sql_text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เห็นต่อ query ที่กำลังรัน: status, </a:t>
            </a:r>
            <a:r>
              <a:rPr sz="1500" b="0">
                <a:latin typeface="Consolas"/>
                <a:cs typeface="Consolas"/>
              </a:rPr>
              <a:t>cpu_time</a:t>
            </a:r>
            <a:r>
              <a:rPr sz="1500" b="0">
                <a:latin typeface="Leelawadee UI"/>
                <a:cs typeface="Leelawadee UI"/>
              </a:rPr>
              <a:t>, </a:t>
            </a:r>
            <a:r>
              <a:rPr sz="1500" b="0">
                <a:latin typeface="Consolas"/>
                <a:cs typeface="Consolas"/>
              </a:rPr>
              <a:t>wait_type</a:t>
            </a:r>
            <a:r>
              <a:rPr sz="1500" b="0">
                <a:latin typeface="Leelawadee UI"/>
                <a:cs typeface="Leelawadee UI"/>
              </a:rPr>
              <a:t>, </a:t>
            </a:r>
            <a:r>
              <a:rPr sz="1500" b="0">
                <a:latin typeface="Consolas"/>
                <a:cs typeface="Consolas"/>
              </a:rPr>
              <a:t>blocking_session_id</a:t>
            </a:r>
            <a:r>
              <a:rPr sz="1500" b="0">
                <a:latin typeface="Leelawadee UI"/>
                <a:cs typeface="Leelawadee UI"/>
              </a:rPr>
              <a:t>, statement text — เรียงตาม CPU (กรองเฉพาะ user process)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ใช้เป็น "Mini-WhoIsActive" ทุกครั้งที่มีคนแจ้งว่า "เครื่องช้า" — ตอบได้ทันทีว่าตอนนี้มีอะไรรันอยู่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error ที่พบได้:</a:t>
            </a:r>
            <a:r>
              <a:rPr sz="1500" b="0">
                <a:latin typeface="Leelawadee UI"/>
                <a:cs typeface="Leelawadee UI"/>
              </a:rPr>
              <a:t> </a:t>
            </a:r>
            <a:r>
              <a:rPr sz="1500" b="0">
                <a:latin typeface="Consolas"/>
                <a:cs typeface="Consolas"/>
              </a:rPr>
              <a:t>The VIEW SERVER STATE permission was denied on object 'server'</a:t>
            </a:r>
            <a:r>
              <a:rPr sz="1500" b="0">
                <a:latin typeface="Leelawadee UI"/>
                <a:cs typeface="Leelawadee UI"/>
              </a:rPr>
              <a:t> → ใช้บทบาท </a:t>
            </a:r>
            <a:r>
              <a:rPr sz="1500" b="0">
                <a:latin typeface="Consolas"/>
                <a:cs typeface="Consolas"/>
              </a:rPr>
              <a:t>##MS_ServerPerformanceStateReader##</a:t>
            </a:r>
            <a:r>
              <a:rPr sz="1500" b="0">
                <a:latin typeface="Leelawadee UI"/>
                <a:cs typeface="Leelawadee UI"/>
              </a:rPr>
              <a:t> (SQL Server 2022+) แทนการให้ sysadmin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รุ่นขั้นต่ำ:</a:t>
            </a:r>
            <a:r>
              <a:rPr sz="1500" b="0">
                <a:latin typeface="Leelawadee UI"/>
                <a:cs typeface="Leelawadee UI"/>
              </a:rPr>
              <a:t> SQL Server 2019+ — หมายเหตุ: ไฟล์ .sql ทั้ง repo ยังไม่มี header </a:t>
            </a:r>
            <a:r>
              <a:rPr sz="1500" b="0">
                <a:latin typeface="Consolas"/>
                <a:cs typeface="Consolas"/>
              </a:rPr>
              <a:t>MinVersion:</a:t>
            </a:r>
            <a:r>
              <a:rPr sz="1500" b="0">
                <a:latin typeface="Leelawadee UI"/>
                <a:cs typeface="Leelawadee UI"/>
              </a:rPr>
              <a:t> (0/69) ต้องเติมตามเฟส 0 ก่อนขึ้นเด็คจริง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Baseline vs Benchmark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Baseline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= สถานะปกติของระบบตามช่วงเวลา (Peak/Off-peak) — ใช้เทียบเพื่อ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Anomaly Detection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Frequency: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PerfMon ทุก 15–60 วินาที · DMV snapshot ทุก 5–15 นาที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Retention: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3–6 เดือน เพื่อดูแนวโน้มการเติบโต (Capacity Planning)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Benchmark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= เป้าหมายหรือขีดจำกัดที่กำหนดไว้ (Performance Goal) พิสูจน์ผ่าน Stress Test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Metrics ที่เก็บ: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Key Resources (CPU / Memory / Disk) + SQL Statistics (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Batch Requests/sec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) + Database Size +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Wait Statistics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PerfMon Counters &amp; Thresholds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CPU: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% Processor Time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&lt; 80% (ค่าเฉลี่ย) ·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Processor Queue Length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&lt; 2 ต่อ core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Memory: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Available MBytes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&gt; 500MB ·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Page Life Expectancy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อย่าตัดสินที่ 300s เดิม ให้ดู trend ต่อ NUMA node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Disk: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Avg. Disk sec/Read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&lt; 20 ms (log file ควร &lt; 5 ms) ·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Current Disk Queue Length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&lt; 2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SQL Server: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Batch Requests/sec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(workload indicator) ·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SQL Compilations/sec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&lt; 100 ·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Re-Compilations/sec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&lt; 10 ·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Lock Waits/sec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&lt; 1 ·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Full Scans/sec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เทียบ Baseline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รายชื่อ 12 counters หลักที่เก็บจริงอยู่ใน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06_Key_PerfMon_Counters.txt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Threshold เหล่านี้คือ "ค่าเริ่มต้นที่แนะนำ" — ต้องชูกับ Baseline ของเครื่องตัวเองเสมอ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เก็บ Baseline อย่างไร + Alerting Strategy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PerfMon: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สร้าง *Data Collector Sets* บันทึก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.blg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อัตโนมัติ แล้ววิเคราะห์ด้วย PAL (Performance Analysis of Logs)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DMVs: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Scheduled Job (SQL Agent) เก็บ snapshot ของ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sys.dm_os_wait_stats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แล้วคำนวณ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Delta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เพื่อวิเคราะห์ Wait Profile ต่อช่วงเวลา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Load &amp; Stress Testing: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Diskspd (วัด Max IOPS/Throughput ของ storage) · Distributed Replay (replay trace หลาย client — ใกล้เคียงจริงกว่า Profiler Replay)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Alerting threshold เริ่มต้น: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CPU &gt; 80% นาน &gt; 15 นาที ·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SIGNAL_WAIT%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&gt; 10% ต่อเนื่อง · log file latency &gt; 5 ms · tempdb growth &gt; 80% · Query Store regressed query ใหม่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ผูกเครื่องมือภายนอก: SCOM / Azure Monitor / Grafana-Prometheus + SQL Agent Alerts + Database Mail (+ dbatools สำหรับ automation)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Persistent Baseline (Wait Stats History)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รัน </a:t>
            </a:r>
            <a:r>
              <a:rPr sz="1500" b="0">
                <a:latin typeface="Consolas"/>
                <a:cs typeface="Consolas"/>
              </a:rPr>
              <a:t>03_Baseline_Collection.sql</a:t>
            </a:r>
            <a:r>
              <a:rPr sz="1500" b="0">
                <a:latin typeface="Leelawadee UI"/>
                <a:cs typeface="Leelawadee UI"/>
              </a:rPr>
              <a:t>: สร้างตาราง </a:t>
            </a:r>
            <a:r>
              <a:rPr sz="1500" b="0">
                <a:latin typeface="Consolas"/>
                <a:cs typeface="Consolas"/>
              </a:rPr>
              <a:t>dbo.WaitStats_History</a:t>
            </a:r>
            <a:r>
              <a:rPr sz="1500" b="0">
                <a:latin typeface="Leelawadee UI"/>
                <a:cs typeface="Leelawadee UI"/>
              </a:rPr>
              <a:t> + proc </a:t>
            </a:r>
            <a:r>
              <a:rPr sz="1500" b="0">
                <a:latin typeface="Consolas"/>
                <a:cs typeface="Consolas"/>
              </a:rPr>
              <a:t>usp_CaptureWaitStats</a:t>
            </a:r>
            <a:r>
              <a:rPr sz="1500" b="0">
                <a:latin typeface="Leelawadee UI"/>
                <a:cs typeface="Leelawadee UI"/>
              </a:rPr>
              <a:t> เก็บ TOP 20 waits ลง Table (กรอง </a:t>
            </a:r>
            <a:r>
              <a:rPr sz="1500" b="0">
                <a:latin typeface="Consolas"/>
                <a:cs typeface="Consolas"/>
              </a:rPr>
              <a:t>%SLEEP%</a:t>
            </a:r>
            <a:r>
              <a:rPr sz="1500" b="0">
                <a:latin typeface="Leelawadee UI"/>
                <a:cs typeface="Leelawadee UI"/>
              </a:rPr>
              <a:t> / </a:t>
            </a:r>
            <a:r>
              <a:rPr sz="1500" b="0">
                <a:latin typeface="Consolas"/>
                <a:cs typeface="Consolas"/>
              </a:rPr>
              <a:t>%QUEUE%</a:t>
            </a:r>
            <a:r>
              <a:rPr sz="1500" b="0">
                <a:latin typeface="Leelawadee UI"/>
                <a:cs typeface="Leelawadee UI"/>
              </a:rPr>
              <a:t>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รัน </a:t>
            </a:r>
            <a:r>
              <a:rPr sz="1500" b="0">
                <a:latin typeface="Consolas"/>
                <a:cs typeface="Consolas"/>
              </a:rPr>
              <a:t>01_Workload_Noise.sql</a:t>
            </a:r>
            <a:r>
              <a:rPr sz="1500" b="0">
                <a:latin typeface="Leelawadee UI"/>
                <a:cs typeface="Leelawadee UI"/>
              </a:rPr>
              <a:t> สร้าง background noise 2 นาที (random read + CPU math) แล้วเก็บ snapshot ซ้ำ — เห็น trend ต่อเวลา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เทียบกับ delta แบบ 30 วินาทีจาก </a:t>
            </a:r>
            <a:r>
              <a:rPr sz="1500" b="0">
                <a:latin typeface="Consolas"/>
                <a:cs typeface="Consolas"/>
              </a:rPr>
              <a:t>05_Wait_Stats_Baseline.sql</a:t>
            </a:r>
            <a:r>
              <a:rPr sz="1500" b="0">
                <a:latin typeface="Leelawadee UI"/>
                <a:cs typeface="Leelawadee UI"/>
              </a:rPr>
              <a:t> (กรอง benign waits </a:t>
            </a:r>
            <a:r>
              <a:rPr sz="1500" b="1">
                <a:latin typeface="Leelawadee UI"/>
                <a:cs typeface="Leelawadee UI"/>
              </a:rPr>
              <a:t>76 ตัว</a:t>
            </a:r>
            <a:r>
              <a:rPr sz="1500" b="0">
                <a:latin typeface="Leelawadee UI"/>
                <a:cs typeface="Leelawadee UI"/>
              </a:rPr>
              <a:t> แล้วแยก Resource Wait / Signal Wait)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error ที่พบได้:</a:t>
            </a:r>
            <a:r>
              <a:rPr sz="1500" b="0">
                <a:latin typeface="Leelawadee UI"/>
                <a:cs typeface="Leelawadee UI"/>
              </a:rPr>
              <a:t> </a:t>
            </a:r>
            <a:r>
              <a:rPr sz="1500" b="0">
                <a:latin typeface="Consolas"/>
                <a:cs typeface="Consolas"/>
              </a:rPr>
              <a:t>Invalid object name 'Sales.SalesOrderDetail'</a:t>
            </a:r>
            <a:r>
              <a:rPr sz="1500" b="0">
                <a:latin typeface="Leelawadee UI"/>
                <a:cs typeface="Leelawadee UI"/>
              </a:rPr>
              <a:t> = ยังไม่มี AdventureWorks2025 หรือลืม </a:t>
            </a:r>
            <a:r>
              <a:rPr sz="1500" b="0">
                <a:latin typeface="Consolas"/>
                <a:cs typeface="Consolas"/>
              </a:rPr>
              <a:t>USE</a:t>
            </a:r>
            <a:r>
              <a:rPr sz="1500" b="0">
                <a:latin typeface="Leelawadee UI"/>
                <a:cs typeface="Leelawadee UI"/>
              </a:rPr>
              <a:t> database ก่อนรัน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รุ่นขั้นต่ำ:</a:t>
            </a:r>
            <a:r>
              <a:rPr sz="1500" b="0">
                <a:latin typeface="Leelawadee UI"/>
                <a:cs typeface="Leelawadee UI"/>
              </a:rPr>
              <a:t> SQL Server 2019+ (header </a:t>
            </a:r>
            <a:r>
              <a:rPr sz="1500" b="0">
                <a:latin typeface="Consolas"/>
                <a:cs typeface="Consolas"/>
              </a:rPr>
              <a:t>MinVersion:</a:t>
            </a:r>
            <a:r>
              <a:rPr sz="1500" b="0">
                <a:latin typeface="Leelawadee UI"/>
                <a:cs typeface="Leelawadee UI"/>
              </a:rPr>
              <a:t> ยังไม่ถูกเพิ่มในไฟล์ — เติมตามเฟส 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Lab 10 — Baseline Collection &amp; Daily Health Check (3 Exercise)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Lab 10 — 3 Exercise</a:t>
            </a:r>
            <a:r>
              <a:rPr sz="1500" b="0">
                <a:latin typeface="Leelawadee UI"/>
                <a:cs typeface="Leelawadee UI"/>
              </a:rPr>
              <a:t> (แล็บที่ 10 จาก 11 แล็บ / 40 Exercise ทั้งหลักสูตร): รับช่วง server ที่ไม่มีใครรู้ "ปกติของมัน" → สร้าง Performance Baseline เก็บทุก 15 นาที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Ex1</a:t>
            </a:r>
            <a:r>
              <a:rPr sz="1500" b="0">
                <a:latin typeface="Leelawadee UI"/>
                <a:cs typeface="Leelawadee UI"/>
              </a:rPr>
              <a:t> สร้างโครงสร้าง Baseline: DB </a:t>
            </a:r>
            <a:r>
              <a:rPr sz="1500" b="0">
                <a:latin typeface="Consolas"/>
                <a:cs typeface="Consolas"/>
              </a:rPr>
              <a:t>DBA_Baseline</a:t>
            </a:r>
            <a:r>
              <a:rPr sz="1500" b="0">
                <a:latin typeface="Leelawadee UI"/>
                <a:cs typeface="Leelawadee UI"/>
              </a:rPr>
              <a:t> + ตาราง </a:t>
            </a:r>
            <a:r>
              <a:rPr sz="1500" b="0">
                <a:latin typeface="Consolas"/>
                <a:cs typeface="Consolas"/>
              </a:rPr>
              <a:t>WaitSnapshot</a:t>
            </a:r>
            <a:r>
              <a:rPr sz="1500" b="0">
                <a:latin typeface="Leelawadee UI"/>
                <a:cs typeface="Leelawadee UI"/>
              </a:rPr>
              <a:t>/</a:t>
            </a:r>
            <a:r>
              <a:rPr sz="1500" b="0">
                <a:latin typeface="Consolas"/>
                <a:cs typeface="Consolas"/>
              </a:rPr>
              <a:t>FileIOSnapshot</a:t>
            </a:r>
            <a:r>
              <a:rPr sz="1500" b="0">
                <a:latin typeface="Leelawadee UI"/>
                <a:cs typeface="Leelawadee UI"/>
              </a:rPr>
              <a:t> + proc </a:t>
            </a:r>
            <a:r>
              <a:rPr sz="1500" b="0">
                <a:latin typeface="Consolas"/>
                <a:cs typeface="Consolas"/>
              </a:rPr>
              <a:t>CaptureBaselineSnapshot</a:t>
            </a:r>
            <a:r>
              <a:rPr sz="1500" b="0">
                <a:latin typeface="Leelawadee UI"/>
                <a:cs typeface="Leelawadee UI"/>
              </a:rPr>
              <a:t> + SQL Agent Job ทุก 15 นาที (+ Database Mail/Operator เมื่อ job fail)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Ex2</a:t>
            </a:r>
            <a:r>
              <a:rPr sz="1500" b="0">
                <a:latin typeface="Leelawadee UI"/>
                <a:cs typeface="Leelawadee UI"/>
              </a:rPr>
              <a:t> จำลอง workload แล้วจับ snapshot 2 ครั้งคำนวณ Delta — อ่าน wait type: </a:t>
            </a:r>
            <a:r>
              <a:rPr sz="1500" b="0">
                <a:latin typeface="Consolas"/>
                <a:cs typeface="Consolas"/>
              </a:rPr>
              <a:t>SOS_SCHEDULER_YIELD</a:t>
            </a:r>
            <a:r>
              <a:rPr sz="1500" b="0">
                <a:latin typeface="Leelawadee UI"/>
                <a:cs typeface="Leelawadee UI"/>
              </a:rPr>
              <a:t>=CPU · </a:t>
            </a:r>
            <a:r>
              <a:rPr sz="1500" b="0">
                <a:latin typeface="Consolas"/>
                <a:cs typeface="Consolas"/>
              </a:rPr>
              <a:t>PAGEIOLATCH_*</a:t>
            </a:r>
            <a:r>
              <a:rPr sz="1500" b="0">
                <a:latin typeface="Leelawadee UI"/>
                <a:cs typeface="Leelawadee UI"/>
              </a:rPr>
              <a:t>=disk read · </a:t>
            </a:r>
            <a:r>
              <a:rPr sz="1500" b="0">
                <a:latin typeface="Consolas"/>
                <a:cs typeface="Consolas"/>
              </a:rPr>
              <a:t>WRITELOG</a:t>
            </a:r>
            <a:r>
              <a:rPr sz="1500" b="0">
                <a:latin typeface="Leelawadee UI"/>
                <a:cs typeface="Leelawadee UI"/>
              </a:rPr>
              <a:t>=log write · </a:t>
            </a:r>
            <a:r>
              <a:rPr sz="1500" b="0">
                <a:latin typeface="Consolas"/>
                <a:cs typeface="Consolas"/>
              </a:rPr>
              <a:t>LCK_M_*</a:t>
            </a:r>
            <a:r>
              <a:rPr sz="1500" b="0">
                <a:latin typeface="Leelawadee UI"/>
                <a:cs typeface="Leelawadee UI"/>
              </a:rPr>
              <a:t>=blocking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Ex3</a:t>
            </a:r>
            <a:r>
              <a:rPr sz="1500" b="0">
                <a:latin typeface="Leelawadee UI"/>
                <a:cs typeface="Leelawadee UI"/>
              </a:rPr>
              <a:t> Daily Health Check สไตล์ Glenn Berry: CPU จาก Ring Buffer, PLE/Buffer Pool, I/O latency, schedulers ที่มี runnable queue, Query Store ที่ยังปิด, last backup (+ รันชุด SQL Server 2025 Diagnostic Queries เต็ม)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Prereq:</a:t>
            </a:r>
            <a:r>
              <a:rPr sz="1500" b="0">
                <a:latin typeface="Leelawadee UI"/>
                <a:cs typeface="Leelawadee UI"/>
              </a:rPr>
              <a:t> </a:t>
            </a:r>
            <a:r>
              <a:rPr sz="1500" b="0">
                <a:latin typeface="Consolas"/>
                <a:cs typeface="Consolas"/>
              </a:rPr>
              <a:t>VIEW SERVER STATE</a:t>
            </a:r>
            <a:r>
              <a:rPr sz="1500" b="0">
                <a:latin typeface="Leelawadee UI"/>
                <a:cs typeface="Leelawadee UI"/>
              </a:rPr>
              <a:t> (แนะนำบทบาท </a:t>
            </a:r>
            <a:r>
              <a:rPr sz="1500" b="0">
                <a:latin typeface="Consolas"/>
                <a:cs typeface="Consolas"/>
              </a:rPr>
              <a:t>##MS_ServerPerformanceStateReader##</a:t>
            </a:r>
            <a:r>
              <a:rPr sz="1500" b="0">
                <a:latin typeface="Leelawadee UI"/>
                <a:cs typeface="Leelawadee UI"/>
              </a:rPr>
              <a:t>) · AdventureWorks2025 · SQL Server 2019+ (แนะนำ 2025 17.x) · Cleanup: เก็บ </a:t>
            </a:r>
            <a:r>
              <a:rPr sz="1500" b="0">
                <a:latin typeface="Consolas"/>
                <a:cs typeface="Consolas"/>
              </a:rPr>
              <a:t>DBA_Baseline</a:t>
            </a:r>
            <a:r>
              <a:rPr sz="1500" b="0">
                <a:latin typeface="Leelawadee UI"/>
                <a:cs typeface="Leelawadee UI"/>
              </a:rPr>
              <a:t> ไว้ใช้ต่อใน Lab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สรุปโมดูล + Quiz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DMOs แบ่งเป็น </a:t>
            </a:r>
            <a:r>
              <a:rPr sz="1500" b="1">
                <a:latin typeface="Leelawadee UI"/>
                <a:cs typeface="Leelawadee UI"/>
              </a:rPr>
              <a:t>Snapshot vs Cumulative</a:t>
            </a:r>
            <a:r>
              <a:rPr sz="1500" b="0">
                <a:latin typeface="Leelawadee UI"/>
                <a:cs typeface="Leelawadee UI"/>
              </a:rPr>
              <a:t> — ค่าสะสมไม่บอก "ตอนนี้" ต้องเก็บ </a:t>
            </a:r>
            <a:r>
              <a:rPr sz="1500" b="1">
                <a:latin typeface="Leelawadee UI"/>
                <a:cs typeface="Leelawadee UI"/>
              </a:rPr>
              <a:t>Delta เทียบ snapshot</a:t>
            </a:r>
            <a:r>
              <a:rPr sz="1500" b="0">
                <a:latin typeface="Leelawadee UI"/>
                <a:cs typeface="Leelawadee UI"/>
              </a:rPr>
              <a:t> เสมอ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ชุดเครื่องมือปัจจุบัน: XEvents + Query Store + Glenn Berry Diagnostic Queries + dbatools (Profiler = Deprecated)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Baseline ≠ Benchmark</a:t>
            </a:r>
            <a:r>
              <a:rPr sz="1500" b="0">
                <a:latin typeface="Leelawadee UI"/>
                <a:cs typeface="Leelawadee UI"/>
              </a:rPr>
              <a:t> — เก็บ Metrics / Frequency / Retention (3–6 เดือน) ให้ครบจึงแยก "ปกติ" กับ "ผิดปกติ" ได้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Quiz 1:</a:t>
            </a:r>
            <a:r>
              <a:rPr sz="1500" b="0">
                <a:latin typeface="Leelawadee UI"/>
                <a:cs typeface="Leelawadee UI"/>
              </a:rPr>
              <a:t> Baseline กับ Benchmark ต่างกันอย่างไร? · </a:t>
            </a:r>
            <a:r>
              <a:rPr sz="1500" b="1">
                <a:latin typeface="Leelawadee UI"/>
                <a:cs typeface="Leelawadee UI"/>
              </a:rPr>
              <a:t>Quiz 2:</a:t>
            </a:r>
            <a:r>
              <a:rPr sz="1500" b="0">
                <a:latin typeface="Leelawadee UI"/>
                <a:cs typeface="Leelawadee UI"/>
              </a:rPr>
              <a:t> DMV ตัวไหนใช้ตรวจ Active Queries? · </a:t>
            </a:r>
            <a:r>
              <a:rPr sz="1500" b="1">
                <a:latin typeface="Leelawadee UI"/>
                <a:cs typeface="Leelawadee UI"/>
              </a:rPr>
              <a:t>Quiz 3:</a:t>
            </a:r>
            <a:r>
              <a:rPr sz="1500" b="0">
                <a:latin typeface="Leelawadee UI"/>
                <a:cs typeface="Leelawadee UI"/>
              </a:rPr>
              <a:t> </a:t>
            </a:r>
            <a:r>
              <a:rPr sz="1500" b="0">
                <a:latin typeface="Consolas"/>
                <a:cs typeface="Consolas"/>
              </a:rPr>
              <a:t>Avg. Disk sec/Read</a:t>
            </a:r>
            <a:r>
              <a:rPr sz="1500" b="0">
                <a:latin typeface="Leelawadee UI"/>
                <a:cs typeface="Leelawadee UI"/>
              </a:rPr>
              <a:t> เท่าไหร่ถือเริ่มมี Bottleneck?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ต่อไป: </a:t>
            </a:r>
            <a:r>
              <a:rPr sz="1500" b="1">
                <a:latin typeface="Leelawadee UI"/>
                <a:cs typeface="Leelawadee UI"/>
              </a:rPr>
              <a:t>Module 11 Troubleshooting (capstone)</a:t>
            </a:r>
            <a:r>
              <a:rPr sz="1500" b="0">
                <a:latin typeface="Leelawadee UI"/>
                <a:cs typeface="Leelawadee UI"/>
              </a:rPr>
              <a:t> — ใช้ </a:t>
            </a:r>
            <a:r>
              <a:rPr sz="1500" b="0">
                <a:latin typeface="Consolas"/>
                <a:cs typeface="Consolas"/>
              </a:rPr>
              <a:t>DBA_Baseline</a:t>
            </a:r>
            <a:r>
              <a:rPr sz="1500" b="0">
                <a:latin typeface="Leelawadee UI"/>
                <a:cs typeface="Leelawadee UI"/>
              </a:rPr>
              <a:t> ที่สร้างไว้ในแล็บนี้ต่อ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rainocate">
      <a:dk1>
        <a:srgbClr val="1A1A1A"/>
      </a:dk1>
      <a:lt1>
        <a:sysClr val="window" lastClr="FFFFFF"/>
      </a:lt1>
      <a:dk2>
        <a:srgbClr val="000444"/>
      </a:dk2>
      <a:lt2>
        <a:srgbClr val="F7F7F7"/>
      </a:lt2>
      <a:accent1>
        <a:srgbClr val="000444"/>
      </a:accent1>
      <a:accent2>
        <a:srgbClr val="E94B22"/>
      </a:accent2>
      <a:accent3>
        <a:srgbClr val="FF3900"/>
      </a:accent3>
      <a:accent4>
        <a:srgbClr val="15155E"/>
      </a:accent4>
      <a:accent5>
        <a:srgbClr val="F5A623"/>
      </a:accent5>
      <a:accent6>
        <a:srgbClr val="6B6A6A"/>
      </a:accent6>
      <a:hlink>
        <a:srgbClr val="E94B22"/>
      </a:hlink>
      <a:folHlink>
        <a:srgbClr val="15155E"/>
      </a:folHlink>
    </a:clrScheme>
    <a:fontScheme name="Office">
      <a:majorFont>
        <a:latin typeface="Leelawadee UI" panose="02110004020202020204"/>
        <a:ea typeface=""/>
        <a:cs typeface="Leelawadee UI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eelawadee UI" panose="02110004020202020204"/>
        <a:ea typeface=""/>
        <a:cs typeface="Leelawadee UI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ocate_SQLPerfTuning_Template.potx" id="{F1E5A7CF-DD4E-4134-8E80-8723502F551E}" vid="{3993AF59-4E85-4845-8CC3-0524E32EA5E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Consolas</vt:lpstr>
      <vt:lpstr>Leelawadee UI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Phakkhaphong Krittawat</dc:creator>
  <cp:lastModifiedBy>Phakkhaphong Krittawat</cp:lastModifiedBy>
  <cp:revision>1</cp:revision>
  <dcterms:created xsi:type="dcterms:W3CDTF">2026-09-26T12:09:30Z</dcterms:created>
  <dcterms:modified xsi:type="dcterms:W3CDTF">2026-09-26T12:09:30Z</dcterms:modified>
</cp:coreProperties>
</file>