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เปิดโมดูลด้วยประเด็นว่าทุก query สุดท้ายต้องผ่าน I/O Subsystem ไม่ว่า In-Memory จะเก่งแค่ไหน — ข้อมูลยังต้องถูกเขียนลง Storage Media `Ref: Module_02_IO/README.md:1-3`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ประกาศงบเวลาและจำนวน Exercise ให้ผู้เรียนรู้ก่อนเริ่มตามข้อบังคับ Slide Spec 4.2 — เวลาจริงหลังทดสอบผู้เรียนต้องเทียบกับงบ 165 นาทีนี้ `Ref: Module_02_IO/README.md:5-13` · `Ref: Trainer_Docs/Course_Guide_4Days.md:79-80`</a:t>
            </a:r>
          </a:p>
          <a:p>
            <a:r>
              <a:t>จุดเพิ่มเติมที่ย่อออกจากสไลด์: Skill Progression ระดับ 1–4: เข้าใจ metrics → อ่านค่าจาก DMVs/PerfMon → ออกแบบ Disk/RAID → ยืนยันด้วย Benchmark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Buffer Pool และ DMV (นิยามใน Module 0 ฉบับขั้นต่ำ + glossary กลาง — ลิงก์จะใส่เมื่อเฟส 0 ปิด) — SQL Server เก็บข้อมูลใน Memory ให้มากที่สุด อ่าน Disk เมื่อจำเป็น `Ref: Module_02_IO/Sections/01_IO_Core_Concepts/README.md:7-21` ต้องเขียนเนื้อหาเพิ่ม: section นี้ยังไม่มีบล็อก ```sql ของตัวเองและไม่มี Scripts/ (ขาดตาม DoD ราย section)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ย้ำว่า Log อ่อนไหวสุดเพราะทุก commit ต้อง harden ลง log ก่อน `Ref: Module_02_IO/Sections/01_IO_Core_Concepts/README.md:17-21` ต้องเขียนเนื้อหาเพิ่ม: ตาราง latency ใน README โมดูล (`Module_02_IO/README.md:69-74`: log write &gt; 5 ms = แก้ด่วน) ขัดกับเกณฑ์เสื่อมสภาพใน S4 (`Sections/04_Monitoring_Troubleshooting_IO/README.md:8-12`: &gt; 10 ms = Degraded) — ต้อง normalize ก่อนขึ้นตัวเลขบน Stat Callout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คำถามคลาสสิกที่ออกสอบคือ "ทำไม RAID 5 ไม่เหมาะกับเขียนหนัก" — ตอบด้วย Write Penalty 4x จากตาราง `Ref: Module_02_IO/Sections/01_IO_Core_Concepts/README.md:22-43`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เชื่อมกับ M1: thread ที่รอ I/O จะปรากฏเป็น wait type ฝั่ง I/O ซึ่งจะลงลึกในสไลด์ 15 `Ref: Module_02_IO/Sections/01_IO_Core_Concepts/README.md:53-69` · `Ref: Module_02_IO/README.md:66`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ศัพท์ Storage พื้นฐาน (LUN, Fiber Channel, iSCSI) — ดู glossary กลางเมื่อเฟส 0 ปิด `Ref: Module_02_IO/Sections/02_Storage_Solutions/README.md:5-14` ต้องเขียนเนื้อหาเพิ่ม: README ของ section นี้ยาวเพียง 20 บรรทัด (สั้นสุดของหลักสูตร ตรวจ `wc -l`) ไม่มีบล็อก ```sql และไม่มี Scripts/ — ต้องขยายตาม DoD หมายเหตุการแก้ (technical review): bullet เดิมเคยระบุ "Backup/Restore หรือวาง Data File บน Object Storage ผ่าน S3 API" เกินความจริง — S3-compatible object storage ใน SQL Server 2022+ รองรับเฉพาะ BACKUP/RESTORE TO/FROM URL (Microsoft Learn, view=sql-server-ver17) ต้นทางข้อความผิดคือ `Module_02_IO/Sections/02_Storage_Solutions/README.md:13-14` (แก้คู่กันในชุดแก้นี้)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ถามผู้เรียนว่าระบบที่ทำอยู่เป็น DAS หรือ SAN และเคยเจอ Noisy Neighbor ไหม — เชื่อมกับการตีความ latency ที่แกว่งโดยไม่มีสาเหตุใน SQL `Ref: Module_02_IO/Sections/02_Storage_Solutions/README.md:6-11` ต้องเขียนเนื้อหาเพิ่ม: เพิ่มกรณีศึกษา/ตัวเลขเทียบ latency ระหว่างสถาปัตยกรรม (ตัวเลขต้องรอ sign-off รันจริง 17.x ก่อนขึ้น Stat Callout)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เน้นว่า ZSTD และ tmpfs เป็นฟีเจอร์ที่กระทบ I/O Profile โดยตรงและต้องรันบน 17.x จึงจะเห็นจริง `Ref: Module_02_IO/README.md:59-67` ต้องเขียนเนื้อหาเพิ่ม: section นี้ยังไม่มี demo script เป็นของตัวเอง (ไม่มี Scripts/ ภายใต้ `Sections/02_Storage_Solutions/`) — เติมสคริปต์ Backup to S3 เมื่อขยายเนื้อหา หมายเหตุการแก้ (technical review): bullet เดิมเคยระบุ "วาง Data File บน Object Storage (AWS S3, Azure Blob) ผ่าน S3 API" เกินความจริง — แก้ให้เหลือเฉพาะ Backup/Restore to S3-compatible object storage แล้ว ต้นทางข้อความผิดคือ `Module_02_IO/Sections/02_Storage_Solutions/README.md:13-14` (แก้คู่กันในชุดแก้นี้)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ใช้เป็น checkpoint ครึ่งเด็คครอบคลุม S1+S2 ก่อนเข้าสู่ส่วน Best Practices `Ref: Module_02_IO/README.md:40-52` ต้องเขียนเนื้อหาเพิ่ม: quiz bank รายโมดูลยังไม่มีทั้งหลักสูตร (ช่องว่างตามแผน §3) — ขยายจาก 3 คำถามนี้เป็นชุดวัด learning objectives ของ M2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โครงสร้าง Page/Extent ระดับพื้นฐาน (glossary กลาง) — Q3 ของสไลด์ 10 มาจากหัวข้อนี้ `Ref: Module_02_IO/Sections/03_IO_Setup_Best_Practices/README.md:5-10` ต้องเขียนเนื้อหาเพิ่ม: README ยาวเพียง 32 บรรทัด — เพิ่มวิธีตรวจ Allocation Unit Size จริงด้วย `fsutil fsinfo ntfsinfo &lt;drive&gt;` และบล็อก ```sql ประกอบ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ย้ำหลักคิด "ดู Pattern ก่อนเลือก RAID/สื่อ" ซึ่งจะกลายเป็นเกณฑ์ตีความผล DiskSpd ในสไลด์ 14 `Ref: Module_02_IO/Sections/03_IO_Setup_Best_Practices/README.md:12-24` ต้องเขียนเนื้อหาเพิ่ม: เพิ่มตารางตัดสินใจ (ไฟล์ × RAID × สื่อ) ให้ครบเป้าหมายหัวข้อระดับ 3 ของ Skill Progression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หัวข้อ tempdb เชื่อมตรงกับ Module 3 (Database Structures) ซึ่งจะลงลึก tempdb อีกครั้ง `Ref: Module_02_IO/Sections/03_IO_Setup_Best_Practices/README.md:26-28` · `Ref: Module_02_IO/README.md:63-67` ต้องเขียนเนื้อหาเพิ่ม: เพิ่ม checklist ตรวจ IFI และ metadata optimization ด้วย DMV จริงเพื่อให้ section มีบล็อก ```sql ของตัวเอง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ต้องรู้ก่อน: `CROSS APPLY` = เรียก table-valued function ต่อทุกแถวฝั่งซ้าย (คนระดับ SELECT/JOIN ไม่เคยเจอ) — อ่านโค้ดในสไลด์ได้ด้วยประโยคนี้; error ที่พบได้ + รุ่นขั้นต่ำ: `diskspd.exe` ไม่พบใน PATH หรือไม่ได้รัน cmd แบบ Admin จะสร้างไฟล์ทดสอบไม่ได้ — ใช้ได้ SQL Server 2019+ แต่ทั้งสองไฟล์ยัง**ไม่มี header `MinVersion:`** (ตรวจจากการอ่านไฟล์ — 0/69 ทั้ง repo) ต้องเติมก่อนขึ้นเด็คจริงตามเกณฑ์ 4.6 `Ref: Module_02_IO/Labs/README.md:58-97`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wait type ฝั่ง I/O (PAGEIOLATCH*, WRITELOG) ที่จะเชื่อมกับ M1 และ M11 — ดู glossary กลาง `Ref: Module_02_IO/Sections/04_Monitoring_Troubleshooting_IO/README.md:5-18` ต้องเขียนเนื้อหาเพิ่ม: ตัวเลขช่วง Log ใน README โมดูล (`Module_02_IO/README.md:69-74`) ยังต่างจากที่นี่ — ต้อง normalize เนื้อหาก่อนประกอบเด็ค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เช็กลิสต์อ่านผลลัพธ์: เรียงตาม `Avg I/O Latency` DESC แล้วดู 3 ไฟล์แรกก่อนเสมอ `Ref: Module_02_IO/Sections/04_Monitoring_Troubleshooting_IO/README.md:20-21` ต้องเขียนเนื้อหาเพิ่ม: README ของ section ยาวเพียง 27 บรรทัดและไม่มีบล็อก ```sql — ฝัง query ตัวอย่าง (มีอยู่แล้วใน Scripts/) ลง README ตาม DoD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ต้องรู้ก่อน: `NULLIF` (คืน NULL เมื่อตัวหาร = 0 กัน divide-by-zero) และ `OPTION (RECOMPILE)` (บังคับคอมไพล์ใหม่ทุกรัน เพื่อ plan ตรงกับข้อมูลจริง); error ที่พบได้ + รุ่นขั้นต่ำ: ไม่มีสิทธิ์ `VIEW SERVER STATE` จะได้ Msg 300 level 21 และต้อง restore **AdventureWorks2025** ก่อน — ใช้ได้ SQL Server 2019+ (ไม่มี syntax 2025-only ในสคริปต์ชุดนี้) แต่ทั้ง 3 ไฟล์ยังไม่มี header `MinVersion:` ต้องเติมก่อนขึ้นเด็ค `Ref: Module_02_IO/Labs/README.md:101-162`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นี่คือ decision tree ที่ผู้เรียนต้องจำจากโมดูลนี้ — แยก "ของดีแต่ต่อคิวผิด" ออกจาก "ของช้าจริง" `Ref: Module_02_IO/Sections/03_IO_Setup_Best_Practices/Scripts/03_Diskspd_Stress_Test.sql:16-20`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ต้องรู้ก่อน: `DECLARE`/`WHILE` (ลูป T-SQL สร้างโหลด), `NULLIF`, `CROSS APPLY` — ผู้เรียนระดับ SELECT/JOIN ต้องอ่านโค้ด Exercise 3 ออกก่อนลงมือ; error ที่พบได้ + รุ่นขั้นต่ำ: ไม่ใช่ sysadmin จะรัน `DBCC DROPCLEANBUFFERS` ไม่ได้ และแล็บใช้ได้ 2019+ แต่ยังไม่มี header `MinVersion:` ในไฟล์สคริปต์ `Ref: Module_02_IO/Labs/README.md:6-15` ต้องเขียนเนื้อหาเพิ่ม: แล็บยังไม่มีบล็อก `**Expected:**` ต่อ Exercise (ทั้งหลักสูตร 0/11 ตามมติ #7 — ปัจจุบันมีเพียงบล็อก "✅ สังเกต" ที่ :45 :54 :90 :148) ต้อง normalize ก่อนเปิดคลาส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ปิดด้วยการโยงว่า I/O ที่ช้าจะโผล่เป็น wait type ฝั่ง I/O ในโมดูลถัด ๆ ไป และเตือนผู้เรียนเก็บผล DiskSpd เป็น Baseline ส่วนตัว `Ref: Module_02_IO/README.md` · `Ref: Trainer_Docs/Course_Guide_4Days.md:54`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1 Cov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80A5-8FAB-9913-1EFC-8D73DF51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057399"/>
            <a:ext cx="11183112" cy="173736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gline">
            <a:extLst>
              <a:ext uri="{FF2B5EF4-FFF2-40B4-BE49-F238E27FC236}">
                <a16:creationId xmlns:a16="http://schemas.microsoft.com/office/drawing/2014/main" id="{921E5C1F-D102-2273-4815-E78BE19D97B3}"/>
              </a:ext>
            </a:extLst>
          </p:cNvPr>
          <p:cNvSpPr txBox="1"/>
          <p:nvPr userDrawn="1"/>
        </p:nvSpPr>
        <p:spPr>
          <a:xfrm>
            <a:off x="502920" y="1371600"/>
            <a:ext cx="105156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8B8BA6"/>
                </a:solidFill>
                <a:latin typeface="Leelawadee UI" panose="020B0502040204020203" pitchFamily="34" charset="-34"/>
              </a:rPr>
              <a:t>WORLDWIDE LEADER IN PEOPLE, TECHNOLOGY AND BUSINESS TRAINING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2475ED5-2732-1ADD-A07D-4747CCB8FA0D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02920" y="3977640"/>
            <a:ext cx="11183112" cy="1097280"/>
          </a:xfrm>
        </p:spPr>
        <p:txBody>
          <a:bodyPr/>
          <a:lstStyle>
            <a:lvl1pPr marL="0" indent="0" algn="ctr">
              <a:buNone/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B0ECF00A-C239-A338-1330-D88658C633D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2D2BF88-38BF-9016-9ECD-6B5B2CDEC683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FB404D7-FB5A-06B4-AF03-AC30A862FADE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61117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2 Module Divid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5AF3-C270-3F8C-6402-3028D2FF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224528"/>
            <a:ext cx="11183112" cy="1051560"/>
          </a:xfrm>
        </p:spPr>
        <p:txBody>
          <a:bodyPr/>
          <a:lstStyle>
            <a:lvl1pPr>
              <a:defRPr sz="37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igNumber">
            <a:extLst>
              <a:ext uri="{FF2B5EF4-FFF2-40B4-BE49-F238E27FC236}">
                <a16:creationId xmlns:a16="http://schemas.microsoft.com/office/drawing/2014/main" id="{71608DF8-9323-8675-3E0F-69F575DBF6AD}"/>
              </a:ext>
            </a:extLst>
          </p:cNvPr>
          <p:cNvSpPr txBox="1"/>
          <p:nvPr userDrawn="1"/>
        </p:nvSpPr>
        <p:spPr>
          <a:xfrm>
            <a:off x="429768" y="1554480"/>
            <a:ext cx="4023360" cy="206210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800" b="1">
                <a:solidFill>
                  <a:srgbClr val="FFFFFF"/>
                </a:solidFill>
                <a:latin typeface="Leelawadee UI" panose="020B0502040204020203" pitchFamily="34" charset="-34"/>
              </a:rPr>
              <a:t>01</a:t>
            </a:r>
          </a:p>
        </p:txBody>
      </p:sp>
      <p:sp>
        <p:nvSpPr>
          <p:cNvPr id="7" name="ModuleKicker">
            <a:extLst>
              <a:ext uri="{FF2B5EF4-FFF2-40B4-BE49-F238E27FC236}">
                <a16:creationId xmlns:a16="http://schemas.microsoft.com/office/drawing/2014/main" id="{8F80D9DC-8352-308C-6D4C-1CF5C32E555E}"/>
              </a:ext>
            </a:extLst>
          </p:cNvPr>
          <p:cNvSpPr txBox="1"/>
          <p:nvPr userDrawn="1"/>
        </p:nvSpPr>
        <p:spPr>
          <a:xfrm>
            <a:off x="502920" y="3886200"/>
            <a:ext cx="274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E94B22"/>
                </a:solidFill>
                <a:latin typeface="Leelawadee UI" panose="020B0502040204020203" pitchFamily="34" charset="-34"/>
              </a:rPr>
              <a:t>MODULE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51971E-2430-31F9-624F-3013E02F640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5285232"/>
            <a:ext cx="11183112" cy="822960"/>
          </a:xfrm>
        </p:spPr>
        <p:txBody>
          <a:bodyPr/>
          <a:lstStyle>
            <a:lvl1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1pPr>
            <a:lvl2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2pPr>
            <a:lvl3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3pPr>
            <a:lvl4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4pPr>
            <a:lvl5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BrandSquare">
            <a:extLst>
              <a:ext uri="{FF2B5EF4-FFF2-40B4-BE49-F238E27FC236}">
                <a16:creationId xmlns:a16="http://schemas.microsoft.com/office/drawing/2014/main" id="{ED7860CE-8BCD-1EDB-80A7-006E4B04889C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randWordmark">
            <a:extLst>
              <a:ext uri="{FF2B5EF4-FFF2-40B4-BE49-F238E27FC236}">
                <a16:creationId xmlns:a16="http://schemas.microsoft.com/office/drawing/2014/main" id="{3F9BBCD2-610E-34F6-3EBA-417303A22F28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1" name="CourseFooter">
            <a:extLst>
              <a:ext uri="{FF2B5EF4-FFF2-40B4-BE49-F238E27FC236}">
                <a16:creationId xmlns:a16="http://schemas.microsoft.com/office/drawing/2014/main" id="{40298D1F-3D43-7E33-7DFB-202AFD609081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0609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3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DF1E-9EFA-03E1-C45C-33A7D155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ECB77B-9789-F88B-5FEC-DD86D6BF931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11183112" cy="4480560"/>
          </a:xfrm>
        </p:spPr>
        <p:txBody>
          <a:bodyPr/>
          <a:lstStyle>
            <a:lvl1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7B531DF2-DA55-6E36-DA85-4CEA1D496EF3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A7E44A4D-806B-DAD0-C11E-641D31AF7361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DBD347E7-97DE-14C3-9402-1B2A0FE14DD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884435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 Two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C824-D6B1-84AD-4D02-58A5DD72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BEC6DA-F0D6-6C13-8252-DD3CD328DB6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DE1CFEC-65E5-AE40-94E3-B098BDF3E0E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91072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05A685D-F87A-7E95-5666-A850472BAE0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B385C038-2509-71B7-275D-6D27512D77B0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069261BB-B597-5A1A-4F02-1068C401FA80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42256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5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3770-572F-A7EB-FE61-BD74A91E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89EA8A-5F10-57E6-E9D1-990BB462C9E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02920" y="1783080"/>
            <a:ext cx="11183112" cy="4297680"/>
          </a:xfrm>
        </p:spPr>
        <p:txBody>
          <a:bodyPr/>
          <a:lstStyle>
            <a:lvl1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9262207-DA50-353B-D5E5-7DBAAC39C99B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089EA7E6-55F0-111D-3F96-E39555A4CBE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7FE3C47-2373-D3EF-4A93-77C5F285234B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99123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6 Code La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4DDD-212C-1D63-C399-269518A8C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Panel">
            <a:extLst>
              <a:ext uri="{FF2B5EF4-FFF2-40B4-BE49-F238E27FC236}">
                <a16:creationId xmlns:a16="http://schemas.microsoft.com/office/drawing/2014/main" id="{776273E8-AD3A-1C34-49C3-DC754F8B4655}"/>
              </a:ext>
            </a:extLst>
          </p:cNvPr>
          <p:cNvSpPr/>
          <p:nvPr userDrawn="1"/>
        </p:nvSpPr>
        <p:spPr>
          <a:xfrm>
            <a:off x="502920" y="1737360"/>
            <a:ext cx="11183112" cy="4572000"/>
          </a:xfrm>
          <a:prstGeom prst="roundRect">
            <a:avLst>
              <a:gd name="adj" fmla="val 6000"/>
            </a:avLst>
          </a:prstGeom>
          <a:solidFill>
            <a:srgbClr val="0D0D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F13386-576F-633E-9642-6069CF9B0B7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31520" y="1920240"/>
            <a:ext cx="10725912" cy="4206240"/>
          </a:xfrm>
        </p:spPr>
        <p:txBody>
          <a:bodyPr/>
          <a:lstStyle>
            <a:lvl1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1pPr>
            <a:lvl2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2pPr>
            <a:lvl3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3pPr>
            <a:lvl4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4pPr>
            <a:lvl5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6A364C23-0200-75DB-E887-D53D0760CA30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CD123CE5-BCD9-C048-2463-15511C29B60E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E3B40D2F-B569-5E54-9C13-6B620A39821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68904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7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D54F-7887-8A44-868B-EEAD8D5CD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889D7C-256D-B603-21F0-014984F2AE8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920240"/>
            <a:ext cx="5120640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D303795-F2F2-BD1B-F013-A7BEDC9C21E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035040" y="1920240"/>
            <a:ext cx="5650992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5734C6E-DFF0-3B57-818C-69E93EBBA4D9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D34F2E4-2EFC-35B4-335A-C6685CE81AF6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E22CBFE-B40D-9D03-2AFC-7142E4A4B59C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98095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8 Closing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44D5-82AF-1F6F-6D81-485651FB1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743200"/>
            <a:ext cx="11183112" cy="1188720"/>
          </a:xfrm>
        </p:spPr>
        <p:txBody>
          <a:bodyPr/>
          <a:lstStyle>
            <a:lvl1pPr>
              <a:defRPr sz="6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57F960-21B7-7ABA-5A32-74E0A78A62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4114800"/>
            <a:ext cx="11183112" cy="822960"/>
          </a:xfrm>
        </p:spPr>
        <p:txBody>
          <a:bodyPr/>
          <a:lstStyle>
            <a:lvl1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2pPr>
            <a:lvl3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3pPr>
            <a:lvl4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4pPr>
            <a:lvl5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A49E17A-5A87-1B78-588F-DCEB268137FF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35DBE03E-E4F0-39D7-F041-68477893B78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E7B03E4-B170-4E44-4131-4D61229F43B8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1715879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D681-7824-3500-2A23-3D98C1DF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E8B42-9A59-95CD-9743-7DA33FD96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C859E-9E75-8253-5703-D8A8697D0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50564-7AFF-45C3-A26A-84A3050240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6B3B-860E-E2B1-C023-0B0E80CBD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E3BBA-287C-4617-EE72-89683A6B7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8F649-BB84-456D-AE44-E4FB38E42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8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Module 2: ประสิทธิภาพ I/O Subsystem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หลักสูตร Microsoft SQL Server Performance Tuning — 4 วัน / 24 ชม.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วันที่ 1 · 13:00–15:45 (บทเรียน 75 นาที + LAB 2 90 นาที)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จาก IOPS / Throughput / Latency สู่ DiskSpd Benchmark และ DMV Analysis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ฐานข้อมูลฝึก: AdventureWorks2025 · เครื่องมือ: DiskSpd, SSMS, PerfMon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แผนที่โมดูลและงบเวลา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งบเวลาโมดูล: </a:t>
            </a:r>
            <a:r>
              <a:rPr sz="1500" b="1">
                <a:latin typeface="Leelawadee UI"/>
                <a:cs typeface="Leelawadee UI"/>
              </a:rPr>
              <a:t>165 นาที</a:t>
            </a:r>
            <a:r>
              <a:rPr sz="1500" b="0">
                <a:latin typeface="Leelawadee UI"/>
                <a:cs typeface="Leelawadee UI"/>
              </a:rPr>
              <a:t> (บทเรียน 75 + LAB 2 90 นาที) · แล็บของโมดูล: </a:t>
            </a:r>
            <a:r>
              <a:rPr sz="1500" b="1">
                <a:latin typeface="Leelawadee UI"/>
                <a:cs typeface="Leelawadee UI"/>
              </a:rPr>
              <a:t>3 Exercise</a:t>
            </a:r>
            <a:r>
              <a:rPr sz="1500" b="0">
                <a:latin typeface="Leelawadee UI"/>
                <a:cs typeface="Leelawadee UI"/>
              </a:rPr>
              <a:t> (Lab 2 — DiskSpd Benchmark &amp; I/O Latency Analysis)</a:t>
            </a:r>
          </a:p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เส้นทาง 4 sections: Core Concepts → Storage Solutions → IO Setup Best Practices → Monitoring &amp; Troubleshooting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IOPS · Throughput · Latency — สามตัวชี้วัดของ Storage (Section 1 เริ่มต้น)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IOPS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จำนวนคำสั่งอ่าน/เขียนต่อวินาที: Random R/W สำคัญกับ OLTP, Sequential R/W สำคัญกับ OLAP และ Transaction Log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Throughput (MB/s)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ต้องดูค่า Sustained ต่อเนื่อง ไม่ใช่ Burst Speed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Latency (Response Time)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ตัวชี้วัดที่สำคัญที่สุดของ Storage Subsystem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ความสัมพันธ์: IOPS × ขนาด Block = Throughput — ปรับตัวไหน อีกตัวขยับตาม</a:t>
            </a:r>
          </a:p>
        </p:txBody>
      </p:sp>
      <p:pic>
        <p:nvPicPr>
          <p:cNvPr id="4" name="Picture 3" descr="io-metrics-relation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เกณฑ์ Latency ตามชนิดไฟล์ — Microsoft Recommendations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Log File: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1–5 ms = ประสิทธิภาพสูงสุด (Sequential Write ที่ผูกกับ Transaction Commit)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Data File (OLTP):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4–20 ms ยอมรับได้ — 10 ms ถือว่าดีมาก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DSS/OLAP: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≤ 30 ms เป็นเพดานยอมรับได้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วัดจาก PerfMon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Avg. Disk sec/Transfer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หรือ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io_stall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จาก DMVs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HDD/SSD และ RAID — Write Penalty คือตัวตัดสิน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HDD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จานหมุน ราคาถูก แต่ Latency สูง /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SSD (Flash)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ไม่มีจานหมุน Latency ต่ำมาก เหมาะกับ Database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Best Practice: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RAID 10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สำหรับ Data/Log · RAID 0 เฉพาะ TempDB (สร้างใหม่ทุก Restart) · RAID 1 สำหรับ OS/Binaries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Write Penalty: RAID 0 = 1x · RAID 1 = 2x · RAID 5 = 4x · RAID 6 = 6x · RAID 10 = 2x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RAID 5/6: ทุก 1 Write จริงต้องใช้ 4–6 I/O (อ่าน data + อ่าน parity + เขียน data + เขียน parity) — หลีกเลี่ยงกับ Write-heavy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I/O Architecture Internals — Async I/O, Scatter-Gather, IFI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Async I/O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Thread ส่งคำสั่ง I/O แล้ว Return ทันที รองรับ I/O concurrency มหาศาลโดยไม่ต้องใช้ Thread จำนวนมาก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Scatter Read / Gather Write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อ่าน/เขียนทีละหลาย Page (1 Extent = 8 Pages) ในครั้งเดียว → ลด IOPS ที่ต้องใช้ เพิ่ม Throughput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Instant File Initialization (IFI)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ข้ามการ Zeroing ตอนสร้าง/ขยายไฟล์ → เร็วระดับวินาที; ต้องให้สิทธิ์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Perform volume maintenance tasks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ตั้งแต่ SQL Server 2022: log growth ≤ 64 MB ก็ได้ประโยชน์จาก IFI (เดิมเฉพาะ data file)</a:t>
            </a:r>
          </a:p>
        </p:txBody>
      </p:sp>
      <p:pic>
        <p:nvPicPr>
          <p:cNvPr id="4" name="Picture 3" descr="io-architecture-inter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DAS vs SAN vs S3 — เลือกสถาปัตยกรรม Storage (Section 2 เริ่มต้น)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DAS (Direct-Attached Storage)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ต่อตรงกับ Server: Bandwidth เฉพาะตัวสูงสุด แต่ขยายตัวยาก แชร์ทรัพยากรไม่ได้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SAN (Storage Area Network)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Fiber Channel / iSCSI: แชร์พื้นที่ + Snapshot/DR ระดับ Hardware แต่ต้นทุนสูง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S3-Compatible Object Storage (SQL Server 2022+)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รองรับเฉพาะ </a:t>
            </a: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Backup/Restore to S3-compatible object storage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(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BACKUP TO URL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/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RESTORE FROM URL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) — ไม่รองรับการวาง Data/Log File ผ่าน S3 API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เป้าหมายหัวข้อ: เลือกให้ตรง Workload ไม่ใช่เลือกของแพงที่สุด</a:t>
            </a:r>
          </a:p>
        </p:txBody>
      </p:sp>
      <p:pic>
        <p:nvPicPr>
          <p:cNvPr id="4" name="Picture 3" descr="storage-architec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DAS vs SAN — Trade-off ระหว่าง Performance กับ Enterprise Capability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DAS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Pros: ความซับซ้อนต่ำ ได้ Bandwidth เต็ม (Dedicated) / Cons: Scalability ต่ำ แชร์ไม่ได้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เกณฑ์เลือก: workload เดี่ยวเน้น Latency → DAS/NVMe local · enterprise หลาย instance ต้องการ DR → SAN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SAN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Pros: แชร์ได้ Snapshot/DR ระดับ Hardware / Cons: ต้นทุนสูง ต้องบริหาร Bandwidth (QoS)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ความเสี่ยงบน SAN: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Noisy Neighbor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workload ของ server อื่นแย่ง Bandwidth ร่วม fabric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S3-Compatible Object Storage และฟีเจอร์ I/O ใหม่ใน SQL Server 2025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SQL Server 2022+: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Backup/Restore to S3-compatible object storage เท่านั้น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BACKUP TO URL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/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RESTORE FROM URL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— ไม่รองรับการวาง Data/Log File ผ่าน S3 API (Data File บน Azure Blob เป็นฟีเจอร์ "SQL Server data files in Azure" คนละฟีเจอร์ ไม่ได้ทำงานผ่าน S3 API)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Use Case: Backup Storage ราคาประหยัด — เก็บไฟล์ backup/สำเนาสำรองระยะยาว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ZSTD Backup Compression (ใหม่ใน 2025)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บีบอัดเร็วขึ้นอัตราดีขึ้น ลดภาระ I/O ช่วง backup/restore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BACKUP ... WITH COMPRESSION (ALGORITHM = ZSTD)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tmpfs สำหรับ tempdb บน SQL Server on Linux (2025)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วาง tempdb บน memory filesystem ได้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Hybrid Buffer Pool / PMEM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ยังมีบทบาทบนฮาร์ดแวร์ persistent memory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Quiz Checkpoint — Storage Fundamentals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Q1: Latency ที่ดีสำหรับ Log File ควรอยู่ช่วงเท่าไร และเพราะอะไร?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Q2: ทำไม RAID 5 ไม่เหมาะกับ Database ที่เขียนหนัก?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Q3: Allocation Unit Size ที่แนะนำสำหรับ SQL Server คือเท่าไร และเกี่ยวข้องกับ Extent อย่างไร?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(เฉลยซ่อนอยู่ใน README ของโมดูล — ให้ผู้เรียนอ้างเหตุผลก่อนเปิด)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เตรียม Disk — Partition Alignment และ Allocation Unit Size 64KB (Section 3 เริ่มต้น)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การ Format Disk เป็นขั้นตอน </a:t>
            </a: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Irreversible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ทำผิดตอน install คือต้นทุนแก้สูงสุดของโมดูลนี้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Partition Alignment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จัด Offset ของ Partition ให้ตรง Physical Sector (Windows รุ่นใหม่จัดการให้อัตโนมัติ)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Allocation Unit Size = 64KB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เพราะ SQL Server ทำ I/O เป็น Extent (64KB = 8 Pages) ลด I/O Overhead ของ File System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ผลลัพธ์ตามเอกสาร section: เพิ่ม Throughput ได้ 10–20% (ตัวเลขอ้างจาก README — ต้องผ่าน sign-off รันจริงก่อนขึ้น Stat Callout)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I/O Pattern → เลือก Disk ต่อชนิดไฟล์ (Data / Log / TempDB)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Data File (.mdf)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Pattern: Random Read/Write → ต้องการ IOPS สูง + Latency ต่ำ → SSD/NVMe + RAID 10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TempDB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RAID 0 ใช้ได้เพราะไม่ต้อง Redundancy (สร้างใหม่ทุก Restart)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Log File (.ldf)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Pattern: Sequential Write (Append-only) → ต้องการ Write Latency ต่ำที่สุด → แยก Disk ลด Contention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RAID 5/6 ประหยัดพื้นที่แต่ Write Penalty 4x–6x — ไม่เหมาะกับ Log และ TempDB</a:t>
            </a:r>
          </a:p>
        </p:txBody>
      </p:sp>
      <p:pic>
        <p:nvPicPr>
          <p:cNvPr id="5" name="Picture 4" descr="data-log-io-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Advanced Configuration — IFI, TempDB Metadata, แนวทางปี 2025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Instant File Initialization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เปิดใช้เสมอ (ค่าเริ่มต้นใน Setup ปัจจุบัน) ลดเวลาสร้าง/ขยายไฟล์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Memory-Optimized TempDB Metadata (SQL Server 2019+)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ลด Latch Contention ใน System Table ของ TempDB เมื่อ Concurrent Temp Data สูง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โมเดิร์นไอโอ: tempdb บน tmpfs (Linux, 2025) และ PMEM/Hybrid Buffer Pool สำหรับฮาร์ดแวร์เฉพาะทาง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เชื่อมโยง Performance Center: Disk / TempDB / Data-Log Configuration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DiskSpd Command Generator และเช็กพื้นที่ Drive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รัน generator → ได้คำสั่ง DiskSpd 3 แบบ: </a:t>
            </a:r>
            <a:r>
              <a:rPr sz="1600" b="1">
                <a:latin typeface="Leelawadee UI"/>
                <a:cs typeface="Leelawadee UI"/>
              </a:rPr>
              <a:t>OLTP</a:t>
            </a:r>
            <a:r>
              <a:rPr sz="1600" b="0">
                <a:latin typeface="Leelawadee UI"/>
                <a:cs typeface="Leelawadee UI"/>
              </a:rPr>
              <a:t> (8KB Random R/W 70/30), </a:t>
            </a:r>
            <a:r>
              <a:rPr sz="1600" b="1">
                <a:latin typeface="Leelawadee UI"/>
                <a:cs typeface="Leelawadee UI"/>
              </a:rPr>
              <a:t>Log</a:t>
            </a:r>
            <a:r>
              <a:rPr sz="1600" b="0">
                <a:latin typeface="Leelawadee UI"/>
                <a:cs typeface="Leelawadee UI"/>
              </a:rPr>
              <a:t> (64KB Sequential Write 100%), </a:t>
            </a:r>
            <a:r>
              <a:rPr sz="1600" b="1">
                <a:latin typeface="Leelawadee UI"/>
                <a:cs typeface="Leelawadee UI"/>
              </a:rPr>
              <a:t>DW</a:t>
            </a:r>
            <a:r>
              <a:rPr sz="1600" b="0">
                <a:latin typeface="Leelawadee UI"/>
                <a:cs typeface="Leelawadee UI"/>
              </a:rPr>
              <a:t> (512KB Sequential Read)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Copy คำสั่งไปรันใน </a:t>
            </a:r>
            <a:r>
              <a:rPr sz="1600" b="1">
                <a:latin typeface="Leelawadee UI"/>
                <a:cs typeface="Leelawadee UI"/>
              </a:rPr>
              <a:t>Command Prompt (Admin)</a:t>
            </a:r>
            <a:r>
              <a:rPr sz="1600" b="0">
                <a:latin typeface="Leelawadee UI"/>
                <a:cs typeface="Leelawadee UI"/>
              </a:rPr>
              <a:t> บน drive ที่วาง data/log จริง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[จุดสำคัญ] ระหว่าง DiskSpd ทำงาน ให้เปิด SSMS รัน Demo Drive Latency พร้อมกัน — เฝ้าว่า </a:t>
            </a:r>
            <a:r>
              <a:rPr sz="1600" b="0">
                <a:latin typeface="Consolas"/>
                <a:cs typeface="Consolas"/>
              </a:rPr>
              <a:t>Avg_Write_Latency_ms</a:t>
            </a:r>
            <a:r>
              <a:rPr sz="1600" b="0">
                <a:latin typeface="Leelawadee UI"/>
                <a:cs typeface="Leelawadee UI"/>
              </a:rPr>
              <a:t> กระโดดไหม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เช็กพื้นที่คงเหลือต่อ drive ด้วย </a:t>
            </a:r>
            <a:r>
              <a:rPr sz="1600" b="0">
                <a:latin typeface="Consolas"/>
                <a:cs typeface="Consolas"/>
              </a:rPr>
              <a:t>sys.dm_os_volume_stats</a:t>
            </a:r>
            <a:r>
              <a:rPr sz="1600" b="0">
                <a:latin typeface="Leelawadee UI"/>
                <a:cs typeface="Leelawadee UI"/>
              </a:rPr>
              <a:t> (Percent Free)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Latency is King — เกณฑ์ตัดสินระดับ Log และ Data (Section 4 เริ่มต้น)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ตัวชี้วัดหลัก: PerfMon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Avg. Disk sec/Transfer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หรือ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io_stall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จาก DMVs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Log (.ldf):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1–5 ms Optimal · 5–10 ms Acceptable · &gt; 10 ms Degraded (Commit ช้าลง) · &gt; 50 ms Critical (Timeout/Blocking)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Data (.mdf):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&lt; 5 ms สูง (SSD/NVMe level) · 10–20 ms Acceptable · &gt; 20 ms Degraded · &gt; 100 ms Critical (System Freeze)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เกณฑ์นี้คือมาตรวัดเดียวกับที่ใช้ตีความผลแล็บและ demo ของโมดูล</a:t>
            </a:r>
          </a:p>
        </p:txBody>
      </p:sp>
      <p:pic>
        <p:nvPicPr>
          <p:cNvPr id="4" name="Picture 3" descr="io-latency-thresho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`sys.dm_io_virtual_file_stats` — อ่านค่าระดับไฟล์ให้เป็น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DMV นี้ให้ข้อมูล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ระดับไฟล์ (Granular)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ระบุได้ว่าไฟล์ใด Response Time สูงสุดของ instance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ค่าเป็น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สะสมตั้งแต่ Startup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ดูรายช่วงต้องเก็บ Snapshot เทียบกัน (ต่อยอดใน Lab 10)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จับคู่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sys.master_files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ด้วย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database_id + file_id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ใช้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type_desc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แยก ROWS (data) / LOG (log)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หารเฉลี่ย latency ต้องกันหารศูนย์ด้วย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NULLIF(num_of_reads, 0)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คอลัมน์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io_stall_queued_*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ชี้คิวรอของ Resource Governor (ถ้าใช้)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จับ Latency ต่อไฟล์และต่อ Drive ระหว่าง Workload จริง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Session 1: รัน workload generator ทิ้งไว้ ~5 นาที (table scan + random access + join + UPDATE ทุก 100 รอบ)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Session 2: วัด latency ต่อไฟล์ทั้ง instance แบบ Glenn Berry — เรียง </a:t>
            </a:r>
            <a:r>
              <a:rPr sz="1600" b="0">
                <a:latin typeface="Consolas"/>
                <a:cs typeface="Consolas"/>
              </a:rPr>
              <a:t>Avg I/O Latency</a:t>
            </a:r>
            <a:r>
              <a:rPr sz="1600" b="0">
                <a:latin typeface="Leelawadee UI"/>
                <a:cs typeface="Leelawadee UI"/>
              </a:rPr>
              <a:t> DESC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รวมเป็นระดับ drive ด้วย </a:t>
            </a:r>
            <a:r>
              <a:rPr sz="1600" b="0">
                <a:latin typeface="Consolas"/>
                <a:cs typeface="Consolas"/>
              </a:rPr>
              <a:t>GROUP BY LEFT(UPPER(physical_name), 2)</a:t>
            </a:r>
            <a:r>
              <a:rPr sz="1600" b="0">
                <a:latin typeface="Leelawadee UI"/>
                <a:cs typeface="Leelawadee UI"/>
              </a:rPr>
              <a:t> — หา drive ที่มีปัญหา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ตีความตามเกณฑ์ในสคริปต์: &lt; 5 ms Excellent (SSD/NVMe) · 5–10 Good · 10–20 Acceptable · &gt; 20 Potential Bottleneck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วินิจฉัย — Disk ช้าจริง หรือ SQL/Queuing?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DiskSpd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วัดขีดจำกัดของ Subsystem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อิสระจาก SQL Server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(ผ่าน cache ด้วย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-Sh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DiskSpd เองรายงาน ~100 ms →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Disk ช้าจริง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ต้องแก้ที่ Storage Subsystem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DMV/PerfMon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latency ที่ SQL Server รู้สึกจริงรวมคิวทุกชั้น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DiskSpd ~5 ms แต่ SQL รายงาน ~100 ms → ปัญหาอยู่ที่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Queuing/SQL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(ไม่ใช่ disk ช้า)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Lab 2 — DiskSpd Benchmark &amp; I/O Latency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latin typeface="Leelawadee UI"/>
                <a:cs typeface="Leelawadee UI"/>
              </a:rPr>
              <a:t>3 Exercise</a:t>
            </a:r>
            <a:r>
              <a:rPr sz="1600" b="0">
                <a:latin typeface="Leelawadee UI"/>
                <a:cs typeface="Leelawadee UI"/>
              </a:rPr>
              <a:t>: (1) วัด Logical vs Physical Reads ด้วย </a:t>
            </a:r>
            <a:r>
              <a:rPr sz="1600" b="0">
                <a:latin typeface="Consolas"/>
                <a:cs typeface="Consolas"/>
              </a:rPr>
              <a:t>SET STATISTICS IO</a:t>
            </a:r>
            <a:r>
              <a:rPr sz="1600" b="0">
                <a:latin typeface="Leelawadee UI"/>
                <a:cs typeface="Leelawadee UI"/>
              </a:rPr>
              <a:t> + </a:t>
            </a:r>
            <a:r>
              <a:rPr sz="1600" b="0">
                <a:latin typeface="Consolas"/>
                <a:cs typeface="Consolas"/>
              </a:rPr>
              <a:t>DBCC DROPCLEANBUFFERS</a:t>
            </a:r>
            <a:r>
              <a:rPr sz="1600" b="0">
                <a:latin typeface="Leelawadee UI"/>
                <a:cs typeface="Leelawadee UI"/>
              </a:rPr>
              <a:t> (2) ทดสอบ Storage ด้วย DiskSpd — random 8KB จำลอง OLTP + sequential 64KB จำลอง log (3) วิเคราะห์ I/O จริงต่อไฟล์ด้วย </a:t>
            </a:r>
            <a:r>
              <a:rPr sz="1600" b="0">
                <a:latin typeface="Consolas"/>
                <a:cs typeface="Consolas"/>
              </a:rPr>
              <a:t>sys.dm_io_virtual_file_stats</a:t>
            </a:r>
            <a:r>
              <a:rPr sz="1600" b="0">
                <a:latin typeface="Leelawadee UI"/>
                <a:cs typeface="Leelawadee UI"/>
              </a:rPr>
              <a:t> + สร้างโหลด UPDATE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เกณฑ์ผ่าน: 8K random IOPS &gt; 5,000 · latency OLTP &lt; 5–10 ms · log write &lt; 5 ms · 64K sequential MB/s สูงกว่า random หลายเท่า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Prerequisites: SQL Server 2019+ (แนะนำ 2025 (17.x)) · AdventureWorks2025 · DiskSpd.exe · สิทธิ์ </a:t>
            </a:r>
            <a:r>
              <a:rPr sz="1600" b="0">
                <a:latin typeface="Consolas"/>
                <a:cs typeface="Consolas"/>
              </a:rPr>
              <a:t>VIEW SERVER STATE</a:t>
            </a:r>
            <a:r>
              <a:rPr sz="1600" b="0">
                <a:latin typeface="Leelawadee UI"/>
                <a:cs typeface="Leelawadee UI"/>
              </a:rPr>
              <a:t> + </a:t>
            </a:r>
            <a:r>
              <a:rPr sz="1600" b="0">
                <a:latin typeface="Consolas"/>
                <a:cs typeface="Consolas"/>
              </a:rPr>
              <a:t>sysadmin</a:t>
            </a:r>
            <a:r>
              <a:rPr sz="1600" b="0">
                <a:latin typeface="Leelawadee UI"/>
                <a:cs typeface="Leelawadee UI"/>
              </a:rPr>
              <a:t> (สำหรับ DROPCLEANBUFFERS)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⚠️ </a:t>
            </a:r>
            <a:r>
              <a:rPr sz="1600" b="0">
                <a:latin typeface="Consolas"/>
                <a:cs typeface="Consolas"/>
              </a:rPr>
              <a:t>DBCC DROPCLEANBUFFERS</a:t>
            </a:r>
            <a:r>
              <a:rPr sz="1600" b="0">
                <a:latin typeface="Leelawadee UI"/>
                <a:cs typeface="Leelawadee UI"/>
              </a:rPr>
              <a:t> ห้ามรันบน Production — VM ทดสอบเท่านั้น · Cleanup: </a:t>
            </a:r>
            <a:r>
              <a:rPr sz="1600" b="0">
                <a:latin typeface="Consolas"/>
                <a:cs typeface="Consolas"/>
              </a:rPr>
              <a:t>del D:\Temp\sqltest.dat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สรุป Module 2 และทางต่อไป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สามตัวชี้วัด IOPS / Throughput / Latency — และ </a:t>
            </a:r>
            <a:r>
              <a:rPr sz="1500" b="1">
                <a:latin typeface="Leelawadee UI"/>
                <a:cs typeface="Leelawadee UI"/>
              </a:rPr>
              <a:t>Latency คือ King</a:t>
            </a:r>
            <a:r>
              <a:rPr sz="1500" b="0">
                <a:latin typeface="Leelawadee UI"/>
                <a:cs typeface="Leelawadee UI"/>
              </a:rPr>
              <a:t> พร้อมเกณฑ์ Log 1–5 ms / Data &lt; 5–20 ms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RAID Write Penalty กำหนดทางเลือก: RAID 10 สำหรับ Data/Log · RAID 0 เฉพาะ TempDB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เตรียม Disk ให้ถูกตั้งแต่วันแรก: Partition Alignment + Allocation Unit Size 64KB + แยก Data/Log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วัดของจริงสองชั้น: DMV (</a:t>
            </a:r>
            <a:r>
              <a:rPr sz="1500" b="0">
                <a:latin typeface="Consolas"/>
                <a:cs typeface="Consolas"/>
              </a:rPr>
              <a:t>sys.dm_io_virtual_file_stats</a:t>
            </a:r>
            <a:r>
              <a:rPr sz="1500" b="0">
                <a:latin typeface="Leelawadee UI"/>
                <a:cs typeface="Leelawadee UI"/>
              </a:rPr>
              <a:t>) บอกความรู้สึกของ SQL · DiskSpd บอกขีดจำกัดของ Disk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ต่อไป: </a:t>
            </a:r>
            <a:r>
              <a:rPr sz="1500" b="1">
                <a:latin typeface="Leelawadee UI"/>
                <a:cs typeface="Leelawadee UI"/>
              </a:rPr>
              <a:t>Module 3 — Database Structures</a:t>
            </a:r>
            <a:r>
              <a:rPr sz="1500" b="0">
                <a:latin typeface="Leelawadee UI"/>
                <a:cs typeface="Leelawadee UI"/>
              </a:rPr>
              <a:t> (TempDB metadata, VLF ตรวจด้วย </a:t>
            </a:r>
            <a:r>
              <a:rPr sz="1500" b="0">
                <a:latin typeface="Consolas"/>
                <a:cs typeface="Consolas"/>
              </a:rPr>
              <a:t>sys.dm_db_log_info</a:t>
            </a:r>
            <a:r>
              <a:rPr sz="1500" b="0">
                <a:latin typeface="Leelawadee UI"/>
                <a:cs typeface="Leelawadee UI"/>
              </a:rPr>
              <a:t>) ซึ่งต่อยอด I/O Profile ของไฟล์ฐานข้อมูล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rainocate">
      <a:dk1>
        <a:srgbClr val="1A1A1A"/>
      </a:dk1>
      <a:lt1>
        <a:sysClr val="window" lastClr="FFFFFF"/>
      </a:lt1>
      <a:dk2>
        <a:srgbClr val="000444"/>
      </a:dk2>
      <a:lt2>
        <a:srgbClr val="F7F7F7"/>
      </a:lt2>
      <a:accent1>
        <a:srgbClr val="000444"/>
      </a:accent1>
      <a:accent2>
        <a:srgbClr val="E94B22"/>
      </a:accent2>
      <a:accent3>
        <a:srgbClr val="FF3900"/>
      </a:accent3>
      <a:accent4>
        <a:srgbClr val="15155E"/>
      </a:accent4>
      <a:accent5>
        <a:srgbClr val="F5A623"/>
      </a:accent5>
      <a:accent6>
        <a:srgbClr val="6B6A6A"/>
      </a:accent6>
      <a:hlink>
        <a:srgbClr val="E94B22"/>
      </a:hlink>
      <a:folHlink>
        <a:srgbClr val="15155E"/>
      </a:folHlink>
    </a:clrScheme>
    <a:fontScheme name="Office">
      <a:majorFont>
        <a:latin typeface="Leelawadee UI" panose="02110004020202020204"/>
        <a:ea typeface=""/>
        <a:cs typeface="Leelawade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 panose="02110004020202020204"/>
        <a:ea typeface=""/>
        <a:cs typeface="Leelawade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ocate_SQLPerfTuning_Template.potx" id="{F1E5A7CF-DD4E-4134-8E80-8723502F551E}" vid="{3993AF59-4E85-4845-8CC3-0524E32EA5E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Leelawadee UI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Phakkhaphong Krittawat</dc:creator>
  <cp:lastModifiedBy>Phakkhaphong Krittawat</cp:lastModifiedBy>
  <cp:revision>1</cp:revision>
  <dcterms:created xsi:type="dcterms:W3CDTF">2026-09-26T12:09:30Z</dcterms:created>
  <dcterms:modified xsi:type="dcterms:W3CDTF">2026-09-26T12:09:30Z</dcterms:modified>
</cp:coreProperties>
</file>