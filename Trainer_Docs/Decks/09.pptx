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เปิดด้วยสถานการณ์จากแล็บ — "หัวหน้าห้ามใช้ SQL Profiler เด็ดขาด" แล้วโมดูลนี้คือทางรอด Ref: Module_09_Extended_Events/README.md:1-3, Module_09_Extended_Events/Labs/README.md:14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ประกาศงบเวลาและจำนวน Exercise ให้ผู้เรียนรู้ก่อนเริ่ม — เวลาจริงจากการทดสอบเฟส 4 ต้องนำมาเทียบงบนี้ Ref: Module_09_Extended_Events/README.md:5-13, Trainer_Docs/Course_Guide_4Days.md:104,111-112</a:t>
            </a:r>
          </a:p>
          <a:p>
            <a:r>
              <a:t>จุดเพิ่มเติมที่ย่อออกจากสไลด์: เป้าทักษะ 4 ระดับ: เข้าใจ Architecture → สร้าง Session → ใช้แก้ปัญหาจริง → ออกแบบ Tracing Strategy | ต้องรู้มาก่อน: Lock &amp; Deadlock จาก Module 5 + พื้นฐาน DMV (ดู glossary กลาง)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Module 5 (Lock/Deadlock) และคำว่า DMV — ชี้ลิงก์ glossary กลาง (ไฟล์ตามแผนเฟส 0 ยังไม่มีใน repo ณ วันเขียน ต้องอัปเดต path เมื่อสร้างแล้ว) · **ต้องเขียนเนื้อหาเพิ่ม**: S1 ยังเป็น outline — ต้องเติมบรรทัด "ต้องรู้มาก่อน" + ลิงก์ glossary + คำถาม "ตรวจความเข้าใจ" ตาม DoD ราย section Ref: Module_09_Extended_Events/Sections/01_XE_Core_Concepts/README.md:7-18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ย้ำลำดับการไหล: กรองให้เร็วที่สุด → เก็บเท่าที่จำเป็น → ค่อย dispatch ออก target Ref: Module_09_Extended_Events/Sections/01_XE_Core_Concepts/README.md:20-27,58-60,80-90 · **ต้องเขียนเนื้อหาเพิ่ม**: แปลง mermaid (README:80-90) เป็น PNG ตาม spec §4.4 และเติม "ตรวจความเข้าใจ" ท้าย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Event Loss คือกับดักที่ทำให้ XEvents กลายเป็น Profiler อีกแบบ — สอนให้คง default ไว้เว้นแต่มีเหตุผลจริง Ref: Module_09_Extended_Events/Sections/01_XE_Core_Concepts/README.md:62-77 · **ต้องเขียนเนื้อหาเพิ่ม**: ควรเติมบล็อก ```sql สั้น ๆ เทียบ `EVENT_RETENTION_MODE` ทั้ง 3 ค่าใน section README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ให้ผู้เรียนจำ 3–4 events เริ่มต้นพอ — ตัวอื่นค้นตอนทำแล็บได้ Ref: Module_09_Extended_Events/Sections/01_XE_Core_Concepts/README.md:30-56, Module_09_Extended_Events/README.md:66 · **ต้องเขียนเนื้อหาเพิ่ม**: ยังไม่มีตัวอย่าง SQL ค้น event catalog ด้วย `sys.dm_xe_objects` ใน section README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อ่านโครงสร้าง CREATE EVENT SESSION ออกจากสไลด์ 4; ลิงก์ glossary (path ตามเฟส 0) · **ต้องเขียนเนื้อหาเพิ่ม**: S2 README สั้นมาก (46 บรรทัด) — ต้องเติม "ต้องรู้มาก่อน" + ลิงก์ glossary + "ตรวจความเข้าใจ" + ตัวอย่างการวางแผนขนาดไฟล์ .xel Ref: Module_09_Extended_Events/Sections/02_Working_With_Extended_Events/README.md:5-9, Module_09_Extended_Events/README.md:65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system_health คือ "XE session ฟรี" ที่แล็บ M5 เคยใช้จับ deadlock มาแล้ว — เชื่อมโมดูลได้ทันที Ref: Module_09_Extended_Events/Sections/02_Working_With_Extended_Events/README.md:11-21 · **ต้องเขียนเนื้อหาเพิ่ม**: ยังไม่มีบล็อก ```sql แสดงวิธีอ่าน event_file ของ system_health ใน section README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เตือนผู้สอน: `AUTO_STOP` ยังไม่เคยพิสูจน์ syntax บน instance จริง (ความเสี่ยง #7 ของแผน) — ห้ามนำขึ้น Code Lab จนกว่าจะ sign-off บน 17.x Ref: Module_09_Extended_Events/Sections/02_Working_With_Extended_Events/README.md:23-40, Module_09_Extended_Events/README.md:58-63, Module_09_Extended_Events/Labs/README.md:201 · **ต้องเขียนเนื้อหาเพิ่ม**: S2 ควรเพิ่มตัวอย่าง AUTO_STOP พร้อมหมายเหตุรุ่นต่ำสุด + "ทางเลือกสำหรับรุ่นเก่า" ใน README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 (เกิน SELECT/JOIN): `CROSS APPLY` + XQuery `.nodes()`/`.query()` — ไล่ XML ทีละ node ของ event — และ `CAST(target_data AS XML)` Ref: Module_09_Extended_Events/Sections/02_Working_With_Extended_Events/Scripts/01_Create_XE_Session.sql, Scripts/03_Read_XE_Data.sql, Module_09_Extended_Events/Labs/README.md:83-139 · **ต้องเขียนเนื้อหาเพิ่ม**: .sql ทั้ง 2 ไฟล์ยังไม่มี `MinVersion:` header (เฟส 0) และสคริปต์ 06 อ่านคู่กับ 03 ไม่ได้ตรง ๆ (คนละ session/target) — ต้องแก้ให้เป็นคู่หรือเขียน read script ของ event_file ก่อนประกอบเด็ค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ต้องรู้ก่อน: อ่าน XML ด้วย `CROSS APPLY` + `.value()`/`.nodes()` และหน่วย `duration` = ไมโครวินาที (เผลอมักชน 1,000 เท่า) Ref: Module_09_Extended_Events/Labs/README.md:25-223 (สคริปต์ประกอบ: Sections/01_XE_Core_Concepts/Scripts/05_Page_Splits_Tracking.sql, Sections/02_Working_With_Extended_Events/Scripts/01_Create_XE_Session.sql, 02_Wait_Stats_Capture.sql, 03_Read_XE_Data.sql, 04_XE_Blocking_Deadlock.sql, 06_Create_XE_LongQueries.sql) · **ต้องเขียนเนื้อหาเพิ่ม**: แล็บยังไม่มีบล็อก `**Expected:**` ต่อ Exercise + ไม่มี "ต้องรู้ก่อน" + ไม่มี sign-off รันจริงบน 17.x (รวมยืนยัน syntax AUTO_STOP) ตาม DoD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 quiz เช็คความเข้าใจ 3 ข้อจากท้าย module README (ข้อดี XEvents เทียบ Profiler / Predicate คืออะไรทำไมสำคัญ / ring_buffer ข้อควรระวัง) Ref: Module_09_Extended_Events/README.md:37-50 · **ต้องเขียนเนื้อหาเพิ่ม**: quiz bank รายโมดูลยังไม่มี (เฟส 3 ของแผน) — ต้องสร้างก่อนใช้สไลด์นี้เป็นการวัดผลจริง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Module 9: Extended Events (Lightweight Tracing แทน Profiler)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Module 9: Extended Events — ระบบ Lightweight Tracing ที่ฝังใน SQLOS โดยตรง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แทนที่ SQL Profiler / SQL Trace ที่ deprecated ทั้งหมดแล้ว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จุดขาย: Asynchronous + Early Filtering = Overhead ต่ำมาก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สอนข้าม 2 วัน: Day 3 แนะนำ concept, Day 4 เจาะลึก + Lab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เป้าหมายโมดูล + งบเวลา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งบเวลา: สอน 60 นาที (Day 3: 15 นาที + Day 4: 45 นาที) + Lab 9: 45 นาที · แล็บมี </a:t>
            </a:r>
            <a:r>
              <a:rPr sz="1500" b="1">
                <a:latin typeface="Leelawadee UI"/>
                <a:cs typeface="Leelawadee UI"/>
              </a:rPr>
              <a:t>3 Exercise</a:t>
            </a:r>
            <a:r>
              <a:rPr sz="1500" b="0">
                <a:latin typeface="Leelawadee UI"/>
                <a:cs typeface="Leelawadee UI"/>
              </a:rPr>
              <a:t>: query performance / deadlock / long-running + 2025 feature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2 sections: XE Core Concepts → Working With Extended Events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[S1-1] SQL Profiler vs Extended Events — ทำไมต้องเปลี่ยน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SQL Trace/Profiler: Synchronous, Overhead สูง (อาจถึง 30%), กรองข้อมูล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หลัง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เก็บ, Target มี Trace File เดียว,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Deprecated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มาตรฐานปัจจุบันของ Microsoft คือ XEvents 100% — ห้ามเริ่มงาน tracing ใหม่ด้วย Profiler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Extended Events: Asynchronous, Overhead ต่ำมาก (&lt;1%), Early Filtering กรอง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ก่อน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เก็บ, Targets หลากหลาย (Ring Buffer / File / Histogram), Recommended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เชื่อมจาก Module 5: เคยเจอ blocking/deadlock แล้ว — โมดูลนี้จะ "จับมัน" ด้วย XEvents เอง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[S1-2] XEvents Architecture — 6 องค์ประกอบ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Packages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คอนเทนเนอร์ Metadata (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package0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system,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sqlserver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engine,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sqlos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scheduler) พร้อม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Types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(ชนิดข้อมูล field) และ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Maps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(แปลง internal ID → ข้อความ เช่น WaitType=120 → ชื่อ wait type)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Events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จุดตรวจ (Instrumentation Points) ใน engine เช่น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sql_statement_completed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lock_acquired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wait_info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Predicates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เงื่อนไขกรองที่ทำงานระดับ engine *ก่อน* เก็บข้อมูล (Early Filtering) = คีย์ลด Overhead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Actions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ข้อมูลเสริมจาก Global State (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sql_text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plan_handle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 — มี Cost เพิ่ม ใช้เท่าที่จำเป็น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Targets + Sessions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ปลายทางจัดเก็บ (Consumers) และการประกอบ Event/Predicate/Target เป็น session เดียว</a:t>
            </a:r>
          </a:p>
        </p:txBody>
      </p:sp>
      <p:pic>
        <p:nvPicPr>
          <p:cNvPr id="4" name="Picture 3" descr="x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[S1-3] Dispatcher &amp; Event Loss Policy — หัวใจความ Lightweight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Dispatcher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: thread ที่รัน query แค่ "เขียนข้อมูลลง Memory Buffer" แล้วกลับไปทำงานต่อทันที — ไม่ต้องรอ I/O (Asynchronous)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Dispatcher Thread พื้นหลังค่อยดึงจาก Buffer ไปเขียนลง Target ภายหลัง — คุมความหน่วงด้วย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MAX_DISPATCH_LATENCY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Event Loss Policy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: Single Event Loss (default, ปลอดภัยสุด) / Multiple Event Loss (ทิ้งทั้ง buffer) / </a:t>
            </a: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No Event Loss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(บังคับ user thread รอ — อันตราย! ช้าเหมือน SQL Trace เดิม)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Global State Data (Actions เช่น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sql_text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username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) แพงกว่า payload ปกติ — เลือกเฉพาะที่จำเป็น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[S1-4] Events ที่ใช้ Tuning จริง + กับดัก High-Overhead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⚠️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query_post_execution_showplan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ดึง Actual Plan ทุก query — </a:t>
            </a: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แพงมาก ห้ามใช้ร่มบน production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ใช้ lightweight profiling แทน: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query_plan_profile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(SQL 2019+) /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query_post_execution_plan_profile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[S2-1] Targets — เลือกปลายทางให้ถูกงาน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กติกา: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ring_buffer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= troubleshooting จุดเดียว/ดูสด,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event_file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= production capture จริง (ตาม module README)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Azure SQL ไม่มี local drive — target ต้องเป็น Azure Blob Storage (เชื่อมสไลด์ 9)</a:t>
            </a:r>
          </a:p>
        </p:txBody>
      </p:sp>
      <p:pic>
        <p:nvPicPr>
          <p:cNvPr id="4" name="Picture 3" descr="target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[S2-2] system_health + สถานการณ์ใช้งานจริง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system_health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Always-on session ที่รันอยู่แล้วทุก instance: เก็บ Deadlock Graph, Error severity ≥ 20, Long Waits (&gt; 15s/30s), Memory allocation failures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สถานการณ์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Execution Time-outs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จับคู่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sql_statement_starting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sql_statement_completed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หรือดู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rpc_completed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ที่ result = 2 (Abort)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สถานการณ์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Swallowed Errors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จับ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error_reported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เห็น Error ที่ Application กลืนหาย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สถานการณ์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Recompilations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sql_statement_recompile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+ Histogram → ระบุ Object ที่ Recompile บ่อยสุด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สอนลำดับใช้งาน: เปิดดู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system_health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ก่อนเสมอ — บางทีไม่ต้องสร้าง session ใหม่เอง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[S2-3] Modern XEvents — XE Profiler, Lightweight Profiling, Azure &amp;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XEvent Profiler (SSMS 17.3+)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UX แบบ Profiler บนเครื่องยนต์ XEvents, ดู Live Stream ด้วย overhead ต่ำ — Object Explorer → XE Profiler → Standard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Lightweight Query Profiling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query_thread_profile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(infrastructure ใหม่) แทน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query_post_execution_showplan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ที่แพง + Live Query Stats เป็น default ใน SQL 2019+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Azure SQL Integration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ไม่มี local drive → target เป็น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Azure Blob Storage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โหลด .xel จาก Blob มาเปิดใน SSMS ได้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Time-bound Sessions (2025)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AUTO_STOP = 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หยุด session อัตโนมัติ — กันลืมเปิดค้างจนกิน resource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(2025-only) บน 2019/2022 จะ error ที่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AUTO_STOP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ต้องมี hard guard + ทางเลือก: ใช้ session ปกติแทน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[S2-4] Code Lab Demo — สร้าง Session และอ่านข้อมูลสดจาก ring_buffer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Consolas"/>
                <a:cs typeface="Consolas"/>
              </a:rPr>
              <a:t>CREATE EVENT SESSION [XE_Deadlock_Monitor] ON SERVER</a:t>
            </a:r>
            <a:r>
              <a:rPr sz="1500" b="0">
                <a:latin typeface="Leelawadee UI"/>
                <a:cs typeface="Leelawadee UI"/>
              </a:rPr>
              <a:t> + </a:t>
            </a:r>
            <a:r>
              <a:rPr sz="1500" b="0">
                <a:latin typeface="Consolas"/>
                <a:cs typeface="Consolas"/>
              </a:rPr>
              <a:t>ADD EVENT sqlserver.xml_deadlock_report</a:t>
            </a:r>
            <a:r>
              <a:rPr sz="1500" b="0">
                <a:latin typeface="Leelawadee UI"/>
                <a:cs typeface="Leelawadee UI"/>
              </a:rPr>
              <a:t> → </a:t>
            </a:r>
            <a:r>
              <a:rPr sz="1500" b="0">
                <a:latin typeface="Consolas"/>
                <a:cs typeface="Consolas"/>
              </a:rPr>
              <a:t>ADD TARGET package0.ring_buffer (max_events_limit=10, max_memory=4096)</a:t>
            </a:r>
            <a:r>
              <a:rPr sz="1500" b="0">
                <a:latin typeface="Leelawadee UI"/>
                <a:cs typeface="Leelawadee UI"/>
              </a:rPr>
              <a:t> (DROP ก่อนถ้ามีอยู่ — มีในสคริปต์แล้ว)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START session → จุดชนวน event → อ่าน </a:t>
            </a:r>
            <a:r>
              <a:rPr sz="1500" b="0">
                <a:latin typeface="Consolas"/>
                <a:cs typeface="Consolas"/>
              </a:rPr>
              <a:t>target_data</a:t>
            </a:r>
            <a:r>
              <a:rPr sz="1500" b="0">
                <a:latin typeface="Leelawadee UI"/>
                <a:cs typeface="Leelawadee UI"/>
              </a:rPr>
              <a:t> จาก </a:t>
            </a:r>
            <a:r>
              <a:rPr sz="1500" b="0">
                <a:latin typeface="Consolas"/>
                <a:cs typeface="Consolas"/>
              </a:rPr>
              <a:t>sys.dm_xe_session_targets</a:t>
            </a:r>
            <a:r>
              <a:rPr sz="1500" b="0">
                <a:latin typeface="Leelawadee UI"/>
                <a:cs typeface="Leelawadee UI"/>
              </a:rPr>
              <a:t> JOIN </a:t>
            </a:r>
            <a:r>
              <a:rPr sz="1500" b="0">
                <a:latin typeface="Consolas"/>
                <a:cs typeface="Consolas"/>
              </a:rPr>
              <a:t>sys.dm_xe_sessions</a:t>
            </a:r>
            <a:r>
              <a:rPr sz="1500" b="0">
                <a:latin typeface="Leelawadee UI"/>
                <a:cs typeface="Leelawadee UI"/>
              </a:rPr>
              <a:t> แล้ว </a:t>
            </a:r>
            <a:r>
              <a:rPr sz="1500" b="0">
                <a:latin typeface="Consolas"/>
                <a:cs typeface="Consolas"/>
              </a:rPr>
              <a:t>CAST(... AS XML)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Consolas"/>
                <a:cs typeface="Consolas"/>
              </a:rPr>
              <a:t>CROSS APPLY TargetData.nodes('RingBufferTarget/event')</a:t>
            </a:r>
            <a:r>
              <a:rPr sz="1500" b="0">
                <a:latin typeface="Leelawadee UI"/>
                <a:cs typeface="Leelawadee UI"/>
              </a:rPr>
              <a:t> → ได้ timestamp + XML ราย event (SSMS คลิก XML ดูได้ทันที)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ตัวแปรในแล็บ: จับ wait_info (สคริปต์ 02), จับ long-running ลง event_file (สคริปต์ 06)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รุ่นขั้นต่ำ: SQL Server 2019+ (ตัวอย่างนี้ไม่ใช้ฟีเจอร์ 2025 — ตาม Lab Prerequisites)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"CREATE EVENT SESSION permission denied" → ต้องมีสิทธิ์ </a:t>
            </a:r>
            <a:r>
              <a:rPr sz="1500" b="0">
                <a:latin typeface="Consolas"/>
                <a:cs typeface="Consolas"/>
              </a:rPr>
              <a:t>ALTER ANY EVENT SESSION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Session เป็น server object — ต้องรันใน context </a:t>
            </a:r>
            <a:r>
              <a:rPr sz="1500" b="0">
                <a:latin typeface="Consolas"/>
                <a:cs typeface="Consolas"/>
              </a:rPr>
              <a:t>master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Lab 9 — Query Performance, Deadlocks &amp; Long-Running Queries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แล็บนี้มี </a:t>
            </a:r>
            <a:r>
              <a:rPr sz="1500" b="1">
                <a:latin typeface="Leelawadee UI"/>
                <a:cs typeface="Leelawadee UI"/>
              </a:rPr>
              <a:t>3 Exercise</a:t>
            </a:r>
            <a:r>
              <a:rPr sz="1500" b="0">
                <a:latin typeface="Leelawadee UI"/>
                <a:cs typeface="Leelawadee UI"/>
              </a:rPr>
              <a:t> — บน AdventureWorks2025, สิทธิ์ </a:t>
            </a:r>
            <a:r>
              <a:rPr sz="1500" b="0">
                <a:latin typeface="Consolas"/>
                <a:cs typeface="Consolas"/>
              </a:rPr>
              <a:t>ALTER ANY EVENT SESSION</a:t>
            </a:r>
            <a:r>
              <a:rPr sz="1500" b="0">
                <a:latin typeface="Leelawadee UI"/>
                <a:cs typeface="Leelawadee UI"/>
              </a:rPr>
              <a:t>, SSMS → Management → Extended Events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Exercise 1: </a:t>
            </a:r>
            <a:r>
              <a:rPr sz="1500" b="0">
                <a:latin typeface="Consolas"/>
                <a:cs typeface="Consolas"/>
              </a:rPr>
              <a:t>XE_SlowQueries</a:t>
            </a:r>
            <a:r>
              <a:rPr sz="1500" b="0">
                <a:latin typeface="Leelawadee UI"/>
                <a:cs typeface="Leelawadee UI"/>
              </a:rPr>
              <a:t> — predicate </a:t>
            </a:r>
            <a:r>
              <a:rPr sz="1500" b="0">
                <a:latin typeface="Consolas"/>
                <a:cs typeface="Consolas"/>
              </a:rPr>
              <a:t>duration &gt; 500000</a:t>
            </a:r>
            <a:r>
              <a:rPr sz="1500" b="0">
                <a:latin typeface="Leelawadee UI"/>
                <a:cs typeface="Leelawadee UI"/>
              </a:rPr>
              <a:t> µs (500 ms) + </a:t>
            </a:r>
            <a:r>
              <a:rPr sz="1500" b="0">
                <a:latin typeface="Consolas"/>
                <a:cs typeface="Consolas"/>
              </a:rPr>
              <a:t>ring_buffer</a:t>
            </a:r>
            <a:r>
              <a:rPr sz="1500" b="0">
                <a:latin typeface="Leelawadee UI"/>
                <a:cs typeface="Leelawadee UI"/>
              </a:rPr>
              <a:t> → อ่าน duration/cpu_time/logical_reads ด้วย XQuery ("Profiler แบบเบา")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Exercise 2: </a:t>
            </a:r>
            <a:r>
              <a:rPr sz="1500" b="0">
                <a:latin typeface="Consolas"/>
                <a:cs typeface="Consolas"/>
              </a:rPr>
              <a:t>XE_DeadlockMonitor</a:t>
            </a:r>
            <a:r>
              <a:rPr sz="1500" b="0">
                <a:latin typeface="Leelawadee UI"/>
                <a:cs typeface="Leelawadee UI"/>
              </a:rPr>
              <a:t> — ทำ deadlock 2 หน้าต่าง → </a:t>
            </a:r>
            <a:r>
              <a:rPr sz="1500" b="1">
                <a:latin typeface="Leelawadee UI"/>
                <a:cs typeface="Leelawadee UI"/>
              </a:rPr>
              <a:t>error 1205</a:t>
            </a:r>
            <a:r>
              <a:rPr sz="1500" b="0">
                <a:latin typeface="Leelawadee UI"/>
                <a:cs typeface="Leelawadee UI"/>
              </a:rPr>
              <a:t> → ดึง Deadlock Graph จาก </a:t>
            </a:r>
            <a:r>
              <a:rPr sz="1500" b="0">
                <a:latin typeface="Consolas"/>
                <a:cs typeface="Consolas"/>
              </a:rPr>
              <a:t>xml_deadlock_report</a:t>
            </a:r>
            <a:r>
              <a:rPr sz="1500" b="0">
                <a:latin typeface="Leelawadee UI"/>
                <a:cs typeface="Leelawadee UI"/>
              </a:rPr>
              <a:t> + Watch Live Data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Exercise 3: </a:t>
            </a:r>
            <a:r>
              <a:rPr sz="1500" b="0">
                <a:latin typeface="Consolas"/>
                <a:cs typeface="Consolas"/>
              </a:rPr>
              <a:t>XE_LongRunning</a:t>
            </a:r>
            <a:r>
              <a:rPr sz="1500" b="0">
                <a:latin typeface="Leelawadee UI"/>
                <a:cs typeface="Leelawadee UI"/>
              </a:rPr>
              <a:t> — </a:t>
            </a:r>
            <a:r>
              <a:rPr sz="1500" b="0">
                <a:latin typeface="Consolas"/>
                <a:cs typeface="Consolas"/>
              </a:rPr>
              <a:t>rpc_completed</a:t>
            </a:r>
            <a:r>
              <a:rPr sz="1500" b="0">
                <a:latin typeface="Leelawadee UI"/>
                <a:cs typeface="Leelawadee UI"/>
              </a:rPr>
              <a:t> + </a:t>
            </a:r>
            <a:r>
              <a:rPr sz="1500" b="0">
                <a:latin typeface="Consolas"/>
                <a:cs typeface="Consolas"/>
              </a:rPr>
              <a:t>sql_batch_completed</a:t>
            </a:r>
            <a:r>
              <a:rPr sz="1500" b="0">
                <a:latin typeface="Leelawadee UI"/>
                <a:cs typeface="Leelawadee UI"/>
              </a:rPr>
              <a:t> &gt; 3 s กรอง database_id → </a:t>
            </a:r>
            <a:r>
              <a:rPr sz="1500" b="0">
                <a:latin typeface="Consolas"/>
                <a:cs typeface="Consolas"/>
              </a:rPr>
              <a:t>event_file</a:t>
            </a:r>
            <a:r>
              <a:rPr sz="1500" b="0">
                <a:latin typeface="Leelawadee UI"/>
                <a:cs typeface="Leelawadee UI"/>
              </a:rPr>
              <a:t> + อ่านด้วย </a:t>
            </a:r>
            <a:r>
              <a:rPr sz="1500" b="0">
                <a:latin typeface="Consolas"/>
                <a:cs typeface="Consolas"/>
              </a:rPr>
              <a:t>sys.fn_xe_file_target_read_file</a:t>
            </a:r>
            <a:r>
              <a:rPr sz="1500" b="0">
                <a:latin typeface="Leelawadee UI"/>
                <a:cs typeface="Leelawadee UI"/>
              </a:rPr>
              <a:t>; Step 3 (SQL Server 2025) ใช้ </a:t>
            </a:r>
            <a:r>
              <a:rPr sz="1500" b="0">
                <a:latin typeface="Consolas"/>
                <a:cs typeface="Consolas"/>
              </a:rPr>
              <a:t>AUTO_STOP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จบแล็บ: Wrap-up 3 คำถาม + Cleanup (STOP/DROP session ทุกตัว)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Exercise 1–2: SQL Server 2019+ · Exercise 3 Step 3 (</a:t>
            </a:r>
            <a:r>
              <a:rPr sz="1500" b="0">
                <a:latin typeface="Consolas"/>
                <a:cs typeface="Consolas"/>
              </a:rPr>
              <a:t>AUTO_STOP</a:t>
            </a:r>
            <a:r>
              <a:rPr sz="1500" b="0">
                <a:latin typeface="Leelawadee UI"/>
                <a:cs typeface="Leelawadee UI"/>
              </a:rPr>
              <a:t>): </a:t>
            </a:r>
            <a:r>
              <a:rPr sz="1500" b="1">
                <a:latin typeface="Leelawadee UI"/>
                <a:cs typeface="Leelawadee UI"/>
              </a:rPr>
              <a:t>SQL Server 2025 (17.x) เท่านั้น</a:t>
            </a:r>
            <a:r>
              <a:rPr sz="1500" b="0">
                <a:latin typeface="Leelawadee UI"/>
                <a:cs typeface="Leelawadee UI"/>
              </a:rPr>
              <a:t> — บนรุ่นเก่าจะ error syntax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ทางเลือกสำหรับรุ่นเก่า: ข้าม Step 3 ของ Exercise 3 — Step 1–2 (event_file) ยังทำได้ครบบน 2019+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สรุปโมดูล — สิ่งที่ต้องจำ + ทางต่อไป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XEvents คือมาตรฐาน tracing เดียวของ SQL Server ปัจจุบัน — SQL Profiler/Trace deprecated ห้ามใช้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Overhead ต่ำเพราะ 2 อย่าง: </a:t>
            </a:r>
            <a:r>
              <a:rPr sz="1500" b="1">
                <a:latin typeface="Leelawadee UI"/>
                <a:cs typeface="Leelawadee UI"/>
              </a:rPr>
              <a:t>Early Filtering</a:t>
            </a:r>
            <a:r>
              <a:rPr sz="1500" b="0">
                <a:latin typeface="Leelawadee UI"/>
                <a:cs typeface="Leelawadee UI"/>
              </a:rPr>
              <a:t> (predicate ก่อนเก็บ) + </a:t>
            </a:r>
            <a:r>
              <a:rPr sz="1500" b="1">
                <a:latin typeface="Leelawadee UI"/>
                <a:cs typeface="Leelawadee UI"/>
              </a:rPr>
              <a:t>Asynchronous</a:t>
            </a:r>
            <a:r>
              <a:rPr sz="1500" b="0">
                <a:latin typeface="Leelawadee UI"/>
                <a:cs typeface="Leelawadee UI"/>
              </a:rPr>
              <a:t> dispatch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เลือก Target ตามงาน: </a:t>
            </a:r>
            <a:r>
              <a:rPr sz="1500" b="0">
                <a:latin typeface="Consolas"/>
                <a:cs typeface="Consolas"/>
              </a:rPr>
              <a:t>ring_buffer</a:t>
            </a:r>
            <a:r>
              <a:rPr sz="1500" b="0">
                <a:latin typeface="Leelawadee UI"/>
                <a:cs typeface="Leelawadee UI"/>
              </a:rPr>
              <a:t> ดูสด / </a:t>
            </a:r>
            <a:r>
              <a:rPr sz="1500" b="0">
                <a:latin typeface="Consolas"/>
                <a:cs typeface="Consolas"/>
              </a:rPr>
              <a:t>event_file</a:t>
            </a:r>
            <a:r>
              <a:rPr sz="1500" b="0">
                <a:latin typeface="Leelawadee UI"/>
                <a:cs typeface="Leelawadee UI"/>
              </a:rPr>
              <a:t> เก็บจริง / </a:t>
            </a:r>
            <a:r>
              <a:rPr sz="1500" b="0">
                <a:latin typeface="Consolas"/>
                <a:cs typeface="Consolas"/>
              </a:rPr>
              <a:t>histogram</a:t>
            </a:r>
            <a:r>
              <a:rPr sz="1500" b="0">
                <a:latin typeface="Leelawadee UI"/>
                <a:cs typeface="Leelawadee UI"/>
              </a:rPr>
              <a:t> นับกลุ่ม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Consolas"/>
                <a:cs typeface="Consolas"/>
              </a:rPr>
              <a:t>system_health</a:t>
            </a:r>
            <a:r>
              <a:rPr sz="1500" b="0">
                <a:latin typeface="Leelawadee UI"/>
                <a:cs typeface="Leelawadee UI"/>
              </a:rPr>
              <a:t> คือแหล่งข้อมูลดิบที่มีอยู่แล้ว — เปิดดูก่อนสร้าง session ใหม่เสมอ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2025: Time-bound session (</a:t>
            </a:r>
            <a:r>
              <a:rPr sz="1500" b="0">
                <a:latin typeface="Consolas"/>
                <a:cs typeface="Consolas"/>
              </a:rPr>
              <a:t>AUTO_STOP</a:t>
            </a:r>
            <a:r>
              <a:rPr sz="1500" b="0">
                <a:latin typeface="Leelawadee UI"/>
                <a:cs typeface="Leelawadee UI"/>
              </a:rPr>
              <a:t>) กันลืมปิด — โมดูลถัดไป: Module 10 Monitoring &amp; Baselines (DMVs)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