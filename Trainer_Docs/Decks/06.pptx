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เปิดโมดูลด้วยคำถามชวนคิด: "Report ช้าลงทั้งที่ index มีอยู่ครบแล้ว — ปัญหาอยู่ที่ index หรือที่สิ่งที่ Optimizer 'เชื่อ' เกี่ยวกับข้อมูล?" `Ref: Module_06_Statistics_Index_Internals/README.md`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แจ้งผู้เรียนงบเวลาและจำนวน Exercise ตาม Slide Spec §4.2 และย้ำว่าแล็บท้ายโมดูลเชื่อมกับ demo ในคาบโดยตรง `Ref: Module_06_Statistics_Index_Internals/Labs/README.md` · หมายเหตุผู้สอน: ตารางเวลา `Trainer_Docs/Course_Guide_4Days.md` วันที่ 2 (บรรทัด 85–91) ไม่มีช่อง บทที่ 6 แม้ตาราง mapping แล็บ `:131` ระบุ day 2 — ต้องแก้ guide ก่อนจัดอบรมจริง</a:t>
            </a:r>
          </a:p>
          <a:p>
            <a:r>
              <a:t>จุดเพิ่มเติมที่ย่อออกจากสไลด์: Section 2 — Index Internals | Section 3 — Columnstore Indexes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การอ่าน execution plan เบื้องต้น (Estimated vs Actual Rows) และความหมายคำว่า DMV — ลิงก์ glossary กลาง `Trainer_Docs/Glossary.md` (ยังไม่มีไฟล์ ต้องสร้างตามเฟส 0 ก่อนใช้เด็คนี้) `Ref: Module_06_Statistics_Index_Internals/Sections/01_Statistics_Cardinality_Estimation/README.md` · **ต้องเขียนเนื้อหาเพิ่ม:** ตัวอย่างตัวเลข histogram จริงจาก AdventureWorks2025 ยังไม่มีใน README (section เป็น outline 93 บรรทัด)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เน้นว่าทางแก้ทั้งหมดเป็น "แผงประกัน" ไม่ใช่ค่า default — ต้องมีหลักฐานว่า New CE แย่กว่าจริงจาก Query Store ก่อนใช้ `Ref: Module_06_Statistics_Index_Internals/Sections/01_Statistics_Cardinality_Estimation/README.md` · **ต้องเขียนเนื้อหาเพิ่ม:** ส่วน CE Feedback for Expressions 2025 มีแค่ 1 bullet ใน module README:39 — ต้องขยายตัวอย่าง expression (`DATEDIFF`/`CONVERT` บน predicate) 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โยงกับ demo ถัดไป: เดี๋ยวเราจะสร้าง skew จริง 50,000 แถวแล้วดูค่า estimated เพี้ยนหน้าตาเป็นอย่างไร `Ref: Module_06_Statistics_Index_Internals/Sections/01_Statistics_Cardinality_Estimation/README.md` (หัวข้อ 2.4–2.5 ครบใน README แล้ว)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**DBCC** = Database Console Command; **CROSS APPLY** = เรียก table-valued function ต่อทีละแถว (แล็บ Exercise 3 ใช้กับ `sys.dm_db_stats_properties`) `Ref: Module_06_Statistics_Index_Internals/Sections/01_Statistics_Cardinality_Estimation/Scripts/07_Show_Statistics_Detail.sql` · **Script:** `07_Show_Statistics_Detail.sql`, `03_Check_Stale_Stats.sql`, `04_Stale_Statistics.sql` (โฟลเดอร์เดียวกัน) — ทั้ง 3 ไฟล์ยังไม่มี header `MinVersion:` ต้องเติมตามเฟส 0 ก่อนประกอบเด็ค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โครงสร้าง Page/Data File จาก Module 3 — ลิงก์ glossary กลาง `Trainer_Docs/Glossary.md` (ยังไม่มีไฟล์ ตามเฟส 0) `Ref: Module_06_Statistics_Index_Internals/Sections/02_Index_Internals/README.md` · **ต้องเขียนเนื้อหาเพิ่ม:** ตัวอย่าง index depth/จำนวน page จริงจาก AdventureWorks2025 (เช่น `sys.dm_db_database_page_allocations`) ยังไม่มีใน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INCLUDE ไม่ใช่ "ใส่ให้ครบทุก column" — เพิ่มเท่าที่ plan ใช้จริง เพราะทุก column ใน index คือภาระ write `Ref: Module_06_Statistics_Index_Internals/Sections/02_Index_Internals/README.md` (หัวข้อ 3.2–3.3, 3.6)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อุปสงค์-อุปทานของ index: การเพิ่ม index 1 ตัวคือการเก็บภาษี write ทุกครั้ง — ทั้งสองฝั่งต้องตัดสินจาก workload จริง ไม่ใช่คำแนะนำเดี่ยว `Ref: Module_06_Statistics_Index_Internals/Sections/02_Index_Internals/README.md` + `Labs/README.md` (Exercise 2) · **Script:** `Scripts/01_Missing_Index.sql`, `Scripts/05_Check_Bad_Indexes.sql`, `Scripts/10_Missing_Indexes_Advantage.sql`, `Scripts/02_Index_Analysis_QueryStore.sql` · **ต้องเขียนเนื้อหาเพิ่ม:** แนวคิดวิเคราะห์ missing index ผ่าน Query Store (ไฟล์ 02) ยังไม่มีใน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**INCLUDE** = ต่อ column ที่ tail ของ index เพื่อ covering; **STRING_AGG ... WITHIN GROUP** (Exercise 2) = รวมค่าหลายแถวเป็น string พร้อมเรียงลำดับ `Ref: Module_06_Statistics_Index_Internals/Labs/README.md` (Exercise 1) · **Script:** `Module_06_Statistics_Index_Internals/Sections/02_Index_Internals/Scripts/01_Missing_Index.sql`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Rowstore/B-Tree จาก section 2 ของโมดูลนี้ + ลิงก์ glossary กลาง `Trainer_Docs/Glossary.md` (ยังไม่มีไฟล์ ตามเฟส 0) `Ref: Module_06_Statistics_Index_Internals/Sections/03_Columnstore_Indexes/README.md` · **ต้องเขียนเนื้อหาเพิ่ม:** ฟีเจอร์ 2025 (ordered nonclustered columnstore, ordered CCI build online, batch mode กับ built-in functions) มีแค่ 3 bullets ใน module README:43–45 — ยังไม่อยู่ใน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อธิบายด้วยแอนะลอจี: compressed segments เป็น "หนังสือที่พิมพ์แล้ว" — แก้ไม่ได้ เพิ่มใหม่เข้า deltastore และลบด้วยการขีดฆ่า `Ref: Module_06_Statistics_Index_Internals/Sections/03_Columnstore_Indexes/README.md` (หัวข้อ 4.2) · **ต้องเขียนเนื้อหาเพิ่ม:** section นี้บางสุดของโมดูล (27 บรรทัด — ไม่มีบล็อก ```sql ไม่มี Scripts/ ไม่มี "ตรวจความเข้าใจ") ต้องเพิ่ม demo ด้วย `sys.dm_db_column_store_row_group_physical_stats` + สร้าง Scripts/ ตามช่องว่างในแผนแม่บท 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เกณฑ์ตัดสินใจคือ "รูปแบบการอ่าน" ไม่ใช่ขนาดตารางเพียงอย่างเดียว — ถามว่า query กวาดหลายล้านแถวเพื่อ aggregate หรือหาแถวเดียว `Ref: Module_06_Statistics_Index_Internals/README.md` (หัวข้อ 7.2) + `Sections/03_Columnstore_Indexes/README.md` · **ต้องเขียนเนื้อหาเพิ่ม:** ข้อจำกัดของ Columnstore ฉบับเต็ม (feature limitations) ยังไม่มีใน repo — ต้องเขียน section เพิ่ม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เฉลยย่อใน notes: Q1 stale stats → `UPDATE STATISTICS ... WITH FULLSCAN`; Q2 ขาด INCLUDE → Covering Index; Q3 ≈1 ล้านแถว / Tuple Mover; Q4 DMV ไม่คิด INCLUDE/ORDER ชี้ตารางซ้ำ และไม่รู้ trade-off write `Ref: Module_06_Statistics_Index_Internals/Sections/*/README.md` + `Labs/README.md` (คำถามท้ายแล็บ) · **ต้องเขียนเนื้อหาเพิ่ม:** quiz bank รายโมดูลยังไม่มีไฟล์จริงใน repo (เฟส 3 ของแผน) — ชุดนี้เป็นฐานเริ่มต้น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**CROSS APPLY** (Ex 3 Step 1) = เรียก function ต่อทีละแถว; **GO 100** (Ex 3 Step 2) = รัน batch ซ้ำ 100 รอบเพื่อ seed ข้อมูล; **LEFT JOIN** (Ex 2) = เก็บ index ที่ยังไม่มีสถิติใช้มาแสดงด้วย `Ref: Module_06_Statistics_Index_Internals/Labs/README.md` · **Script:** `Sections/01_Statistics_Cardinality_Estimation/Scripts/` (3 ไฟล์) + `Sections/02_Index_Internals/Scripts/` (7 ไฟล์) — ทุกไฟล์ต้องเติม header `MinVersion:` ตามเฟส 0 ก่อนขึ้นเด็คจริง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ปิดด้วยการโยงไปแล็บ: เดินไปที่ LAB 6 เลย — ทุก Exercise ของวันนี้ใช้แนวคิดจาก 3 sections ครบ `Ref: Module_06_Statistics_Index_Internals/README.md` + `Trainer_Docs/Course_Guide_4Days.md` (บทที่ 7, วันที่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6: Statistics &amp; Index Internals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Module 6 — Statistics &amp; Index Internals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Statistics · Cardinality Estimation · Index Internals · Columnstore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หลักสูตร Microsoft SQL Server Performance Tuning (4 วัน / 24 ชม.) — บทที่ 6/11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ผู้สอน: Aj. Phakkhaphong 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โรดแมปและงบเวลาโมดูล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⏱ </a:t>
            </a:r>
            <a:r>
              <a:rPr sz="1500" b="1">
                <a:latin typeface="Leelawadee UI"/>
                <a:cs typeface="Leelawadee UI"/>
              </a:rPr>
              <a:t>งบเวลาโมดูล: ≈117 นาที</a:t>
            </a:r>
            <a:r>
              <a:rPr sz="1500" b="0">
                <a:latin typeface="Leelawadee UI"/>
                <a:cs typeface="Leelawadee UI"/>
              </a:rPr>
              <a:t> (ประมาณจากเพดาน 7.3 นาที/สไลด์ × 16 สไลด์ — ยังไม่มีงบทางการ ต้องเทียบเวลาจริงจากการทดสอบผู้เรียนเฟส 4) · 🧪 </a:t>
            </a:r>
            <a:r>
              <a:rPr sz="1500" b="1">
                <a:latin typeface="Leelawadee UI"/>
                <a:cs typeface="Leelawadee UI"/>
              </a:rPr>
              <a:t>LAB 6 — 4 Exercise</a:t>
            </a:r>
            <a:r>
              <a:rPr sz="1500" b="0">
                <a:latin typeface="Leelawadee UI"/>
                <a:cs typeface="Leelawadee UI"/>
              </a:rPr>
              <a:t> (จาก 40 ของหลักสูตร): Missing/Unused Index + วัดผลก่อน-หลัง + Stale Statistics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Section 1 — Statistics &amp; Cardinality Estimation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Statistics คืออะไร — ข้างในมี 3 ส่วน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Statistics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object ที่ Optimizer ใช้อ่านการกระจายตัว (Distribution) ของ column เพื่อ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ประมาณจำนวนแถว (Cardinality Estimation)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ตัดสินใจ 3 เรื่อง: แถวโดยประมาณ · Index Seek vs Index Scan · Join Algorithm (Nested Loops / Hash / Merge)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Header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เวลา update ล่าสุด + Rows Sampled → ใช้ตรวจว่า stats เก่าแค่ไหน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Density Vector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ค่า 1/Distinct Values → ใช้กับ GROUP BY และ multi-column join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Histogram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สูงสุด 200 Steps; คอลัมน์สำคัญ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RANGE_HI_KEY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EQ_ROWS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RANGE_ROWS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Stats ไม่ตรงจริง (Stale) → CE ผิด → Plan แย่ → Query ช้า</a:t>
            </a:r>
          </a:p>
        </p:txBody>
      </p:sp>
      <p:pic>
        <p:nvPicPr>
          <p:cNvPr id="4" name="Picture 3" descr="statistics-structure-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Cardinality Estimation — Legacy CE vs New 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ฝั่งซ้าย — Legacy CE (&lt; 2014):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สมมติ Independence (column อิสระต่อกัน) + Uniformity (กระจายสม่ำเสมอ) + Containment แบบ "มีอยู่จริงเท่านั้น"; ไม่เข้าใจ Ascending Key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Underestimation: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Spill to TempDB / เลือก Nested Loops กับตารางใหญ่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ทางแก้เมื่อ CE ผิด: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LEGACY_CARDINALITY_ESTIMATION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(DB scoped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USE HINT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Query Store Hint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sp_query_store_set_hints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2022+) ·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CE Feedback for Expressions (2025)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ฝั่งขวา — New CE (2014+):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เข้าใจ Correlation ระหว่าง column · รองรับ Skewed Data · รองรับข้อมูลที่ยังไม่มี (Containment) · เข้าใจ Ascending Key ที่มากกว่า stats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Overestimation: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Memory Grant บวมเกินจำเป็น / เลือก Hash Join ที่ไม่จำเป็น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Stale Statistics และการจัดการ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modification_counter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(จาก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sys.dm_db_stats_properties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= จำนวนแถวที่เปลี่ยนนับจากการ update ล่าสุด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Threshold เก่า (≤ 2014):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20% + 500 rows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ตารางใหญ่ต้องเปลี่ยนเยอะมากถึงจะ update;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2016+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Dynamic Threshold ตามขนาดตาราง → update ถี่ขึ้น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อาการ stats เก่า: Plan เปลี่ยน Seek → Scan · Underestimation · Memory/TempDB Spill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Auto Update สองโหมด: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Synchronous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(default — query รอ update ก่อนแล้วค่อยรัน) vs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Asynchronous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(query รันด้วย stats เก่าไปก่อน, background อัปเดตตามหลัง)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Manual: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UPDATE STATISTICS ... WITH FULLSCAN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หลัง Bulk Load หรือตามรอบ maintenance (เช่น Weekly) + Auto Create ครอบ column ที่ถูก filter แต่ยังไม่มี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Code Lab — อ่าน Statistics จริงและเห็นผลของ Stale Stats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STEP 1: </a:t>
            </a:r>
            <a:r>
              <a:rPr sz="1600" b="0">
                <a:latin typeface="Consolas"/>
                <a:cs typeface="Consolas"/>
              </a:rPr>
              <a:t>DBCC SHOW_STATISTICS</a:t>
            </a:r>
            <a:r>
              <a:rPr sz="1600" b="0">
                <a:latin typeface="Leelawadee UI"/>
                <a:cs typeface="Leelawadee UI"/>
              </a:rPr>
              <a:t> — อ่าน Header / Density Vector / Histogram ของ stats จริงบน AdventureWorks2025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STEP 2: ตรวจรายการ stats เก่าด้วย </a:t>
            </a:r>
            <a:r>
              <a:rPr sz="1600" b="0">
                <a:latin typeface="Consolas"/>
                <a:cs typeface="Consolas"/>
              </a:rPr>
              <a:t>sys.dm_db_stats_properties</a:t>
            </a:r>
            <a:r>
              <a:rPr sz="1600" b="0">
                <a:latin typeface="Leelawadee UI"/>
                <a:cs typeface="Leelawadee UI"/>
              </a:rPr>
              <a:t> + </a:t>
            </a:r>
            <a:r>
              <a:rPr sz="1600" b="0">
                <a:latin typeface="Consolas"/>
                <a:cs typeface="Consolas"/>
              </a:rPr>
              <a:t>STATS_DATE</a:t>
            </a:r>
            <a:r>
              <a:rPr sz="1600" b="0">
                <a:latin typeface="Leelawadee UI"/>
                <a:cs typeface="Leelawadee UI"/>
              </a:rPr>
              <a:t> (แนว Glenn Berry SQL Server 2025 Diagnostic Queries, Query 77)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STEP 3: สร้างตาราง + index แล้วยัดข้อมูล skew 50,000 แถว → เทียบ </a:t>
            </a:r>
            <a:r>
              <a:rPr sz="1600" b="1">
                <a:latin typeface="Leelawadee UI"/>
                <a:cs typeface="Leelawadee UI"/>
              </a:rPr>
              <a:t>Estimated vs Actual rows</a:t>
            </a:r>
            <a:r>
              <a:rPr sz="1600" b="0">
                <a:latin typeface="Leelawadee UI"/>
                <a:cs typeface="Leelawadee UI"/>
              </a:rPr>
              <a:t> (เปิด Ctrl+M) ก่อน/หลัง </a:t>
            </a:r>
            <a:r>
              <a:rPr sz="1600" b="0">
                <a:latin typeface="Consolas"/>
                <a:cs typeface="Consolas"/>
              </a:rPr>
              <a:t>UPDATE STATISTICS ... WITH FULLSCAN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⚠ error ที่พบได้: </a:t>
            </a:r>
            <a:r>
              <a:rPr sz="1600" b="0">
                <a:latin typeface="Consolas"/>
                <a:cs typeface="Consolas"/>
              </a:rPr>
              <a:t>Invalid object name 'AdventureWorks2025'</a:t>
            </a:r>
            <a:r>
              <a:rPr sz="1600" b="0">
                <a:latin typeface="Leelawadee UI"/>
                <a:cs typeface="Leelawadee UI"/>
              </a:rPr>
              <a:t> (DB ยังไม่ restore) · Msg 297 permission (</a:t>
            </a:r>
            <a:r>
              <a:rPr sz="1600" b="0">
                <a:latin typeface="Consolas"/>
                <a:cs typeface="Consolas"/>
              </a:rPr>
              <a:t>VIEW DATABASE STATE</a:t>
            </a:r>
            <a:r>
              <a:rPr sz="1600" b="0">
                <a:latin typeface="Leelawadee UI"/>
                <a:cs typeface="Leelawadee UI"/>
              </a:rPr>
              <a:t> ไม่พอ) · </a:t>
            </a:r>
            <a:r>
              <a:rPr sz="1600" b="1">
                <a:latin typeface="Leelawadee UI"/>
                <a:cs typeface="Leelawadee UI"/>
              </a:rPr>
              <a:t>รุ่นขั้นต่ำ: SQL Server 2019+ (แนะนำ 2025 17.x)</a:t>
            </a:r>
            <a:r>
              <a:rPr sz="1600" b="0">
                <a:latin typeface="Leelawadee UI"/>
                <a:cs typeface="Leelawadee UI"/>
              </a:rPr>
              <a:t> ตาม Prerequisites ของแล็บ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Heap vs B-Tree — โครงสร้างการจัดเก็บข้อมูล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Heap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ตารางไม่มี Clustered Index — เข้าถึงแถวด้วย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RID (Row Identifier)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; เหมาะ Staging Table ที่เน้น Insert Speed แต่ไม่เหมาะกับการ Search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B-Tree (Balanced Tree)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Root Node → Intermediate Levels → Leaf Nodes — ทุกเส้นทางจาก root ยาวเท่ากัน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Clustered Index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Leaf เก็บ Data Rows จริง ·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Nonclustered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Leaf เก็บ Pointer/Locator กลับไปหาแถว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ผลต่อ tuning: NC Index ที่ครอบไม่ครบ column ที่ query ต้องใช้ →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Key Lookup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ที่แพง — จุดเชื่อมไป Covering Index (สไลด์ถัดไป)</a:t>
            </a:r>
          </a:p>
        </p:txBody>
      </p:sp>
      <p:pic>
        <p:nvPicPr>
          <p:cNvPr id="4" name="Picture 3" descr="heap-vs-b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ออกแบบ Index ให้ดี — Key, Covering, Filtered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Clustered Key 4 คุณสมบัติ: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Unique / Narrow / Static / Ever-increasing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หลีกเลี่ยง Uniqueifier 4 bytes, Page Split และ Random I/O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Covering Index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INCLUDE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column ที่ SELECT ต้องใช้ลง Leaf Level → กำจัด Key Lookup ออกจาก plan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Filtered Index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มีเงื่อนไข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WHERE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index เล็กลง เร็วขึ้นเฉพาะ Subset ของข้อมูล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Sort Order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ORDER BY Col1 ASC, Col2 DESC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ออกแบบ key ตรงทิศเพื่อกำจัด Sort Operator (อ่านย้อนได้เฉพาะทิศเดียวทั้ง index)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ตัวเลือก Production: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ONLINE = 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(Enterprise),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DATA_COMPRESSION = PAGE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Resumable Online Index Rebuild (2019+)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เพื่อคุม Maintenance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Missing Index ที่ควรเติม vs Index ขยะที่ควรตัด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ฝั่งซ้าย — Missing Index (เติมอย่างมีวิจารณญาณ):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อ่านจาก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sys.dm_db_missing_index_details/_groups/_group_stats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benefit_score และแนว "Index Advantage" (Glenn Berry Query 72)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(ต่อ): Query Store ยืนยันด้วย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count_executions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avg_duration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ว่า workload จริงใช้จริง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(ระวัง): DMV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ไม่คิด INCLUDE/ORDER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และชี้ตารางเดิมซ้ำหลายแถว — ต้อง review และรวม (consolidate) ก่อน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CREATE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ฝั่งขวา — Index ขยะ (ตัดหลังพิสูจน์):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Unused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total_reads = 0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แต่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total_writes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สูง → ผู้สมัคร DROP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Duplicate (key เหมือนเป๊ะ) / Overlapping (เป็น subset ของ index อื่น)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(กฎ): ยืนยันไม่ใช่ PK/Unique constraint และไม่ใช่ index ที่ batch รายเดือนใช้ + baseline ยาว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≥ 1 business cycle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ก่อน DROP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Code Lab — Missing Index → Covering Index วัดผลก่อน-หลัง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STEP 1: รัน query ปัญหาเปิด </a:t>
            </a:r>
            <a:r>
              <a:rPr sz="1600" b="1">
                <a:latin typeface="Leelawadee UI"/>
                <a:cs typeface="Leelawadee UI"/>
              </a:rPr>
              <a:t>Ctrl+M</a:t>
            </a:r>
            <a:r>
              <a:rPr sz="1600" b="0">
                <a:latin typeface="Leelawadee UI"/>
                <a:cs typeface="Leelawadee UI"/>
              </a:rPr>
              <a:t> + </a:t>
            </a:r>
            <a:r>
              <a:rPr sz="1600" b="0">
                <a:latin typeface="Consolas"/>
                <a:cs typeface="Consolas"/>
              </a:rPr>
              <a:t>SET STATISTICS IO, TIME ON</a:t>
            </a:r>
            <a:r>
              <a:rPr sz="1600" b="0">
                <a:latin typeface="Leelawadee UI"/>
                <a:cs typeface="Leelawadee UI"/>
              </a:rPr>
              <a:t> → เห็น Scan + </a:t>
            </a:r>
            <a:r>
              <a:rPr sz="1600" b="1">
                <a:latin typeface="Leelawadee UI"/>
                <a:cs typeface="Leelawadee UI"/>
              </a:rPr>
              <a:t>Missing Index (Impact ~99%)</a:t>
            </a:r>
            <a:r>
              <a:rPr sz="1600" b="0">
                <a:latin typeface="Leelawadee UI"/>
                <a:cs typeface="Leelawadee UI"/>
              </a:rPr>
              <a:t> จาก green text ของ SSMS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STEP 2: สร้าง </a:t>
            </a:r>
            <a:r>
              <a:rPr sz="1600" b="0">
                <a:latin typeface="Consolas"/>
                <a:cs typeface="Consolas"/>
              </a:rPr>
              <a:t>IX_Person_LastName_FirstName_cover ON Person.Person (LastName, FirstName) INCLUDE (BusinessEntityID)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STEP 3: รันซ้ำวัดผล — Scan → </a:t>
            </a:r>
            <a:r>
              <a:rPr sz="1600" b="1">
                <a:latin typeface="Leelawadee UI"/>
                <a:cs typeface="Leelawadee UI"/>
              </a:rPr>
              <a:t>Index Seek ไม่มี Key Lookup</a:t>
            </a:r>
            <a:r>
              <a:rPr sz="1600" b="0">
                <a:latin typeface="Leelawadee UI"/>
                <a:cs typeface="Leelawadee UI"/>
              </a:rPr>
              <a:t>, logical reads ลดหลายเท่าถึงสิบเท่า; ระวังกรณีดึงหลายพันแถว Key Lookup อาจแพงกว่า Scan — ตัดสินจากผลจริง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⚠ error ที่พบได้: </a:t>
            </a:r>
            <a:r>
              <a:rPr sz="1600" b="0">
                <a:latin typeface="Consolas"/>
                <a:cs typeface="Consolas"/>
              </a:rPr>
              <a:t>Invalid object name 'Person.Person'</a:t>
            </a:r>
            <a:r>
              <a:rPr sz="1600" b="0">
                <a:latin typeface="Leelawadee UI"/>
                <a:cs typeface="Leelawadee UI"/>
              </a:rPr>
              <a:t> (ไม่มี AdventureWorks2025) · permission CREATE/DROP INDEX ไม่พอ · </a:t>
            </a:r>
            <a:r>
              <a:rPr sz="1600" b="1">
                <a:latin typeface="Leelawadee UI"/>
                <a:cs typeface="Leelawadee UI"/>
              </a:rPr>
              <a:t>รุ่นขั้นต่ำ: SQL Server 2019+ (แนะนำ 2025 17.x)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Columnstore Index — Architecture: CCI vs NCCI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Column-oriented storage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อ่านเฉพาะ column ที่ query ต้องใช้ → ลด I/O มหาศาลใน scan ขนาดใหญ่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High Compression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~10x–100x (ตัวเลขจากเอกสาร section README — ห้ามขึ้น Stat Callout จนกว่า sign-off รันจริงบน 17.x)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Batch Mode Execution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~900 rows/batch แบบ vectorized → CPU efficiency สูงกว่า row-by-row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CCI (Clustered Columnstore)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primary storage ของตาราง — มาตรฐาน Fact Table ใน Data Warehouse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NCCI (Nonclustered Columnstore)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บน Rowstore table → Real-time Analytics (HTAP)</a:t>
            </a:r>
          </a:p>
        </p:txBody>
      </p:sp>
      <p:pic>
        <p:nvPicPr>
          <p:cNvPr id="4" name="Picture 3" descr="columnstore-inte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ข้างใน Columnstore — Rowgroup, Segment, Deltastore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Rowgroup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หน่วย logical ของแถว สูงสุดประมาณ 1 ล้านแถวต่อ Rowgroup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Segment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ข้อมูล 1 column ภายใน Rowgroup = หน่วยอ่านจาก disk (เลือก column น้อย = อ่าน segment น้อย)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Dictionary Encoding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ค่าซ้ำถูกแทนด้วย Reference ID → อีกชั้นของ compression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Deltastore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Insert/Update จำนวนน้อยพักในรูป Rowstore รอการบีบอัด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Tuple Mover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(background process) ย้าย Deltastore → Compressed Rowgroup ·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Deleted Bitmap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ติดตาม logical delete เพราะ compressed segment แก้ใส่ตรง ๆ ไม่ได้</a:t>
            </a:r>
          </a:p>
        </p:txBody>
      </p:sp>
      <p:pic>
        <p:nvPicPr>
          <p:cNvPr id="4" name="Picture 3" descr="columnstore-inte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เลือกอย่างไร — Rowstore vs Columnstore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ฝั่งซ้าย — Rowstore (B-Tree):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OLTP — point lookup/seek ทีละแถว, write ถี่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(ต่อ): ออกแบบ Narrow Key + Covering ตาม workload; update/delete ในที่ — ไม่มี deltastore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สรุปกลาง: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HTAP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NCCI คร่อมสองโลก — transactional บน rowstore + analytics บน columnstore ในตารางเดียว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ฝั่งขวา — Columnstore (CCI/NCCI):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DW/Analytical — scan ใหญ่, aggregation, compression สูง, Batch Mode เร่ง CPU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(ข้อจำกัด): update ผ่าน Deltastore + Deleted Rows → workload แก้ข้อมูลถี่ ๆ ต้องชั่งน้ำหนัก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(ของใหม่ใน 2025):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Ordered Nonclustered Columnstore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·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Ordered CCI build online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(คุณภาพ sort ดีขึ้น) ·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SHRINK ทำงานดีขึ้นเมื่อมี CCI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 Module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Q1: Query กรอง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Status = 1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ควรได้ 50,000 แถว แต่ Estimated Rows = 100 — วินิจฉัยว่าอะไรเสีย และแก้อย่างไร?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Q2: Index บน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(LastName)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มีอยู่แล้ว แต่ plan ยังมี Key Lookup — เพราะอะไร และจะออกแบบ index ใหม่อย่างไร?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Q3: หนึ่ง Rowgroup ของ Columnstore จุได้ประมาณกี่แถว และใครเป็นคนย้าย Deltastore → Compressed Rowgroup?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Q4: Missing Index DMV ขึ้น "Impact 99%" ให้ทันที — ทำไมยังต้อง review ก่อน CREATE จริง?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6 — Missing/Unused Index &amp; Statistics (4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 1 — Missing Index → Covering Index</a:t>
            </a:r>
            <a:r>
              <a:rPr sz="1500" b="0">
                <a:latin typeface="Leelawadee UI"/>
                <a:cs typeface="Leelawadee UI"/>
              </a:rPr>
              <a:t>: วัด logical reads ก่อน-หลัง (บล็อก expected ที่ </a:t>
            </a:r>
            <a:r>
              <a:rPr sz="1500" b="0">
                <a:latin typeface="Consolas"/>
                <a:cs typeface="Consolas"/>
              </a:rPr>
              <a:t>Labs/README.md:81</a:t>
            </a:r>
            <a:r>
              <a:rPr sz="1500" b="0">
                <a:latin typeface="Leelawadee UI"/>
                <a:cs typeface="Leelawadee UI"/>
              </a:rPr>
              <a:t> ยังต้อง normalize เป็นรูปแบบ `</a:t>
            </a:r>
            <a:r>
              <a:rPr sz="1500" b="1">
                <a:latin typeface="Leelawadee UI"/>
                <a:cs typeface="Leelawadee UI"/>
              </a:rPr>
              <a:t>Expected:</a:t>
            </a:r>
            <a:r>
              <a:rPr sz="1500" b="0">
                <a:latin typeface="Leelawadee UI"/>
                <a:cs typeface="Leelawadee UI"/>
              </a:rPr>
              <a:t>` ตามเฟส 0)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 2 — Unused/Duplicate Index</a:t>
            </a:r>
            <a:r>
              <a:rPr sz="1500" b="0">
                <a:latin typeface="Leelawadee UI"/>
                <a:cs typeface="Leelawadee UI"/>
              </a:rPr>
              <a:t>: วิเคราะห์ reads vs writes ก่อนตัดสินใจ DROP (สไตล์ Glenn Berry Query 71)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 3 — Stale Statistics</a:t>
            </a:r>
            <a:r>
              <a:rPr sz="1500" b="0">
                <a:latin typeface="Leelawadee UI"/>
                <a:cs typeface="Leelawadee UI"/>
              </a:rPr>
              <a:t>: จำลอง data skew + เทียบ estimated ก่อน/หลัง </a:t>
            </a:r>
            <a:r>
              <a:rPr sz="1500" b="0">
                <a:latin typeface="Consolas"/>
                <a:cs typeface="Consolas"/>
              </a:rPr>
              <a:t>UPDATE STATISTICS ... WITH FULLSCAN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 4 (Optional, SQL Server 2025)</a:t>
            </a:r>
            <a:r>
              <a:rPr sz="1500" b="0">
                <a:latin typeface="Leelawadee UI"/>
                <a:cs typeface="Leelawadee UI"/>
              </a:rPr>
              <a:t>: CE Feedback for Expressions (compat level 170) — </a:t>
            </a:r>
            <a:r>
              <a:rPr sz="1500" b="1">
                <a:latin typeface="Leelawadee UI"/>
                <a:cs typeface="Leelawadee UI"/>
              </a:rPr>
              <a:t>ทางเลือกสำหรับรุ่นเก่า: ข้ามไป Ex เทียบเท่าคือ Ex 3</a:t>
            </a:r>
            <a:r>
              <a:rPr sz="1500" b="0">
                <a:latin typeface="Leelawadee UI"/>
                <a:cs typeface="Leelawadee UI"/>
              </a:rPr>
              <a:t> ซึ่งสาธิตผลของ CE ต่อ plan ได้เช่นกัน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Environment: </a:t>
            </a:r>
            <a:r>
              <a:rPr sz="1500" b="1">
                <a:latin typeface="Leelawadee UI"/>
                <a:cs typeface="Leelawadee UI"/>
              </a:rPr>
              <a:t>AdventureWorks2025</a:t>
            </a:r>
            <a:r>
              <a:rPr sz="1500" b="0">
                <a:latin typeface="Leelawadee UI"/>
                <a:cs typeface="Leelawadee UI"/>
              </a:rPr>
              <a:t> · Permission: </a:t>
            </a:r>
            <a:r>
              <a:rPr sz="1500" b="0">
                <a:latin typeface="Consolas"/>
                <a:cs typeface="Consolas"/>
              </a:rPr>
              <a:t>VIEW DATABASE STATE</a:t>
            </a:r>
            <a:r>
              <a:rPr sz="1500" b="0">
                <a:latin typeface="Leelawadee UI"/>
                <a:cs typeface="Leelawadee UI"/>
              </a:rPr>
              <a:t> + CREATE/DROP INDEX · </a:t>
            </a:r>
            <a:r>
              <a:rPr sz="1500" b="1">
                <a:latin typeface="Leelawadee UI"/>
                <a:cs typeface="Leelawadee UI"/>
              </a:rPr>
              <a:t>Exercise 4/40 ของหลักสูตร</a:t>
            </a:r>
            <a:r>
              <a:rPr sz="1500" b="0">
                <a:latin typeface="Leelawadee UI"/>
                <a:cs typeface="Leelawadee UI"/>
              </a:rPr>
              <a:t> · รุ่นขั้นต่ำ: SQL Server 2019+ (แนะนำ 2025 17.x)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⚠ error ที่พบได้: </a:t>
            </a:r>
            <a:r>
              <a:rPr sz="1500" b="0">
                <a:latin typeface="Consolas"/>
                <a:cs typeface="Consolas"/>
              </a:rPr>
              <a:t>Invalid object name 'AdventureWorks2025'</a:t>
            </a:r>
            <a:r>
              <a:rPr sz="1500" b="0">
                <a:latin typeface="Leelawadee UI"/>
                <a:cs typeface="Leelawadee UI"/>
              </a:rPr>
              <a:t> (DB ยังไม่ restore) · Msg 297 permission — </a:t>
            </a:r>
            <a:r>
              <a:rPr sz="1500" b="0">
                <a:latin typeface="Consolas"/>
                <a:cs typeface="Consolas"/>
              </a:rPr>
              <a:t>VIEW DATABASE STATE</a:t>
            </a:r>
            <a:r>
              <a:rPr sz="1500" b="0">
                <a:latin typeface="Leelawadee UI"/>
                <a:cs typeface="Leelawadee UI"/>
              </a:rPr>
              <a:t> ไม่พอ ตอน query DMV (</a:t>
            </a:r>
            <a:r>
              <a:rPr sz="1500" b="0">
                <a:latin typeface="Consolas"/>
                <a:cs typeface="Consolas"/>
              </a:rPr>
              <a:t>sys.dm_db_missing_index_details</a:t>
            </a:r>
            <a:r>
              <a:rPr sz="1500" b="0">
                <a:latin typeface="Leelawadee UI"/>
                <a:cs typeface="Leelawadee UI"/>
              </a:rPr>
              <a:t> / </a:t>
            </a:r>
            <a:r>
              <a:rPr sz="1500" b="0">
                <a:latin typeface="Consolas"/>
                <a:cs typeface="Consolas"/>
              </a:rPr>
              <a:t>sys.dm_db_index_usage_stats</a:t>
            </a:r>
            <a:r>
              <a:rPr sz="1500" b="0">
                <a:latin typeface="Leelawadee UI"/>
                <a:cs typeface="Leelawadee UI"/>
              </a:rPr>
              <a:t>) · permission CREATE/DROP INDEX ไม่พอ (Ex 1) · </a:t>
            </a:r>
            <a:r>
              <a:rPr sz="1500" b="0">
                <a:latin typeface="Consolas"/>
                <a:cs typeface="Consolas"/>
              </a:rPr>
              <a:t>SET COMPATIBILITY_LEVEL = 170</a:t>
            </a:r>
            <a:r>
              <a:rPr sz="1500" b="0">
                <a:latin typeface="Leelawadee UI"/>
                <a:cs typeface="Leelawadee UI"/>
              </a:rPr>
              <a:t> fail บนรุ่น &lt; 2025 (Ex 4 — ใช้ทางเลือกข้ามไป Ex 3 ตามด้านบน)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 Module 6 — และทางไปต่อ (Closing)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Statistics ถูกต้อง = CE แม่น = Plan ดี</a:t>
            </a:r>
            <a:r>
              <a:rPr sz="1600" b="0">
                <a:latin typeface="Leelawadee UI"/>
                <a:cs typeface="Leelawadee UI"/>
              </a:rPr>
              <a:t> — เฝ้า </a:t>
            </a:r>
            <a:r>
              <a:rPr sz="1600" b="0">
                <a:latin typeface="Consolas"/>
                <a:cs typeface="Consolas"/>
              </a:rPr>
              <a:t>modification_counter</a:t>
            </a:r>
            <a:r>
              <a:rPr sz="1600" b="0">
                <a:latin typeface="Leelawadee UI"/>
                <a:cs typeface="Leelawadee UI"/>
              </a:rPr>
              <a:t> / </a:t>
            </a:r>
            <a:r>
              <a:rPr sz="1600" b="0">
                <a:latin typeface="Consolas"/>
                <a:cs typeface="Consolas"/>
              </a:rPr>
              <a:t>STATS_DATE</a:t>
            </a:r>
            <a:r>
              <a:rPr sz="1600" b="0">
                <a:latin typeface="Leelawadee UI"/>
                <a:cs typeface="Leelawadee UI"/>
              </a:rPr>
              <a:t> เป็นกิจวัตร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Index คือ trade-off Read vs Write</a:t>
            </a:r>
            <a:r>
              <a:rPr sz="1600" b="0">
                <a:latin typeface="Leelawadee UI"/>
                <a:cs typeface="Leelawadee UI"/>
              </a:rPr>
              <a:t> — เติม missing อย่างมีวิจารณญาณ ตัด unused หลัง baseline ยาว ≥ 1 business cycle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Columnstore คือคำตอบของ Analytical Workload</a:t>
            </a:r>
            <a:r>
              <a:rPr sz="1600" b="0">
                <a:latin typeface="Leelawadee UI"/>
                <a:cs typeface="Leelawadee UI"/>
              </a:rPr>
              <a:t> — เลือก CCI/NCCI ตามรูปแบบการอ่าน (DW/HTAP) และรู้ข้อจำกัด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ต่อไป </a:t>
            </a:r>
            <a:r>
              <a:rPr sz="1600" b="1">
                <a:latin typeface="Leelawadee UI"/>
                <a:cs typeface="Leelawadee UI"/>
              </a:rPr>
              <a:t>บทที่ 7: Query Execution &amp; Optimization</a:t>
            </a:r>
            <a:r>
              <a:rPr sz="1600" b="0">
                <a:latin typeface="Leelawadee UI"/>
                <a:cs typeface="Leelawadee UI"/>
              </a:rPr>
              <a:t> — CE ที่เรียนวันนี้คือวัตถุดิบของ Query Processing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