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เปิดโมดูลปิดท้ายคอร์ส — ย้ำว่าทุกเครื่องมือที่เรียนมา (Waits, DMVs, XEvents, Query Store, Monitoring) จะถูกรวมเป็น workflow เดียวในโมดูลนี้ `Ref: Module_11_Troubleshooting/README.md:1-3` · `Trainer_Docs/Course_Guide_4Days.md:62`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พิมพ์งบเวลา (นาที) และจำนวน Exercise ให้ผู้สอนและผู้เรียนเห็นก่อนเริ่มตาม Slide Spec 4.2 — เวลาจริงจากการทดสอบผู้เรียนเฟส 4 ต้องเทียบกับงบนี้ `Ref: Trainer_Docs/Course_Guide_4Days.md:116-117` · `Module_11_Troubleshooting/README.md:5-13` · `Module_11_Troubleshooting/Labs/README.md:12-21`</a:t>
            </a:r>
          </a:p>
          <a:p>
            <a:r>
              <a:t>จุดเพิ่มเติมที่ย่อออกจากสไลด์: ต้องมี: SQL Server 2019+ (แนะนำ **2025 17.x**) · database **AdventureWorks2025** · permission `sysadmin` (แล็บต้องใช้ `KILL`) | เป้าหมายระดับ 1–4 ของโมดูล: คิดแบบ Systematic Troubleshooting → ตัดสินใจจาก DMVs/Waits → เดิน Workflow หาคอขวด (Resource vs Concurrency vs Query Design) → ทำ Runbook/Checklist ให้ทีม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**ต้องรู้มาก่อน:** wait type และ DMV จาก Module 1 — ลิงก์ glossary กลางตามแผนเฟส 0 (ไฟล์ glossary ยังไม่มีใน repo ต้องสร้างก่อนเปิดสอน) · **ต้องเขียนเนื้อหาเพิ่ม:** S1 ยังเป็น outline 65 บรรทัด ไม่มี "ตรวจความเข้าใจ" และไม่มีบล็อกโค้ด SQL `Ref:` Module_11_Troubleshooting/Sections/01_Troubleshooting_Workflow/README.md:5-7`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**ต้องรู้มาก่อน:** DMV/wait type (glossary ยังไม่มีไฟล์ — ต้องสร้างก่อนเปิดสอน) · **ต้องเขียนเนื้อหาเพิ่ม:** เกณฑ์ของ capstone ในแผนแม่บทกำหนด "เพิ่ม demo SQL ≥1 บล็อก" — ปัจจุบันทั้ง S1/S2 มี 0 บล็อกโค้ด SQL ต้องขยายพร้อมวาดภาพก่อนประกอบเด็ค `Ref: Module_11_Troubleshooting/Sections/01_Troubleshooting_Workflow/README.md:9-30,46-59`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**ต้องเขียนเนื้อหาเพิ่ม:** Deep Dive นี้มีใน README แค่ 13 บรรทัด ต้องขยายพร้อมตัวอย่างจริง (เช่น PAGEIOLATCH จาก missing index) และวาดภาพก่อนประกอบเด็ค (M11 ยังไม่มี tracked PNG เลย) `Ref: Module_11_Troubleshooting/Sections/01_Troubleshooting_Workflow/README.md:32-44`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**ต้องเขียนเนื้อหาเพิ่ม:** S1 README:23-24 ชี้สคริปต์ข้ามโมดูล (M1 `08_Wait_Stats_Analysis.sql`, M1 Lab Ex3) แทนสคริปต์ของโมดูลเอง — ต้องแก้อ้างอิงให้ตรงตอนขยายเนื้อหา · demo walk-through ทีละขั้นยังไม่มีใน README `Ref: Module_11_Troubleshooting/Sections/01_Troubleshooting_Workflow/Scripts/04_Server_Health_Check.sql` · `Scripts/05_Quick_Wait_Analysis.sql` · `Scripts/03_Workload_Mixed_Stress.sql`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**ต้องรู้มาก่อน:** plan cache และ execution plan จาก M7–M8 — ลิงก์ glossary กลาง (ยังไม่มีไฟล์) · **ต้องเขียนเนื้อหาเพิ่ม:** S2 = 24 บรรทัด สั้นสุดของ capstone และมี 0 บล็อกโค้ด SQL ทั้ง section ต้องขยายพร้อม demo SQL ตามเกณฑ์ capstone ก่อนสอน `Ref: Module_11_Troubleshooting/Sections/02_Scenarios_and_Resolution/README.md:5-8`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**ต้องรู้มาก่อน:** lock/lock hierarchy จาก M5 — ลิงก์ glossary กลาง · **ต้องเขียนเนื้อหาเพิ่ม:** สอง scenario นี้อยู่ใน README รวมกันแค่ 9 บรรทัด ต้องขยายตัวอย่าง T-SQL จริงและเชื่อมแล็บ `Ref: Module_11_Troubleshooting/Sections/02_Scenarios_and_Resolution/README.md:10-18`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**ต้องเขียนเนื้อหาเพิ่ม:** demo ใช้สคริปต์ของโมดูลโดยตรงแต่ section README ยังไม่มีขั้นตอน walk-through และไม่อ้างสคริปต์เหล่านี้เลย ต้องเติมตอนขยาย `Ref: Module_11_Troubleshooting/Sections/01_Troubleshooting_Workflow/Scripts/06_Active_Blocking.sql` · `Scripts/07_Top_Resource_Queries.sql` · `Scripts/01_Chaos_Generator.sql`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**ต้องเขียนเนื้อหาเพิ่ม:** เป้าหมายหัวข้อนี้วันนี้มีอยู่แค่ในแล็บ Exercise 3 (:142-176) และ bullet Skill ระดับ 4 ของ module README — ต้องยกระดับเป็นเนื้อหา section พร้อมตัวอย่างจริงก่อนสอน `Ref: Module_11_Troubleshooting/Labs/README.md:142-176` · `Module_11_Troubleshooting/README.md:12-13,58-61`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**ต้องรู้ก่อน (มติ #9):** Ex2 ใช้ CTE, window function, `CROSS APPLY` และ Query Store catalog views (`sys.query_store_query` JOIN `query_store_runtime_stats`) — ผู้เรียนระดับ SELECT/JOIN ต้องได้คำอธิบายก่อนอ่านโค้ด · **error ที่พบได้:** `KILL` ต้องใช้สิทธิ์ sysadmin · **ต้องเขียนเนื้อหาเพิ่ม:** แล็บมีบล็อก expected แบบไม่เป็นมาตรฐานแค่ 1 จุด (`:106` "✅ คาดหวังจาก chaos นี้") ต้อง normalize เป็น `**Expected:**` ครบ 3/3 Exercise และเพิ่มบล็อก "ต้องรู้ก่อน" ตาม DoD `Ref: Module_11_Troubleshooting/Labs/README.md` (Ex1 :24, Ex2 :73, expected :106, Ex3 :142, wrap-up :180, cleanup :186-193)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**ต้องเขียน quiz bank เพิ่ม:** quiz bank รายโมดูลยังไม่มี (0 ไฟล์ทั้งหลักสูตร) — คำถาม 3 ข้อนี้ดึงชั่วคราวจาก FAQ ของ module README ต้องสร้าง quiz bank M11 ก่อนขึ้นเด็คจริง และเป็นสไลด์ปิดท้ายหลักสูตรให้เชื่อมกลับไปยัง Baseline จาก Lab 10 `Ref: Module_11_Troubleshooting/README.md:37-50,58-63`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1 Cov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880A5-8FAB-9913-1EFC-8D73DF5168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057399"/>
            <a:ext cx="11183112" cy="173736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agline">
            <a:extLst>
              <a:ext uri="{FF2B5EF4-FFF2-40B4-BE49-F238E27FC236}">
                <a16:creationId xmlns:a16="http://schemas.microsoft.com/office/drawing/2014/main" id="{921E5C1F-D102-2273-4815-E78BE19D97B3}"/>
              </a:ext>
            </a:extLst>
          </p:cNvPr>
          <p:cNvSpPr txBox="1"/>
          <p:nvPr userDrawn="1"/>
        </p:nvSpPr>
        <p:spPr>
          <a:xfrm>
            <a:off x="502920" y="1371600"/>
            <a:ext cx="10515600" cy="2693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50">
                <a:solidFill>
                  <a:srgbClr val="8B8BA6"/>
                </a:solidFill>
                <a:latin typeface="Leelawadee UI" panose="020B0502040204020203" pitchFamily="34" charset="-34"/>
              </a:rPr>
              <a:t>WORLDWIDE LEADER IN PEOPLE, TECHNOLOGY AND BUSINESS TRAINING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2475ED5-2732-1ADD-A07D-4747CCB8FA0D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02920" y="3977640"/>
            <a:ext cx="11183112" cy="1097280"/>
          </a:xfrm>
        </p:spPr>
        <p:txBody>
          <a:bodyPr/>
          <a:lstStyle>
            <a:lvl1pPr marL="0" indent="0" algn="ctr">
              <a:buNone/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B0ECF00A-C239-A338-1330-D88658C633D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2D2BF88-38BF-9016-9ECD-6B5B2CDEC683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FB404D7-FB5A-06B4-AF03-AC30A862FADE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611173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2 Module Divider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C5AF3-C270-3F8C-6402-3028D2FF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4224528"/>
            <a:ext cx="11183112" cy="1051560"/>
          </a:xfrm>
        </p:spPr>
        <p:txBody>
          <a:bodyPr/>
          <a:lstStyle>
            <a:lvl1pPr>
              <a:defRPr sz="37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BigNumber">
            <a:extLst>
              <a:ext uri="{FF2B5EF4-FFF2-40B4-BE49-F238E27FC236}">
                <a16:creationId xmlns:a16="http://schemas.microsoft.com/office/drawing/2014/main" id="{71608DF8-9323-8675-3E0F-69F575DBF6AD}"/>
              </a:ext>
            </a:extLst>
          </p:cNvPr>
          <p:cNvSpPr txBox="1"/>
          <p:nvPr userDrawn="1"/>
        </p:nvSpPr>
        <p:spPr>
          <a:xfrm>
            <a:off x="429768" y="1554480"/>
            <a:ext cx="4023360" cy="206210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800" b="1">
                <a:solidFill>
                  <a:srgbClr val="FFFFFF"/>
                </a:solidFill>
                <a:latin typeface="Leelawadee UI" panose="020B0502040204020203" pitchFamily="34" charset="-34"/>
              </a:rPr>
              <a:t>01</a:t>
            </a:r>
          </a:p>
        </p:txBody>
      </p:sp>
      <p:sp>
        <p:nvSpPr>
          <p:cNvPr id="7" name="ModuleKicker">
            <a:extLst>
              <a:ext uri="{FF2B5EF4-FFF2-40B4-BE49-F238E27FC236}">
                <a16:creationId xmlns:a16="http://schemas.microsoft.com/office/drawing/2014/main" id="{8F80D9DC-8352-308C-6D4C-1CF5C32E555E}"/>
              </a:ext>
            </a:extLst>
          </p:cNvPr>
          <p:cNvSpPr txBox="1"/>
          <p:nvPr userDrawn="1"/>
        </p:nvSpPr>
        <p:spPr>
          <a:xfrm>
            <a:off x="502920" y="3886200"/>
            <a:ext cx="27432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b="1">
                <a:solidFill>
                  <a:srgbClr val="E94B22"/>
                </a:solidFill>
                <a:latin typeface="Leelawadee UI" panose="020B0502040204020203" pitchFamily="34" charset="-34"/>
              </a:rPr>
              <a:t>MODULE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51971E-2430-31F9-624F-3013E02F6408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5285232"/>
            <a:ext cx="11183112" cy="822960"/>
          </a:xfrm>
        </p:spPr>
        <p:txBody>
          <a:bodyPr/>
          <a:lstStyle>
            <a:lvl1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1pPr>
            <a:lvl2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2pPr>
            <a:lvl3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3pPr>
            <a:lvl4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4pPr>
            <a:lvl5pPr>
              <a:defRPr sz="1600">
                <a:solidFill>
                  <a:srgbClr val="B9B9C9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BrandSquare">
            <a:extLst>
              <a:ext uri="{FF2B5EF4-FFF2-40B4-BE49-F238E27FC236}">
                <a16:creationId xmlns:a16="http://schemas.microsoft.com/office/drawing/2014/main" id="{ED7860CE-8BCD-1EDB-80A7-006E4B04889C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randWordmark">
            <a:extLst>
              <a:ext uri="{FF2B5EF4-FFF2-40B4-BE49-F238E27FC236}">
                <a16:creationId xmlns:a16="http://schemas.microsoft.com/office/drawing/2014/main" id="{3F9BBCD2-610E-34F6-3EBA-417303A22F28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1" name="CourseFooter">
            <a:extLst>
              <a:ext uri="{FF2B5EF4-FFF2-40B4-BE49-F238E27FC236}">
                <a16:creationId xmlns:a16="http://schemas.microsoft.com/office/drawing/2014/main" id="{40298D1F-3D43-7E33-7DFB-202AFD609081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06097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3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8DF1E-9EFA-03E1-C45C-33A7D1558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0ECB77B-9789-F88B-5FEC-DD86D6BF931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11183112" cy="4480560"/>
          </a:xfrm>
        </p:spPr>
        <p:txBody>
          <a:bodyPr/>
          <a:lstStyle>
            <a:lvl1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5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7B531DF2-DA55-6E36-DA85-4CEA1D496EF3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A7E44A4D-806B-DAD0-C11E-641D31AF7361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DBD347E7-97DE-14C3-9402-1B2A0FE14DD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884435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4 Two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FC824-D6B1-84AD-4D02-58A5DD72F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BEC6DA-F0D6-6C13-8252-DD3CD328DB6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5DE1CFEC-65E5-AE40-94E3-B098BDF3E0E4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291072" y="1783080"/>
            <a:ext cx="5394960" cy="4480560"/>
          </a:xfrm>
        </p:spPr>
        <p:txBody>
          <a:bodyPr/>
          <a:lstStyle>
            <a:lvl1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3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05A685D-F87A-7E95-5666-A850472BAE07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B385C038-2509-71B7-275D-6D27512D77B0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069261BB-B597-5A1A-4F02-1068C401FA80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422564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5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3770-572F-A7EB-FE61-BD74A91E8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89EA8A-5F10-57E6-E9D1-990BB462C9E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502920" y="1783080"/>
            <a:ext cx="11183112" cy="4297680"/>
          </a:xfrm>
        </p:spPr>
        <p:txBody>
          <a:bodyPr/>
          <a:lstStyle>
            <a:lvl1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1pPr>
            <a:lvl2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2pPr>
            <a:lvl3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3pPr>
            <a:lvl4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4pPr>
            <a:lvl5pPr>
              <a:defRPr sz="1250">
                <a:solidFill>
                  <a:srgbClr val="1F2333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9262207-DA50-353B-D5E5-7DBAAC39C99B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089EA7E6-55F0-111D-3F96-E39555A4CBE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7FE3C47-2373-D3EF-4A93-77C5F285234B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99123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6 Code Lab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D4DDD-212C-1D63-C399-269518A8C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dePanel">
            <a:extLst>
              <a:ext uri="{FF2B5EF4-FFF2-40B4-BE49-F238E27FC236}">
                <a16:creationId xmlns:a16="http://schemas.microsoft.com/office/drawing/2014/main" id="{776273E8-AD3A-1C34-49C3-DC754F8B4655}"/>
              </a:ext>
            </a:extLst>
          </p:cNvPr>
          <p:cNvSpPr/>
          <p:nvPr userDrawn="1"/>
        </p:nvSpPr>
        <p:spPr>
          <a:xfrm>
            <a:off x="502920" y="1737360"/>
            <a:ext cx="11183112" cy="4572000"/>
          </a:xfrm>
          <a:prstGeom prst="roundRect">
            <a:avLst>
              <a:gd name="adj" fmla="val 6000"/>
            </a:avLst>
          </a:prstGeom>
          <a:solidFill>
            <a:srgbClr val="0D0D2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F13386-576F-633E-9642-6069CF9B0B76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731520" y="1920240"/>
            <a:ext cx="10725912" cy="4206240"/>
          </a:xfrm>
        </p:spPr>
        <p:txBody>
          <a:bodyPr/>
          <a:lstStyle>
            <a:lvl1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1pPr>
            <a:lvl2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2pPr>
            <a:lvl3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3pPr>
            <a:lvl4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4pPr>
            <a:lvl5pPr>
              <a:defRPr sz="1200">
                <a:solidFill>
                  <a:srgbClr val="E9E9F4"/>
                </a:solidFill>
                <a:latin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6A364C23-0200-75DB-E887-D53D0760CA30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CD123CE5-BCD9-C048-2463-15511C29B60E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E3B40D2F-B569-5E54-9C13-6B620A39821D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3689040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07 Stat Call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9D54F-7887-8A44-868B-EEAD8D5CD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859536"/>
            <a:ext cx="11183112" cy="685800"/>
          </a:xfrm>
        </p:spPr>
        <p:txBody>
          <a:bodyPr/>
          <a:lstStyle>
            <a:lvl1pPr>
              <a:defRPr sz="2900" b="1">
                <a:solidFill>
                  <a:srgbClr val="000444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889D7C-256D-B603-21F0-014984F2AE81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1920240"/>
            <a:ext cx="5120640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D303795-F2F2-BD1B-F013-A7BEDC9C21EE}"/>
              </a:ext>
            </a:extLst>
          </p:cNvPr>
          <p:cNvSpPr>
            <a:spLocks noGrp="1"/>
          </p:cNvSpPr>
          <p:nvPr>
            <p:ph type="body" idx="11"/>
          </p:nvPr>
        </p:nvSpPr>
        <p:spPr>
          <a:xfrm>
            <a:off x="6035040" y="1920240"/>
            <a:ext cx="5650992" cy="2468880"/>
          </a:xfrm>
        </p:spPr>
        <p:txBody>
          <a:bodyPr/>
          <a:lstStyle>
            <a:lvl1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1pPr>
            <a:lvl2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2pPr>
            <a:lvl3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3pPr>
            <a:lvl4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4pPr>
            <a:lvl5pPr>
              <a:defRPr sz="3000" b="1">
                <a:solidFill>
                  <a:srgbClr val="E94B22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BrandSquare">
            <a:extLst>
              <a:ext uri="{FF2B5EF4-FFF2-40B4-BE49-F238E27FC236}">
                <a16:creationId xmlns:a16="http://schemas.microsoft.com/office/drawing/2014/main" id="{05734C6E-DFF0-3B57-818C-69E93EBBA4D9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BrandWordmark">
            <a:extLst>
              <a:ext uri="{FF2B5EF4-FFF2-40B4-BE49-F238E27FC236}">
                <a16:creationId xmlns:a16="http://schemas.microsoft.com/office/drawing/2014/main" id="{ED34F2E4-2EFC-35B4-335A-C6685CE81AF6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000444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6B6A6A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10" name="CourseFooter">
            <a:extLst>
              <a:ext uri="{FF2B5EF4-FFF2-40B4-BE49-F238E27FC236}">
                <a16:creationId xmlns:a16="http://schemas.microsoft.com/office/drawing/2014/main" id="{CE22CBFE-B40D-9D03-2AFC-7142E4A4B59C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2980950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08 Closing (dark)">
    <p:bg>
      <p:bgPr>
        <a:solidFill>
          <a:srgbClr val="0004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644D5-82AF-1F6F-6D81-485651FB1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2743200"/>
            <a:ext cx="11183112" cy="1188720"/>
          </a:xfrm>
        </p:spPr>
        <p:txBody>
          <a:bodyPr/>
          <a:lstStyle>
            <a:lvl1pPr>
              <a:defRPr sz="6000" b="1">
                <a:solidFill>
                  <a:srgbClr val="FFFFFF"/>
                </a:solidFill>
                <a:latin typeface="Leelawadee UI" panose="020B0502040204020203" pitchFamily="34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357F960-21B7-7ABA-5A32-74E0A78A622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02920" y="4114800"/>
            <a:ext cx="11183112" cy="822960"/>
          </a:xfrm>
        </p:spPr>
        <p:txBody>
          <a:bodyPr/>
          <a:lstStyle>
            <a:lvl1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1pPr>
            <a:lvl2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2pPr>
            <a:lvl3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3pPr>
            <a:lvl4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4pPr>
            <a:lvl5pPr>
              <a:defRPr sz="1700">
                <a:solidFill>
                  <a:srgbClr val="C9C9DB"/>
                </a:solidFill>
                <a:latin typeface="Leelawadee UI" panose="020B0502040204020203" pitchFamily="34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BrandSquare">
            <a:extLst>
              <a:ext uri="{FF2B5EF4-FFF2-40B4-BE49-F238E27FC236}">
                <a16:creationId xmlns:a16="http://schemas.microsoft.com/office/drawing/2014/main" id="{FA49E17A-5A87-1B78-588F-DCEB268137FF}"/>
              </a:ext>
            </a:extLst>
          </p:cNvPr>
          <p:cNvSpPr/>
          <p:nvPr userDrawn="1"/>
        </p:nvSpPr>
        <p:spPr>
          <a:xfrm>
            <a:off x="502920" y="256032"/>
            <a:ext cx="128016" cy="128016"/>
          </a:xfrm>
          <a:prstGeom prst="rect">
            <a:avLst/>
          </a:prstGeom>
          <a:solidFill>
            <a:srgbClr val="E94B2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BrandWordmark">
            <a:extLst>
              <a:ext uri="{FF2B5EF4-FFF2-40B4-BE49-F238E27FC236}">
                <a16:creationId xmlns:a16="http://schemas.microsoft.com/office/drawing/2014/main" id="{35DBE03E-E4F0-39D7-F041-68477893B78C}"/>
              </a:ext>
            </a:extLst>
          </p:cNvPr>
          <p:cNvSpPr txBox="1"/>
          <p:nvPr userDrawn="1"/>
        </p:nvSpPr>
        <p:spPr>
          <a:xfrm>
            <a:off x="704088" y="137160"/>
            <a:ext cx="329184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Leelawadee UI" panose="020B0502040204020203" pitchFamily="34" charset="-34"/>
              </a:rPr>
              <a:t>trainocate</a:t>
            </a:r>
            <a:r>
              <a:rPr lang="en-US" sz="1300">
                <a:solidFill>
                  <a:srgbClr val="8B8BA6"/>
                </a:solidFill>
                <a:latin typeface="Leelawadee UI" panose="020B0502040204020203" pitchFamily="34" charset="-34"/>
              </a:rPr>
              <a:t>  |  Thailand</a:t>
            </a:r>
          </a:p>
        </p:txBody>
      </p:sp>
      <p:sp>
        <p:nvSpPr>
          <p:cNvPr id="9" name="CourseFooter">
            <a:extLst>
              <a:ext uri="{FF2B5EF4-FFF2-40B4-BE49-F238E27FC236}">
                <a16:creationId xmlns:a16="http://schemas.microsoft.com/office/drawing/2014/main" id="{AE7B03E4-B170-4E44-4131-4D61229F43B8}"/>
              </a:ext>
            </a:extLst>
          </p:cNvPr>
          <p:cNvSpPr txBox="1"/>
          <p:nvPr userDrawn="1"/>
        </p:nvSpPr>
        <p:spPr>
          <a:xfrm>
            <a:off x="8138160" y="137160"/>
            <a:ext cx="356616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000">
                <a:solidFill>
                  <a:srgbClr val="8B8BA6"/>
                </a:solidFill>
                <a:latin typeface="Leelawadee UI" panose="020B0502040204020203" pitchFamily="34" charset="-34"/>
              </a:rPr>
              <a:t>SQL Server Performance Tuning</a:t>
            </a:r>
          </a:p>
        </p:txBody>
      </p:sp>
    </p:spTree>
    <p:extLst>
      <p:ext uri="{BB962C8B-B14F-4D97-AF65-F5344CB8AC3E}">
        <p14:creationId xmlns:p14="http://schemas.microsoft.com/office/powerpoint/2010/main" val="17158797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D681-7824-3500-2A23-3D98C1DF7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E8B42-9A59-95CD-9743-7DA33FD96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C859E-9E75-8253-5703-D8A8697D04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750564-7AFF-45C3-A26A-84A3050240D6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66B3B-860E-E2B1-C023-0B0E80CBDC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E3BBA-287C-4617-EE72-89683A6B7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58F649-BB84-456D-AE44-E4FB38E42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886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Module 11: Troubleshooting (Capstone)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latin typeface="Leelawadee UI"/>
                <a:cs typeface="Leelawadee UI"/>
              </a:rPr>
              <a:t>Module 11: Troubleshooting</a:t>
            </a:r>
            <a:r>
              <a:rPr sz="1600" b="0">
                <a:latin typeface="Leelawadee UI"/>
                <a:cs typeface="Leelawadee UI"/>
              </a:rPr>
              <a:t> — กระบวนการแก้ปัญหาประสิทธิภาพอย่างเป็นระบบ (Systematic Approach) หา Root Cause ด้วย Data-driven evidence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หลักสูตร SQL Server Performance Tuning — Day 4 (Monitoring, Tuning Strategy &amp; Troubleshooting) · </a:t>
            </a:r>
            <a:r>
              <a:rPr sz="1600" b="1">
                <a:latin typeface="Leelawadee UI"/>
                <a:cs typeface="Leelawadee UI"/>
              </a:rPr>
              <a:t>สไลด์ Capstone รวมทุกโมดูล M1–M10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คำโปรย: "การคาดเดาโดยไม่มีหลักฐาน นำไปสู่การแก้ปัญหาที่ผิดจุด"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Troubleshooting Workflow &amp; Scenarios (งบเวลา + Exercise)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sz="1500" b="1">
                <a:latin typeface="Leelawadee UI"/>
                <a:cs typeface="Leelawadee UI"/>
              </a:rPr>
              <a:t>งบเวลาโมดูล: 105 นาที</a:t>
            </a:r>
            <a:r>
              <a:rPr sz="1500" b="0">
                <a:latin typeface="Leelawadee UI"/>
                <a:cs typeface="Leelawadee UI"/>
              </a:rPr>
              <a:t> — บรรยาย 60 นาที (14:00–15:00) + LAB 11 + Case Study 45 นาที (15:00–15:45) · </a:t>
            </a:r>
            <a:r>
              <a:rPr sz="1500" b="1">
                <a:latin typeface="Leelawadee UI"/>
                <a:cs typeface="Leelawadee UI"/>
              </a:rPr>
              <a:t>2 Sections:</a:t>
            </a:r>
            <a:r>
              <a:rPr sz="1500" b="0">
                <a:latin typeface="Leelawadee UI"/>
                <a:cs typeface="Leelawadee UI"/>
              </a:rPr>
              <a:t> 1) The Troubleshooting Workflow 2) Common Scenarios &amp; Resolution Strategies</a:t>
            </a:r>
          </a:p>
          <a:p>
            <a:pPr marL="0" indent="0">
              <a:spcAft>
                <a:spcPts val="400"/>
              </a:spcAft>
              <a:buNone/>
            </a:pPr>
            <a:r>
              <a:rPr sz="1500" b="1">
                <a:latin typeface="Leelawadee UI"/>
                <a:cs typeface="Leelawadee UI"/>
              </a:rPr>
              <a:t>แล็บ 3 Exercise:</a:t>
            </a:r>
            <a:r>
              <a:rPr sz="1500" b="0">
                <a:latin typeface="Leelawadee UI"/>
                <a:cs typeface="Leelawadee UI"/>
              </a:rPr>
              <a:t> จุดชนวน Chaos → Top-down Diagnosis → Mitigate &amp; Root Fix ("The Broken Server" Challenge — capstone ของหลักสูตร)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ทำไมต้อง Systematic Troubleshooting — 3 สาเหตุหลัก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Troubleshooting คือการหา Root Cause ด้วยหลักฐาน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ไม่ใช่เดาสุ่ม — ปัญหา Performance มักอยู่ใน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1 ใน 3 กลุ่ม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เท่านั้น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Resource Bottleneck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CPU / Memory / Disk อิ่มตัว (Saturation)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Concurrency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Blocking Chains, Deadlocks, Latch Contention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Query Design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Missing Index, Bad Plan, Parameter Sniffing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เชื่อมองรวมกับ M1–M10: Waits (M1) · Lock (M5) · Index/Statistics (M6) · Plan/Cache (M7–M8) · Monitoring (M10) — โมดูลนี้คือจุดที่ทุกอย่างมาบรรจบกัน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The Troubleshooting Workflow — 4 Steps + Flowchart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Step 1 Define the Problem: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กำหนดขอบเขตก่อนลงมือ — Scope (ใครได้รับผลกระทบ) / Timeline (Consistent vs Intermittent) / Locality (Module/Report ใด)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Step 2 Validate Server Health: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CPU Utilization · Memory Pressure/OS Paging · I/O Latency — ทรัพยากรพื้นฐานผิดปกติหรือไม่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Step 3 Check Wait Statistics: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ค่าสะสมดูภาพรวม + แบบ real-time จาก 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sys.dm_exec_requests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ดู Blocking ปัจจุบัน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Step 4 Identify the Root Cause: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จำแนก Index/Query Design vs Concurrency vs Resource Bottleneck แล้วเลือกทางแก้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หลักตัดสินจาก Flowchart: Resource เสีย → ไล่ Resource Bottleneck · Resource ปกติ → ดู Waits → Blocking? → Bad Plan? → XEvents</a:t>
            </a:r>
          </a:p>
        </p:txBody>
      </p:sp>
      <p:pic>
        <p:nvPicPr>
          <p:cNvPr id="4" name="Picture 3" descr="troubleshooting-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Deep Dive — The Hierarchy of Bottlenecks (Chain of Pain)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>
          <a:xfrm>
            <a:ext cx="5394960" cy="0"/>
          </a:xfrm>
        </p:spPr>
        <p:txBody>
          <a:bodyPr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ปัญหาประสิทธิภาพ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ส่งต่อผลกระทบเป็นลูกโซ่ (Domino Effect)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— เข้าใจลำดับชั้นช่วยให้แก้ที่ </a:t>
            </a: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ต้นเหตุ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ไม่ใช่ปลายเหตุ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Hardware Level (Root):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Disk ช้า → IOPS เต็ม → Response Time สูง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Memory Level (Propagation):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อ่าน Page เข้า Memory ช้า → Thread ต้องรอ (</a:t>
            </a:r>
            <a:r>
              <a:rPr sz="1300" b="0">
                <a:solidFill>
                  <a:srgbClr val="243040"/>
                </a:solidFill>
                <a:latin typeface="Consolas"/>
                <a:cs typeface="Consolas"/>
              </a:rPr>
              <a:t>PAGEIOLATCH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) → ถือ Latch นานขึ้น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Concurrency Level (Symptom):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Latch นาน → ขวาง Thread ที่ต้องการ Page เดียวกัน → Blocking Chain ยาว → User Timeout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300" b="1">
                <a:solidFill>
                  <a:srgbClr val="243040"/>
                </a:solidFill>
                <a:latin typeface="Leelawadee UI"/>
                <a:cs typeface="Leelawadee UI"/>
              </a:rPr>
              <a:t>"Don't shoot the messenger":</a:t>
            </a:r>
            <a:r>
              <a:rPr sz="1300" b="0">
                <a:solidFill>
                  <a:srgbClr val="243040"/>
                </a:solidFill>
                <a:latin typeface="Leelawadee UI"/>
                <a:cs typeface="Leelawadee UI"/>
              </a:rPr>
              <a:t> เจอ Blocking อย่าเพิ่งโทษ Locking เสมอ — เช็คก่อนว่าเป็นผลพวงจาก Disk/CPU หรือไม่</a:t>
            </a:r>
          </a:p>
        </p:txBody>
      </p:sp>
      <p:pic>
        <p:nvPicPr>
          <p:cNvPr id="4" name="Picture 3" descr="chain-of-p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035419"/>
            <a:ext cx="5440680" cy="39758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Server Health Check + Quick Wait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จำลองปัญหาก่อนด้วย </a:t>
            </a:r>
            <a:r>
              <a:rPr sz="1500" b="0">
                <a:latin typeface="Consolas"/>
                <a:cs typeface="Consolas"/>
              </a:rPr>
              <a:t>03_Workload_Mixed_Stress.sql</a:t>
            </a:r>
            <a:r>
              <a:rPr sz="1500" b="0">
                <a:latin typeface="Leelawadee UI"/>
                <a:cs typeface="Leelawadee UI"/>
              </a:rPr>
              <a:t> (stress ผสม CPU+I/O+Memory 5 นาที) แล้ววินิจฉัย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รัน </a:t>
            </a:r>
            <a:r>
              <a:rPr sz="1500" b="0">
                <a:latin typeface="Consolas"/>
                <a:cs typeface="Consolas"/>
              </a:rPr>
              <a:t>04_Server_Health_Check.sql</a:t>
            </a:r>
            <a:r>
              <a:rPr sz="1500" b="0">
                <a:latin typeface="Leelawadee UI"/>
                <a:cs typeface="Leelawadee UI"/>
              </a:rPr>
              <a:t> — CPU % จาก Ring Buffer (</a:t>
            </a:r>
            <a:r>
              <a:rPr sz="1500" b="0">
                <a:latin typeface="Consolas"/>
                <a:cs typeface="Consolas"/>
              </a:rPr>
              <a:t>RING_BUFFER_SCHEDULER_MONITOR</a:t>
            </a:r>
            <a:r>
              <a:rPr sz="1500" b="0">
                <a:latin typeface="Leelawadee UI"/>
                <a:cs typeface="Leelawadee UI"/>
              </a:rPr>
              <a:t>) · Memory จาก </a:t>
            </a:r>
            <a:r>
              <a:rPr sz="1500" b="0">
                <a:latin typeface="Consolas"/>
                <a:cs typeface="Consolas"/>
              </a:rPr>
              <a:t>sys.dm_os_sys_memory</a:t>
            </a:r>
            <a:r>
              <a:rPr sz="1500" b="0">
                <a:latin typeface="Leelawadee UI"/>
                <a:cs typeface="Leelawadee UI"/>
              </a:rPr>
              <a:t> · config </a:t>
            </a:r>
            <a:r>
              <a:rPr sz="1500" b="0">
                <a:latin typeface="Consolas"/>
                <a:cs typeface="Consolas"/>
              </a:rPr>
              <a:t>min/max server memory</a:t>
            </a:r>
            <a:r>
              <a:rPr sz="1500" b="0">
                <a:latin typeface="Leelawadee UI"/>
                <a:cs typeface="Leelawadee UI"/>
              </a:rPr>
              <a:t> · Error Log 24 ชม.ล่าสุด (</a:t>
            </a:r>
            <a:r>
              <a:rPr sz="1500" b="0">
                <a:latin typeface="Consolas"/>
                <a:cs typeface="Consolas"/>
              </a:rPr>
              <a:t>xp_readerrorlog</a:t>
            </a:r>
            <a:r>
              <a:rPr sz="1500" b="0">
                <a:latin typeface="Leelawadee UI"/>
                <a:cs typeface="Leelawadee UI"/>
              </a:rPr>
              <a:t>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รัน </a:t>
            </a:r>
            <a:r>
              <a:rPr sz="1500" b="0">
                <a:latin typeface="Consolas"/>
                <a:cs typeface="Consolas"/>
              </a:rPr>
              <a:t>05_Quick_Wait_Analysis.sql</a:t>
            </a:r>
            <a:r>
              <a:rPr sz="1500" b="0">
                <a:latin typeface="Leelawadee UI"/>
                <a:cs typeface="Leelawadee UI"/>
              </a:rPr>
              <a:t> — Top 10 waits กรอง benign waits </a:t>
            </a:r>
            <a:r>
              <a:rPr sz="1500" b="1">
                <a:latin typeface="Leelawadee UI"/>
                <a:cs typeface="Leelawadee UI"/>
              </a:rPr>
              <a:t>72 ตัว</a:t>
            </a:r>
            <a:r>
              <a:rPr sz="1500" b="0">
                <a:latin typeface="Leelawadee UI"/>
                <a:cs typeface="Leelawadee UI"/>
              </a:rPr>
              <a:t> แล้วแปลง wait_type → likely cause (</a:t>
            </a:r>
            <a:r>
              <a:rPr sz="1500" b="0">
                <a:latin typeface="Consolas"/>
                <a:cs typeface="Consolas"/>
              </a:rPr>
              <a:t>LCK%</a:t>
            </a:r>
            <a:r>
              <a:rPr sz="1500" b="0">
                <a:latin typeface="Leelawadee UI"/>
                <a:cs typeface="Leelawadee UI"/>
              </a:rPr>
              <a:t>=Blocking, </a:t>
            </a:r>
            <a:r>
              <a:rPr sz="1500" b="0">
                <a:latin typeface="Consolas"/>
                <a:cs typeface="Consolas"/>
              </a:rPr>
              <a:t>PAGEIOLATCH%</a:t>
            </a:r>
            <a:r>
              <a:rPr sz="1500" b="0">
                <a:latin typeface="Leelawadee UI"/>
                <a:cs typeface="Leelawadee UI"/>
              </a:rPr>
              <a:t>=I/O, </a:t>
            </a:r>
            <a:r>
              <a:rPr sz="1500" b="0">
                <a:latin typeface="Consolas"/>
                <a:cs typeface="Consolas"/>
              </a:rPr>
              <a:t>SOS_SCHEDULER_YIELD</a:t>
            </a:r>
            <a:r>
              <a:rPr sz="1500" b="0">
                <a:latin typeface="Leelawadee UI"/>
                <a:cs typeface="Leelawadee UI"/>
              </a:rPr>
              <a:t>=CPU) + คำนวณ </a:t>
            </a:r>
            <a:r>
              <a:rPr sz="1500" b="1">
                <a:latin typeface="Leelawadee UI"/>
                <a:cs typeface="Leelawadee UI"/>
              </a:rPr>
              <a:t>Signal Wait %</a:t>
            </a:r>
            <a:r>
              <a:rPr sz="1500" b="0">
                <a:latin typeface="Leelawadee UI"/>
                <a:cs typeface="Leelawadee UI"/>
              </a:rPr>
              <a:t> (สูงเกิน ~20% = สัญญาณ CPU Pressure)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ต้องรู้ก่อน (มติ #9):</a:t>
            </a:r>
            <a:r>
              <a:rPr sz="1500" b="0">
                <a:latin typeface="Leelawadee UI"/>
                <a:cs typeface="Leelawadee UI"/>
              </a:rPr>
              <a:t> CTE (</a:t>
            </a:r>
            <a:r>
              <a:rPr sz="1500" b="0">
                <a:latin typeface="Consolas"/>
                <a:cs typeface="Consolas"/>
              </a:rPr>
              <a:t>WITH Waits AS</a:t>
            </a:r>
            <a:r>
              <a:rPr sz="1500" b="0">
                <a:latin typeface="Leelawadee UI"/>
                <a:cs typeface="Leelawadee UI"/>
              </a:rPr>
              <a:t>) = ชุดผลลัพธ์ตั้งชื่อชั่วคราว · window function (</a:t>
            </a:r>
            <a:r>
              <a:rPr sz="1500" b="0">
                <a:latin typeface="Consolas"/>
                <a:cs typeface="Consolas"/>
              </a:rPr>
              <a:t>SUM() OVER()</a:t>
            </a:r>
            <a:r>
              <a:rPr sz="1500" b="0">
                <a:latin typeface="Leelawadee UI"/>
                <a:cs typeface="Leelawadee UI"/>
              </a:rPr>
              <a:t>) = รวมค่าทั้งชุดโดยไม่ยุบแถว · XQuery </a:t>
            </a:r>
            <a:r>
              <a:rPr sz="1500" b="0">
                <a:latin typeface="Consolas"/>
                <a:cs typeface="Consolas"/>
              </a:rPr>
              <a:t>.value()</a:t>
            </a:r>
            <a:r>
              <a:rPr sz="1500" b="0">
                <a:latin typeface="Leelawadee UI"/>
                <a:cs typeface="Leelawadee UI"/>
              </a:rPr>
              <a:t> = อ่านค่าจาก XML ใน ring buffer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error ที่พบได้:</a:t>
            </a:r>
            <a:r>
              <a:rPr sz="1500" b="0">
                <a:latin typeface="Leelawadee UI"/>
                <a:cs typeface="Leelawadee UI"/>
              </a:rPr>
              <a:t> </a:t>
            </a:r>
            <a:r>
              <a:rPr sz="1500" b="0">
                <a:latin typeface="Consolas"/>
                <a:cs typeface="Consolas"/>
              </a:rPr>
              <a:t>The VIEW SERVER STATE permission was denied on object 'server'</a:t>
            </a:r>
            <a:r>
              <a:rPr sz="1500" b="0">
                <a:latin typeface="Leelawadee UI"/>
                <a:cs typeface="Leelawadee UI"/>
              </a:rPr>
              <a:t> → ขอสิทธิ์/ใช้บทบาทที่เหมาะสม · </a:t>
            </a:r>
            <a:r>
              <a:rPr sz="1500" b="1">
                <a:latin typeface="Leelawadee UI"/>
                <a:cs typeface="Leelawadee UI"/>
              </a:rPr>
              <a:t>รุ่นขั้นต่ำ:</a:t>
            </a:r>
            <a:r>
              <a:rPr sz="1500" b="0">
                <a:latin typeface="Leelawadee UI"/>
                <a:cs typeface="Leelawadee UI"/>
              </a:rPr>
              <a:t> SQL Server 2019+ (แนะนำ 2025 17.x) — หมายเหตุ: ไฟล์ .sql โมดูลนี้ยังไม่มี header </a:t>
            </a:r>
            <a:r>
              <a:rPr sz="1500" b="0">
                <a:latin typeface="Consolas"/>
                <a:cs typeface="Consolas"/>
              </a:rPr>
              <a:t>MinVersion:</a:t>
            </a:r>
            <a:r>
              <a:rPr sz="1500" b="0">
                <a:latin typeface="Leelawadee UI"/>
                <a:cs typeface="Leelawadee UI"/>
              </a:rPr>
              <a:t> (0/7 ไฟล์) ต้องเติมตามเฟส 0 ก่อนขึ้นเด็คจริง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Scenario A — High CPU Utilization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Potential Cause: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Table/Index Scan ขนาดใหญ่ · Compilation ภาระสูง (Plan Bloat) · Spinlock Contention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Investigation: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หา Top CPU Queries ด้วย </a:t>
            </a:r>
            <a:r>
              <a:rPr sz="1600" b="0">
                <a:solidFill>
                  <a:srgbClr val="243040"/>
                </a:solidFill>
                <a:latin typeface="Consolas"/>
                <a:cs typeface="Consolas"/>
              </a:rPr>
              <a:t>Module_07/Sections/03_Analyzing_Query_Plans/Scripts/06_Top_CPU_Queries.sql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(มีจริงใน repo) + Signal Waits % + scheduler queue จาก M10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solidFill>
                  <a:srgbClr val="243040"/>
                </a:solidFill>
                <a:latin typeface="Leelawadee UI"/>
                <a:cs typeface="Leelawadee UI"/>
              </a:rPr>
              <a:t>Resolution:</a:t>
            </a: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 Tune Query · สร้าง Index เปลี่ยน Scan → Seek · ปรับ Plan Cache Configuration (เชื่อม M8) และ DOP/CTFP (เชื่อมแล็บ M11)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solidFill>
                  <a:srgbClr val="243040"/>
                </a:solidFill>
                <a:latin typeface="Leelawadee UI"/>
                <a:cs typeface="Leelawadee UI"/>
              </a:rPr>
              <a:t>ตำแหน่งใน Workflow: อาการนี้มักจบที่ Step 4 สาขา "Resource Bottleneck" หรือ "Query Design"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Scenario B vs C — Blocking/Deadlocks เทียบ I/O Latency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ซ้าย (Scenario B — High Blocking/Deadlocks):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สาเหตุ Long-running Transactions · Poor Index Design · Application ไม่ปล่อย Lock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ขวา (Scenario C — High I/O Latency):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สาเหตุ Working Set &gt; Memory (Buffer Pool Trashing) · Storage Subsystem ไม่เพียงพอ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ขวา (Resolution):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เพิ่ม Memory (Scale-up) · Indexing ลด Physical Reads · Optimize Storage IOPS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ซ้าย (Investigation):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Blocking Chain จาก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sys.dm_exec_requests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+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sys.dm_tran_locks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(Deadlock cycle จาก M5)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ซ้าย (Resolution):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ปรับ Index · พิจารณา RCSI · แก้ Application Code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ขวา (Investigation):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PerfMon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Avg. Disk sec/Read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· Page Life Expectancy ต่ำ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Active Blocking &amp; Top Resource Queries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จำลอง blocking ด้วย </a:t>
            </a:r>
            <a:r>
              <a:rPr sz="1600" b="0">
                <a:latin typeface="Consolas"/>
                <a:cs typeface="Consolas"/>
              </a:rPr>
              <a:t>01_Chaos_Generator.sql</a:t>
            </a:r>
            <a:r>
              <a:rPr sz="1600" b="0">
                <a:latin typeface="Leelawadee UI"/>
                <a:cs typeface="Leelawadee UI"/>
              </a:rPr>
              <a:t> (session สุ่มเป็น Blocker/CPU Hog/IO Hog) แล้วรัน </a:t>
            </a:r>
            <a:r>
              <a:rPr sz="1600" b="0">
                <a:latin typeface="Consolas"/>
                <a:cs typeface="Consolas"/>
              </a:rPr>
              <a:t>06_Active_Blocking.sql</a:t>
            </a:r>
            <a:r>
              <a:rPr sz="1600" b="0">
                <a:latin typeface="Leelawadee UI"/>
                <a:cs typeface="Leelawadee UI"/>
              </a:rPr>
              <a:t> — เห็น Blocked Session ↔ Blocking Session พร้อม </a:t>
            </a:r>
            <a:r>
              <a:rPr sz="1600" b="1">
                <a:latin typeface="Leelawadee UI"/>
                <a:cs typeface="Leelawadee UI"/>
              </a:rPr>
              <a:t>text ของทั้งสอง query</a:t>
            </a:r>
            <a:r>
              <a:rPr sz="1600" b="0">
                <a:latin typeface="Leelawadee UI"/>
                <a:cs typeface="Leelawadee UI"/>
              </a:rPr>
              <a:t> + จับ </a:t>
            </a:r>
            <a:r>
              <a:rPr sz="1600" b="1">
                <a:latin typeface="Leelawadee UI"/>
                <a:cs typeface="Leelawadee UI"/>
              </a:rPr>
              <a:t>Head Blocker</a:t>
            </a:r>
            <a:r>
              <a:rPr sz="1600" b="0">
                <a:latin typeface="Leelawadee UI"/>
                <a:cs typeface="Leelawadee UI"/>
              </a:rPr>
              <a:t> (block คนอื่นแต่ตัวเองไม่ได้รอ)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0">
                <a:latin typeface="Leelawadee UI"/>
                <a:cs typeface="Leelawadee UI"/>
              </a:rPr>
              <a:t>รัน </a:t>
            </a:r>
            <a:r>
              <a:rPr sz="1600" b="0">
                <a:latin typeface="Consolas"/>
                <a:cs typeface="Consolas"/>
              </a:rPr>
              <a:t>07_Top_Resource_Queries.sql</a:t>
            </a:r>
            <a:r>
              <a:rPr sz="1600" b="0">
                <a:latin typeface="Leelawadee UI"/>
                <a:cs typeface="Leelawadee UI"/>
              </a:rPr>
              <a:t> — Top 10 จาก </a:t>
            </a:r>
            <a:r>
              <a:rPr sz="1600" b="0">
                <a:latin typeface="Consolas"/>
                <a:cs typeface="Consolas"/>
              </a:rPr>
              <a:t>sys.dm_exec_query_stats</a:t>
            </a:r>
            <a:r>
              <a:rPr sz="1600" b="0">
                <a:latin typeface="Leelawadee UI"/>
                <a:cs typeface="Leelawadee UI"/>
              </a:rPr>
              <a:t> จัดอันดับได้ 3 แบบ: </a:t>
            </a:r>
            <a:r>
              <a:rPr sz="1600" b="1">
                <a:latin typeface="Leelawadee UI"/>
                <a:cs typeface="Leelawadee UI"/>
              </a:rPr>
              <a:t>by CPU time / by Logical Reads / by Execution Count</a:t>
            </a:r>
            <a:r>
              <a:rPr sz="1600" b="0">
                <a:latin typeface="Leelawadee UI"/>
                <a:cs typeface="Leelawadee UI"/>
              </a:rPr>
              <a:t> (รันจาก </a:t>
            </a:r>
            <a:r>
              <a:rPr sz="1600" b="0">
                <a:latin typeface="Consolas"/>
                <a:cs typeface="Consolas"/>
              </a:rPr>
              <a:t>master</a:t>
            </a:r>
            <a:r>
              <a:rPr sz="1600" b="0">
                <a:latin typeface="Leelawadee UI"/>
                <a:cs typeface="Leelawadee UI"/>
              </a:rPr>
              <a:t>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latin typeface="Leelawadee UI"/>
                <a:cs typeface="Leelawadee UI"/>
              </a:rPr>
              <a:t>ต้องรู้ก่อน (มติ #9):</a:t>
            </a:r>
            <a:r>
              <a:rPr sz="1600" b="0">
                <a:latin typeface="Leelawadee UI"/>
                <a:cs typeface="Leelawadee UI"/>
              </a:rPr>
              <a:t> </a:t>
            </a:r>
            <a:r>
              <a:rPr sz="1600" b="0">
                <a:latin typeface="Consolas"/>
                <a:cs typeface="Consolas"/>
              </a:rPr>
              <a:t>CROSS APPLY</a:t>
            </a:r>
            <a:r>
              <a:rPr sz="1600" b="0">
                <a:latin typeface="Leelawadee UI"/>
                <a:cs typeface="Leelawadee UI"/>
              </a:rPr>
              <a:t> = เรียก table-valued function ต่อแถวฝั่งซ้าย (ดึง text จาก </a:t>
            </a:r>
            <a:r>
              <a:rPr sz="1600" b="0">
                <a:latin typeface="Consolas"/>
                <a:cs typeface="Consolas"/>
              </a:rPr>
              <a:t>sql_handle</a:t>
            </a:r>
            <a:r>
              <a:rPr sz="1600" b="0">
                <a:latin typeface="Leelawadee UI"/>
                <a:cs typeface="Leelawadee UI"/>
              </a:rPr>
              <a:t>) · </a:t>
            </a:r>
            <a:r>
              <a:rPr sz="1600" b="0">
                <a:latin typeface="Consolas"/>
                <a:cs typeface="Consolas"/>
              </a:rPr>
              <a:t>OUTER APPLY</a:t>
            </a:r>
            <a:r>
              <a:rPr sz="1600" b="0">
                <a:latin typeface="Leelawadee UI"/>
                <a:cs typeface="Leelawadee UI"/>
              </a:rPr>
              <a:t> = เหมือนกันแต่คืนแถวซ้ายได้แม้ฝั่งขวาว่าง · </a:t>
            </a:r>
            <a:r>
              <a:rPr sz="1600" b="0">
                <a:latin typeface="Consolas"/>
                <a:cs typeface="Consolas"/>
              </a:rPr>
              <a:t>SUBSTRING(text, statement_start_offset/2+1, …)</a:t>
            </a:r>
            <a:r>
              <a:rPr sz="1600" b="0">
                <a:latin typeface="Leelawadee UI"/>
                <a:cs typeface="Leelawadee UI"/>
              </a:rPr>
              <a:t> = ตัดเฉพาะ statement ที่รันจาก batch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600" b="1">
                <a:latin typeface="Leelawadee UI"/>
                <a:cs typeface="Leelawadee UI"/>
              </a:rPr>
              <a:t>error ที่พบได้:</a:t>
            </a:r>
            <a:r>
              <a:rPr sz="1600" b="0">
                <a:latin typeface="Leelawadee UI"/>
                <a:cs typeface="Leelawadee UI"/>
              </a:rPr>
              <a:t> subquery หา blocking query คืน </a:t>
            </a:r>
            <a:r>
              <a:rPr sz="1600" b="0">
                <a:latin typeface="Consolas"/>
                <a:cs typeface="Consolas"/>
              </a:rPr>
              <a:t>NULL</a:t>
            </a:r>
            <a:r>
              <a:rPr sz="1600" b="0">
                <a:latin typeface="Leelawadee UI"/>
                <a:cs typeface="Leelawadee UI"/>
              </a:rPr>
              <a:t> เมื่อ head blocker จบ transaction ไปแล้ว (รันซ้ำเร็ว ๆ / ใช้ XEvent </a:t>
            </a:r>
            <a:r>
              <a:rPr sz="1600" b="0">
                <a:latin typeface="Consolas"/>
                <a:cs typeface="Consolas"/>
              </a:rPr>
              <a:t>blocked_process_report</a:t>
            </a:r>
            <a:r>
              <a:rPr sz="1600" b="0">
                <a:latin typeface="Leelawadee UI"/>
                <a:cs typeface="Leelawadee UI"/>
              </a:rPr>
              <a:t> แทน) · </a:t>
            </a:r>
            <a:r>
              <a:rPr sz="1600" b="0">
                <a:latin typeface="Consolas"/>
                <a:cs typeface="Consolas"/>
              </a:rPr>
              <a:t>VIEW SERVER STATE permission was denied</a:t>
            </a:r>
            <a:r>
              <a:rPr sz="1600" b="0">
                <a:latin typeface="Leelawadee UI"/>
                <a:cs typeface="Leelawadee UI"/>
              </a:rPr>
              <a:t> · </a:t>
            </a:r>
            <a:r>
              <a:rPr sz="1600" b="1">
                <a:latin typeface="Leelawadee UI"/>
                <a:cs typeface="Leelawadee UI"/>
              </a:rPr>
              <a:t>รุ่นขั้นต่ำ:</a:t>
            </a:r>
            <a:r>
              <a:rPr sz="1600" b="0">
                <a:latin typeface="Leelawadee UI"/>
                <a:cs typeface="Leelawadee UI"/>
              </a:rPr>
              <a:t> SQL Server 2019+ — header </a:t>
            </a:r>
            <a:r>
              <a:rPr sz="1600" b="0">
                <a:latin typeface="Consolas"/>
                <a:cs typeface="Consolas"/>
              </a:rPr>
              <a:t>MinVersion:</a:t>
            </a:r>
            <a:r>
              <a:rPr sz="1600" b="0">
                <a:latin typeface="Leelawadee UI"/>
                <a:cs typeface="Leelawadee UI"/>
              </a:rPr>
              <a:t> ยังไม่ถูกเพิ่ม (เติมตามเฟส 0)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solidFill>
                  <a:srgbClr val="243040"/>
                </a:solidFill>
                <a:latin typeface="Leelawadee UI"/>
                <a:cs typeface="Leelawadee UI"/>
              </a:rPr>
              <a:t>จาก Mitigation สู่ Root Fix — และการทำ Runbook ให้ทีม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Mitigate เฉพาะหน้า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= ตัดตัวการให้ระบบกลับมาใช้ได้ทันที (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KILL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head blocker / หยุด query) — แต่ยังไม่แก้ต้นเหตุ ปัญหาจะกลับมา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ยืนยันระบบฟื้น: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รัน diagnosis ซ้ำ —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still_blocked = 0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และ waits คืนระดับ baseline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Root fix ต่ออาการ: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Transaction ค้าง → XEvent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blocked_process_report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+ 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blocked process threshold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· CPU หนัก → index/plan + DOP/CTFP · Result set ยักษ์ → แก้ query ฝั่ง app (</a:t>
            </a:r>
            <a:r>
              <a:rPr sz="1500" b="0">
                <a:solidFill>
                  <a:srgbClr val="243040"/>
                </a:solidFill>
                <a:latin typeface="Consolas"/>
                <a:cs typeface="Consolas"/>
              </a:rPr>
              <a:t>ASYNC_NETWORK_IO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) · Sort spill → index ลด sort + Memory Grant Feedback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Skill ระดับ 4: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สรุปทุก scenario เป็น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Runbook/Checklist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ให้ทีม DBA/DevOps — ทุกคนแก้ปัญหาได้เป็นระบบเดียวกัน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ปิดด้วยวงจร: </a:t>
            </a:r>
            <a:r>
              <a:rPr sz="1500" b="1">
                <a:solidFill>
                  <a:srgbClr val="243040"/>
                </a:solidFill>
                <a:latin typeface="Leelawadee UI"/>
                <a:cs typeface="Leelawadee UI"/>
              </a:rPr>
              <a:t>"Performance Tuning is a journey, not a destination"</a:t>
            </a:r>
            <a:r>
              <a:rPr sz="1500" b="0">
                <a:solidFill>
                  <a:srgbClr val="243040"/>
                </a:solidFill>
                <a:latin typeface="Leelawadee UI"/>
                <a:cs typeface="Leelawadee UI"/>
              </a:rPr>
              <a:t> — Monitor + Adapt เสมอ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Lab 11 — "The Broken Server" Challenge (3 Exercise)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Lab 11 — 3 Exercise</a:t>
            </a:r>
            <a:r>
              <a:rPr sz="1500" b="0">
                <a:latin typeface="Leelawadee UI"/>
                <a:cs typeface="Leelawadee UI"/>
              </a:rPr>
              <a:t> (แล็บที่ 11 จาก 11 แล็บ / 40 Exercise ทั้งหลักสูตร): เช้าวันจันทร์ 09:00 ผู้ใช้ 200 คนแจ้ง "ระบบช้ามาก" — มีเวลา 20 นาทีหา root cause และฟื้นระบบ ด้วย framework </a:t>
            </a:r>
            <a:r>
              <a:rPr sz="1500" b="1">
                <a:latin typeface="Leelawadee UI"/>
                <a:cs typeface="Leelawadee UI"/>
              </a:rPr>
              <a:t>Wait Stats → Resource → Query → Index → Config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Ex1</a:t>
            </a:r>
            <a:r>
              <a:rPr sz="1500" b="0">
                <a:latin typeface="Leelawadee UI"/>
                <a:cs typeface="Leelawadee UI"/>
              </a:rPr>
              <a:t> จุดชนวนความโกลาหล 4 หน้าต่าง: blocking (transaction ค้าง 5 นาที) + CPU loop + I/O result set ยักษ์ + memory grant (sort ใหญ่) แล้วสลับบทบาทเป็น DBA ที่เพิ่งเข้ามาใหม่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Ex2</a:t>
            </a:r>
            <a:r>
              <a:rPr sz="1500" b="0">
                <a:latin typeface="Leelawadee UI"/>
                <a:cs typeface="Leelawadee UI"/>
              </a:rPr>
              <a:t> Top-down Diagnosis: ชั้น Waits (สดจาก </a:t>
            </a:r>
            <a:r>
              <a:rPr sz="1500" b="0">
                <a:latin typeface="Consolas"/>
                <a:cs typeface="Consolas"/>
              </a:rPr>
              <a:t>sys.dm_exec_requests</a:t>
            </a:r>
            <a:r>
              <a:rPr sz="1500" b="0">
                <a:latin typeface="Leelawadee UI"/>
                <a:cs typeface="Leelawadee UI"/>
              </a:rPr>
              <a:t> + </a:t>
            </a:r>
            <a:r>
              <a:rPr sz="1500" b="0">
                <a:latin typeface="Consolas"/>
                <a:cs typeface="Consolas"/>
              </a:rPr>
              <a:t>CROSS APPLY</a:t>
            </a:r>
            <a:r>
              <a:rPr sz="1500" b="0">
                <a:latin typeface="Leelawadee UI"/>
                <a:cs typeface="Leelawadee UI"/>
              </a:rPr>
              <a:t>) → ชั้น Resource (head blocker ลูกโซ่ + scheduler queue) → ชั้น Query (</a:t>
            </a:r>
            <a:r>
              <a:rPr sz="1500" b="0">
                <a:latin typeface="Consolas"/>
                <a:cs typeface="Consolas"/>
              </a:rPr>
              <a:t>dm_exec_query_stats</a:t>
            </a:r>
            <a:r>
              <a:rPr sz="1500" b="0">
                <a:latin typeface="Leelawadee UI"/>
                <a:cs typeface="Leelawadee UI"/>
              </a:rPr>
              <a:t> + Query Store) → ชั้น Config (</a:t>
            </a:r>
            <a:r>
              <a:rPr sz="1500" b="0">
                <a:latin typeface="Consolas"/>
                <a:cs typeface="Consolas"/>
              </a:rPr>
              <a:t>sys.configurations</a:t>
            </a:r>
            <a:r>
              <a:rPr sz="1500" b="0">
                <a:latin typeface="Leelawadee UI"/>
                <a:cs typeface="Leelawadee UI"/>
              </a:rPr>
              <a:t>) — ✅ คาดหวังจาก chaos: head blocker 1 ตัว + </a:t>
            </a:r>
            <a:r>
              <a:rPr sz="1500" b="0">
                <a:latin typeface="Consolas"/>
                <a:cs typeface="Consolas"/>
              </a:rPr>
              <a:t>LCK_M_X</a:t>
            </a:r>
            <a:r>
              <a:rPr sz="1500" b="0">
                <a:latin typeface="Leelawadee UI"/>
                <a:cs typeface="Leelawadee UI"/>
              </a:rPr>
              <a:t> + </a:t>
            </a:r>
            <a:r>
              <a:rPr sz="1500" b="0">
                <a:latin typeface="Consolas"/>
                <a:cs typeface="Consolas"/>
              </a:rPr>
              <a:t>SOS_SCHEDULER_YIELD</a:t>
            </a:r>
            <a:r>
              <a:rPr sz="1500" b="0">
                <a:latin typeface="Leelawadee UI"/>
                <a:cs typeface="Leelawadee UI"/>
              </a:rPr>
              <a:t> + </a:t>
            </a:r>
            <a:r>
              <a:rPr sz="1500" b="0">
                <a:latin typeface="Consolas"/>
                <a:cs typeface="Consolas"/>
              </a:rPr>
              <a:t>WRITELOG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Ex3</a:t>
            </a:r>
            <a:r>
              <a:rPr sz="1500" b="0">
                <a:latin typeface="Leelawadee UI"/>
                <a:cs typeface="Leelawadee UI"/>
              </a:rPr>
              <a:t> Mitigate → Root Fix: </a:t>
            </a:r>
            <a:r>
              <a:rPr sz="1500" b="0">
                <a:latin typeface="Consolas"/>
                <a:cs typeface="Consolas"/>
              </a:rPr>
              <a:t>KILL</a:t>
            </a:r>
            <a:r>
              <a:rPr sz="1500" b="0">
                <a:latin typeface="Leelawadee UI"/>
                <a:cs typeface="Leelawadee UI"/>
              </a:rPr>
              <a:t> head blocker → ยืนยัน </a:t>
            </a:r>
            <a:r>
              <a:rPr sz="1500" b="0">
                <a:latin typeface="Consolas"/>
                <a:cs typeface="Consolas"/>
              </a:rPr>
              <a:t>still_blocked = 0</a:t>
            </a:r>
            <a:r>
              <a:rPr sz="1500" b="0">
                <a:latin typeface="Leelawadee UI"/>
                <a:cs typeface="Leelawadee UI"/>
              </a:rPr>
              <a:t> → เขียน root fix plan ต่อตารางอาการ (+ Optional ทวนสอบ XEvent session จาก Lab 9)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Prereq:</a:t>
            </a:r>
            <a:r>
              <a:rPr sz="1500" b="0">
                <a:latin typeface="Leelawadee UI"/>
                <a:cs typeface="Leelawadee UI"/>
              </a:rPr>
              <a:t> </a:t>
            </a:r>
            <a:r>
              <a:rPr sz="1500" b="0">
                <a:latin typeface="Consolas"/>
                <a:cs typeface="Consolas"/>
              </a:rPr>
              <a:t>sysadmin</a:t>
            </a:r>
            <a:r>
              <a:rPr sz="1500" b="0">
                <a:latin typeface="Leelawadee UI"/>
                <a:cs typeface="Leelawadee UI"/>
              </a:rPr>
              <a:t> (ต้องใช้ </a:t>
            </a:r>
            <a:r>
              <a:rPr sz="1500" b="0">
                <a:latin typeface="Consolas"/>
                <a:cs typeface="Consolas"/>
              </a:rPr>
              <a:t>KILL</a:t>
            </a:r>
            <a:r>
              <a:rPr sz="1500" b="0">
                <a:latin typeface="Leelawadee UI"/>
                <a:cs typeface="Leelawadee UI"/>
              </a:rPr>
              <a:t>) · AdventureWorks2025 · SQL Server 2019+ (แนะนำ 2025 17.x) · </a:t>
            </a:r>
            <a:r>
              <a:rPr sz="1500" b="1">
                <a:latin typeface="Leelawadee UI"/>
                <a:cs typeface="Leelawadee UI"/>
              </a:rPr>
              <a:t>Cleanup:</a:t>
            </a:r>
            <a:r>
              <a:rPr sz="1500" b="0">
                <a:latin typeface="Leelawadee UI"/>
                <a:cs typeface="Leelawadee UI"/>
              </a:rPr>
              <a:t> เก็บ baseline snapshot ปิดท้ายใน </a:t>
            </a:r>
            <a:r>
              <a:rPr sz="1500" b="0">
                <a:latin typeface="Consolas"/>
                <a:cs typeface="Consolas"/>
              </a:rPr>
              <a:t>DBA_Baseline.dbo.CaptureBaselineSnapshot</a:t>
            </a:r>
            <a:r>
              <a:rPr sz="1500" b="0">
                <a:latin typeface="Leelawadee UI"/>
                <a:cs typeface="Leelawadee UI"/>
              </a:rPr>
              <a:t> ที่สร้างไว้จาก Lab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spcAft>
                <a:spcPts val="800"/>
              </a:spcAft>
              <a:buNone/>
            </a:pPr>
            <a:r>
              <a:rPr sz="3000" b="1">
                <a:latin typeface="Leelawadee UI"/>
                <a:cs typeface="Leelawadee UI"/>
              </a:rPr>
              <a:t>สรุปโมดูล + Quiz — ปิดหลักสูตร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/>
          </p:nvPr>
        </p:nvSpPr>
        <p:spPr/>
        <p:txBody>
          <a:bodyPr anchor="ctr"/>
          <a:lstStyle/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Workflow 4 Step + 3 สาเหตุหลัก:</a:t>
            </a:r>
            <a:r>
              <a:rPr sz="1500" b="0">
                <a:latin typeface="Leelawadee UI"/>
                <a:cs typeface="Leelawadee UI"/>
              </a:rPr>
              <a:t> Define → Health → Waits → Root Cause — Wait Stats บอกว่า "รออะไร" แล้วตีความเป็นสาเหตุ (CPU/Blocking/I/O/TempDB/Memory Grant)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Chain of Pain:</a:t>
            </a:r>
            <a:r>
              <a:rPr sz="1500" b="0">
                <a:latin typeface="Leelawadee UI"/>
                <a:cs typeface="Leelawadee UI"/>
              </a:rPr>
              <a:t> แก้ต้นเหตุระดับ Hardware/Memory ก่อนโทษ Concurrency — Don't shoot the messenger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Scenario → Investigation → Resolution</a:t>
            </a:r>
            <a:r>
              <a:rPr sz="1500" b="0">
                <a:latin typeface="Leelawadee UI"/>
                <a:cs typeface="Leelawadee UI"/>
              </a:rPr>
              <a:t> ต่อ CPU / Blocking / I/O และ </a:t>
            </a:r>
            <a:r>
              <a:rPr sz="1500" b="1">
                <a:latin typeface="Leelawadee UI"/>
                <a:cs typeface="Leelawadee UI"/>
              </a:rPr>
              <a:t>Mitigate ≠ Root fix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1">
                <a:latin typeface="Leelawadee UI"/>
                <a:cs typeface="Leelawadee UI"/>
              </a:rPr>
              <a:t>Quiz 1:</a:t>
            </a:r>
            <a:r>
              <a:rPr sz="1500" b="0">
                <a:latin typeface="Leelawadee UI"/>
                <a:cs typeface="Leelawadee UI"/>
              </a:rPr>
              <a:t> ขั้นตอนแรกของ Troubleshooting คืออะไร? · </a:t>
            </a:r>
            <a:r>
              <a:rPr sz="1500" b="1">
                <a:latin typeface="Leelawadee UI"/>
                <a:cs typeface="Leelawadee UI"/>
              </a:rPr>
              <a:t>Quiz 2:</a:t>
            </a:r>
            <a:r>
              <a:rPr sz="1500" b="0">
                <a:latin typeface="Leelawadee UI"/>
                <a:cs typeface="Leelawadee UI"/>
              </a:rPr>
              <a:t> Server Resource ปกติแต่ยังบ่นช้า ดูอะไรต่อ? · </a:t>
            </a:r>
            <a:r>
              <a:rPr sz="1500" b="1">
                <a:latin typeface="Leelawadee UI"/>
                <a:cs typeface="Leelawadee UI"/>
              </a:rPr>
              <a:t>Quiz 3:</a:t>
            </a:r>
            <a:r>
              <a:rPr sz="1500" b="0">
                <a:latin typeface="Leelawadee UI"/>
                <a:cs typeface="Leelawadee UI"/>
              </a:rPr>
              <a:t> "Performance Tuning is a journey" หมายความว่าอย่างไร?</a:t>
            </a:r>
          </a:p>
          <a:p>
            <a:pPr marL="228600" indent="-228600">
              <a:spcAft>
                <a:spcPts val="800"/>
              </a:spcAft>
              <a:buFont typeface="Arial"/>
              <a:buChar char="▪"/>
            </a:pPr>
            <a:r>
              <a:rPr sz="1500" b="0">
                <a:latin typeface="Leelawadee UI"/>
                <a:cs typeface="Leelawadee UI"/>
              </a:rPr>
              <a:t>ปิดหลักสูตร: จากวันนี้ต่อไป — </a:t>
            </a:r>
            <a:r>
              <a:rPr sz="1500" b="1">
                <a:latin typeface="Leelawadee UI"/>
                <a:cs typeface="Leelawadee UI"/>
              </a:rPr>
              <a:t>Monitor (เฝ้าระวัง) + Adapt (ปรับตัว)</a:t>
            </a:r>
            <a:r>
              <a:rPr sz="1500" b="0">
                <a:latin typeface="Leelawadee UI"/>
                <a:cs typeface="Leelawadee UI"/>
              </a:rPr>
              <a:t> ให้ทันกับข้อมูลที่เปลี่ยนตลอดเวลา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Trainocate">
      <a:dk1>
        <a:srgbClr val="1A1A1A"/>
      </a:dk1>
      <a:lt1>
        <a:sysClr val="window" lastClr="FFFFFF"/>
      </a:lt1>
      <a:dk2>
        <a:srgbClr val="000444"/>
      </a:dk2>
      <a:lt2>
        <a:srgbClr val="F7F7F7"/>
      </a:lt2>
      <a:accent1>
        <a:srgbClr val="000444"/>
      </a:accent1>
      <a:accent2>
        <a:srgbClr val="E94B22"/>
      </a:accent2>
      <a:accent3>
        <a:srgbClr val="FF3900"/>
      </a:accent3>
      <a:accent4>
        <a:srgbClr val="15155E"/>
      </a:accent4>
      <a:accent5>
        <a:srgbClr val="F5A623"/>
      </a:accent5>
      <a:accent6>
        <a:srgbClr val="6B6A6A"/>
      </a:accent6>
      <a:hlink>
        <a:srgbClr val="E94B22"/>
      </a:hlink>
      <a:folHlink>
        <a:srgbClr val="15155E"/>
      </a:folHlink>
    </a:clrScheme>
    <a:fontScheme name="Office">
      <a:majorFont>
        <a:latin typeface="Leelawadee UI" panose="02110004020202020204"/>
        <a:ea typeface=""/>
        <a:cs typeface="Leelawadee U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eelawadee UI" panose="02110004020202020204"/>
        <a:ea typeface=""/>
        <a:cs typeface="Leelawadee U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rainocate_SQLPerfTuning_Template.potx" id="{F1E5A7CF-DD4E-4134-8E80-8723502F551E}" vid="{3993AF59-4E85-4845-8CC3-0524E32EA5E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Consolas</vt:lpstr>
      <vt:lpstr>Leelawadee UI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Phakkhaphong Krittawat</dc:creator>
  <cp:lastModifiedBy>Phakkhaphong Krittawat</cp:lastModifiedBy>
  <cp:revision>1</cp:revision>
  <dcterms:created xsi:type="dcterms:W3CDTF">2026-09-26T12:09:30Z</dcterms:created>
  <dcterms:modified xsi:type="dcterms:W3CDTF">2026-09-26T12:09:30Z</dcterms:modified>
</cp:coreProperties>
</file>