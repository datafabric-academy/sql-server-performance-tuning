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เปิดด้วยประโยคว่า "ทุก query ที่รันมีต้นทุน compile อยู่เบื้องหลัง และ Plan Cache คือที่ที่คุณจ่ายหรือประหยัดต้นทุนนั้น" Ref: `Module_08_Plan_Caching/README.md`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ประกาศงบเวลาและจำนวน Exercise ให้ผู้เรียนวางแผนเวลาแล็บตั้งแต่ต้น; Ref: `Trainer_Docs/Course_Guide_4Days.md:102-103` · `Module_08_Plan_Caching/Labs/README.md` · `Module_08_Plan_Caching/README.md`</a:t>
            </a:r>
          </a:p>
          <a:p>
            <a:r>
              <a:t>จุดเพิ่มเติมที่ย่อออกจากสไลด์: **งบเวลาโมดูล: 165 นาที** (บรรยาย 90 + Lab 75) · **Lab 8 = 4 Exercise** | ต้องรู้มาก่อน: Execution Plan และตัวชี้วัดพื้นฐานจาก Module 7 (เรียนเช้าวันเดียวกัน) + permission `ALTER DATABASE` บน VM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execution plan และ compile pipeline จาก Module 7 + ศัพท์ DMV — ชี้ glossary กลางของหลักสูตร (ไฟล์สร้างในเฟส 0 Blocking; วันนี้ยังไม่มีไฟล์ใน repo ต้องเติมลิงก์ก่อนประกอบเด็ค) Ref: `Module_08_Plan_Caching/Sections/01_Plan_Cache_Internals/README.md`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เน้นว่า OBJCP มัก reuse สูงเพราะเป็น proc ส่วน SQLCP คือที่ที่ Plan Bloat ซุกตัว Ref: `Module_08_Plan_Caching/Sections/01_Plan_Cache_Internals/README.md` · `Module_08_Plan_Caching/README.md:61`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จุดพลิกของสไลด์นี้คือ "Optimize for Ad-hoc Workloads คือวาล์วปิดต้นทุน Plan Bloat ที่แค่เปิด config" Ref: `Module_08_Plan_Caching/Sections/01_Plan_Cache_Internals/README.md`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ศัพท์/syntax ต้องรู้ก่อน: aggregate + `GROUP BY` และ `SUM(CASE WHEN usecounts = 1 THEN size_in_bytes ELSE 0 END)` (conditional sum ใน aggregate), `CAST AS DECIMAL` เพื่อหารเป็น MB; error ที่พบได้ + รุ่นขั้นต่ำ: DMV นี้ใช้ได้ตั้งแต่รุ่นเก่า ไม่มี syntax 2025-only (แล็บทั้งโมดูลขั้นต่ำ SQL Server 2019+ แนะนำ 2025/17.x) — แต่ไฟล์ยังไม่มี header `MinVersion:` (0/69 ทั้ง repo) ต้องเติมก่อนประกอบเด็ค; **ต้องเขียนเนื้อหาเพิ่ม:** Section 1 ยังไม่มีบล็อก ```sql อธิบาย DMV ใน README — ต้องเติมคำอธิบาย demo นี้ลง section ด้วย. Ref: `Module_08_Plan_Caching/Sections/01_Plan_Cache_Internals/README.md` · Script: `Module_08_Plan_Caching/Sections/01_Plan_Cache_Internals/Scripts/02_Plan_Cache_Size.sql`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cache stores และ lookup flow จาก Section 1 + ศัพท์ plan cache/counter — ชี้ glossary กลาง (ไฟล์เฟส 0 ยังไม่มีใน repo); **ต้องเขียนเนื้อหาเพิ่ม:** README ของ Section 2 มีเพียง 5 บรรทัดสำหรับหัวข้อนี้ — ต้องขยายเนื้อหาเชิงลึก (threshold recompile ต่อ plan, กรณี temp table) ก่อนสอน. Ref: `Module_08_Plan_Caching/Sections/02_Plan_Cache_Troubleshooting/README.md` · `Module_08_Plan_Caching/README.md:60`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**ต้องเขียนเนื้อหาเพิ่ม:** Section 2 อธิบาย sniffing ไว้เพียง 4 บรรทัด — ต้องเติมตัวอย่างอ่าน plan/estimated rows ใน README. Ref: `Module_08_Plan_Caching/Sections/02_Plan_Cache_Troubleshooting/README.md`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ศัพท์/syntax ต้องรู้ก่อน: `CREATE OR ALTER PROC` (syntax แทน drop+create, รุ่นขั้นต่ำ SQL Server 2016 SP1+), `CROSS JOIN master.dbo.spt_values` (ตาราง helper ยิงแถวจำนวนมาก), `DBCC FREEPROCCACHE` (ล้าง plan cache ทั้ง instance); error ที่พบได้ + รุ่นขั้นต่ำ: บนรุ่น &lt; 2016 SP1 `CREATE OR ALTER` พัง "Incorrect syntax near 'OR'" — แล็บโมดูลนี้ขั้นต่ำ 2019+ แนะนำ 17.x; **ต้องเขียนเนื้อหาเพิ่ม/ต้องแก้ไฟล์:** comment ภาษาไทยในสคริปต์ double-encoded (มองเห็นเป็น "à¸§à¸±à¸•à¸–à¸¸...") ต้องแก้ encoding ก่อนใช้สอน. Ref: `Module_08_Plan_Caching/Sections/02_Plan_Cache_Troubleshooting/README.md` · Script: `Module_08_Plan_Caching/Sections/02_Plan_Cache_Troubleshooting/Scripts/01_Parameter_Sniffing.sql`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เฉลย: Q1 กลุ่มสาเหตุ recompile (schema/statistics/SET option) — ไล่ event plan_generation; Q2 Ad-hoc Plan Pollution → เร่งด่วน: `optimize for ad hoc workloads` + ต้นเหตุ: แก้ application เป็น Parameterized Query; Q3 Query Store Hints `sp_query_store_set_hints` (2022+) หรือ `OPTIMIZE FOR UNKNOWN`; **ต้องเขียนเนื้อหาเพิ่ม:** หัวข้อ Plan Cache Bloat ใน Section 2 มีเพียง 3 บรรทัด — ขยายเป็นคำอธิบายเต็มใน README. Ref: `Module_08_Plan_Caching/Sections/02_Plan_Cache_Troubleshooting/README.md` · `Module_08_Plan_Caching/Labs/README.md:174`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ต้องรู้มาก่อน: Parameter Sniffing/Recompilation จาก Section 2 + permission `ALTER DATABASE` — ชี้ glossary กลาง (ไฟล์เฟส 0 ยังไม่มีใน repo); Ref: `Module_08_Plan_Caching/Sections/03_Query_Store_Automatic_Tuning/README.md` · `Module_08_Plan_Caching/Labs/README.md:24-40` หมายเหตุการแก้ (technical review): bullet เดิมเคยระบุ "`CUSTOM` เพิ่มใน 2025" ผิดรุ่น — Microsoft Learn ระบุ `QUERY_CAPTURE_MODE = CUSTOM` "Applies to: SQL Server 2019 (15.x) and later versions" ต้นทางคือ comment ใน `Module_08_Plan_Caching/Labs/README.md:31` (แก้คู่กันในชุดแก้นี้)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**ต้องเขียนเนื้อหาเพิ่ม:** T-SQL บังคับ force plan ปัจจุบันฝังใน markdown (Labs และ section README) ไม่มีไฟล์ใน `Scripts/` — พิจารณาแยกเป็นไฟล์ใหม่พร้อม header `MinVersion:` ก่อนประกอบเด็ค. Ref: `Module_08_Plan_Caching/Sections/03_Query_Store_Automatic_Tuning/README.md` · `Module_08_Plan_Caching/Labs/README.md:79-127`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ย้ำว่า "อัตโนมัติ" ไม่ได้แปลว่าไม่ต้องดู — ต้อง monitor รายการ recommendations ประกบทุกวันจริงการใช้งาน; Ref: `Module_08_Plan_Caching/Sections/03_Query_Store_Automatic_Tuning/README.md`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**ต้องเขียนเนื้อหาเพิ่ม:** ฟีเจอร์ 2025 กลุ่มนี้ปัจจุบันอยู่ในบล็อก outline ท้าย module README ที่ heading เสีย (`## ### 7.x` ที่บรรทัด 59) — ต้องย้าย/ขยายเป็นเนื้อหา Section 3 จริง; ระวัง syntax `ABORT_QUERY_EXECUTION` ยังไม่เคยพิสูจน์บน instance จริง (ความเสี่ยง #7 ของแผนแม่บท) ห้ามสอนแบบรันสดก่อน sign-off 17.x. Ref: `Module_08_Plan_Caching/README.md:59-66` · `Module_08_Plan_Caching/Labs/README.md:131-166`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ศัพท์/syntax ต้องรู้ก่อน: `ALTER DATABASE SCOPED CONFIGURATION CLEAR PROCEDURE_CACHE` (ล้าง plan cache ระดับ database), `GO 20` (รัน batch ซ้ำ 20 รอบ), `JSON_VALUE` อ่าน recommendations; error ที่พบได้ + รุ่นขั้นต่ำ: Exercise 4 เป็นบล็อก 2025-only — `sp_query_store_set_hints` บนรุ่น &lt; 2022 ได้ "Could not find stored procedure", `ABORT_QUERY_EXECUTION` ต้องมี 17.x (error 8799) — **ทางเลือกสำหรับรุ่นเก่า:** ข้าม Exercise 4 ไปทำ Wrap-up และ Cleanup; hard guard `IF…THROW` ใน md ยังไม่มี — ต้องเติมก่อน sign-off. Ref: `Module_08_Plan_Caching/Labs/README.md` · Script: `Module_08_Plan_Caching/Sections/03_Query_Store_Automatic_Tuning/Scripts/03_Query_Store_Regression_Lab.sql`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ทบทวนคำตอบ quiz สไลด์ 10 ถ้ายังไม่เคลียร์ ก่อนเปิด Module 9; Ref: `Module_08_Plan_Caching/README.md` · `Trainer_Docs/Course_Guide_4Days.md:104`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1 Cov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880A5-8FAB-9913-1EFC-8D73DF51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057399"/>
            <a:ext cx="11183112" cy="173736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gline">
            <a:extLst>
              <a:ext uri="{FF2B5EF4-FFF2-40B4-BE49-F238E27FC236}">
                <a16:creationId xmlns:a16="http://schemas.microsoft.com/office/drawing/2014/main" id="{921E5C1F-D102-2273-4815-E78BE19D97B3}"/>
              </a:ext>
            </a:extLst>
          </p:cNvPr>
          <p:cNvSpPr txBox="1"/>
          <p:nvPr userDrawn="1"/>
        </p:nvSpPr>
        <p:spPr>
          <a:xfrm>
            <a:off x="502920" y="1371600"/>
            <a:ext cx="105156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8B8BA6"/>
                </a:solidFill>
                <a:latin typeface="Leelawadee UI" panose="020B0502040204020203" pitchFamily="34" charset="-34"/>
              </a:rPr>
              <a:t>WORLDWIDE LEADER IN PEOPLE, TECHNOLOGY AND BUSINESS TRAINING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2475ED5-2732-1ADD-A07D-4747CCB8FA0D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02920" y="3977640"/>
            <a:ext cx="11183112" cy="1097280"/>
          </a:xfrm>
        </p:spPr>
        <p:txBody>
          <a:bodyPr/>
          <a:lstStyle>
            <a:lvl1pPr marL="0" indent="0" algn="ctr">
              <a:buNone/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B0ECF00A-C239-A338-1330-D88658C633D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2D2BF88-38BF-9016-9ECD-6B5B2CDEC683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FB404D7-FB5A-06B4-AF03-AC30A862FADE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61117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2 Module Divid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5AF3-C270-3F8C-6402-3028D2FF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224528"/>
            <a:ext cx="11183112" cy="1051560"/>
          </a:xfrm>
        </p:spPr>
        <p:txBody>
          <a:bodyPr/>
          <a:lstStyle>
            <a:lvl1pPr>
              <a:defRPr sz="37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igNumber">
            <a:extLst>
              <a:ext uri="{FF2B5EF4-FFF2-40B4-BE49-F238E27FC236}">
                <a16:creationId xmlns:a16="http://schemas.microsoft.com/office/drawing/2014/main" id="{71608DF8-9323-8675-3E0F-69F575DBF6AD}"/>
              </a:ext>
            </a:extLst>
          </p:cNvPr>
          <p:cNvSpPr txBox="1"/>
          <p:nvPr userDrawn="1"/>
        </p:nvSpPr>
        <p:spPr>
          <a:xfrm>
            <a:off x="429768" y="1554480"/>
            <a:ext cx="4023360" cy="206210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800" b="1">
                <a:solidFill>
                  <a:srgbClr val="FFFFFF"/>
                </a:solidFill>
                <a:latin typeface="Leelawadee UI" panose="020B0502040204020203" pitchFamily="34" charset="-34"/>
              </a:rPr>
              <a:t>01</a:t>
            </a:r>
          </a:p>
        </p:txBody>
      </p:sp>
      <p:sp>
        <p:nvSpPr>
          <p:cNvPr id="7" name="ModuleKicker">
            <a:extLst>
              <a:ext uri="{FF2B5EF4-FFF2-40B4-BE49-F238E27FC236}">
                <a16:creationId xmlns:a16="http://schemas.microsoft.com/office/drawing/2014/main" id="{8F80D9DC-8352-308C-6D4C-1CF5C32E555E}"/>
              </a:ext>
            </a:extLst>
          </p:cNvPr>
          <p:cNvSpPr txBox="1"/>
          <p:nvPr userDrawn="1"/>
        </p:nvSpPr>
        <p:spPr>
          <a:xfrm>
            <a:off x="502920" y="3886200"/>
            <a:ext cx="274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E94B22"/>
                </a:solidFill>
                <a:latin typeface="Leelawadee UI" panose="020B0502040204020203" pitchFamily="34" charset="-34"/>
              </a:rPr>
              <a:t>MODULE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51971E-2430-31F9-624F-3013E02F640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5285232"/>
            <a:ext cx="11183112" cy="822960"/>
          </a:xfrm>
        </p:spPr>
        <p:txBody>
          <a:bodyPr/>
          <a:lstStyle>
            <a:lvl1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1pPr>
            <a:lvl2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2pPr>
            <a:lvl3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3pPr>
            <a:lvl4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4pPr>
            <a:lvl5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BrandSquare">
            <a:extLst>
              <a:ext uri="{FF2B5EF4-FFF2-40B4-BE49-F238E27FC236}">
                <a16:creationId xmlns:a16="http://schemas.microsoft.com/office/drawing/2014/main" id="{ED7860CE-8BCD-1EDB-80A7-006E4B04889C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randWordmark">
            <a:extLst>
              <a:ext uri="{FF2B5EF4-FFF2-40B4-BE49-F238E27FC236}">
                <a16:creationId xmlns:a16="http://schemas.microsoft.com/office/drawing/2014/main" id="{3F9BBCD2-610E-34F6-3EBA-417303A22F28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1" name="CourseFooter">
            <a:extLst>
              <a:ext uri="{FF2B5EF4-FFF2-40B4-BE49-F238E27FC236}">
                <a16:creationId xmlns:a16="http://schemas.microsoft.com/office/drawing/2014/main" id="{40298D1F-3D43-7E33-7DFB-202AFD609081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06097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3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8DF1E-9EFA-03E1-C45C-33A7D1558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ECB77B-9789-F88B-5FEC-DD86D6BF931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11183112" cy="4480560"/>
          </a:xfrm>
        </p:spPr>
        <p:txBody>
          <a:bodyPr/>
          <a:lstStyle>
            <a:lvl1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7B531DF2-DA55-6E36-DA85-4CEA1D496EF3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A7E44A4D-806B-DAD0-C11E-641D31AF7361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DBD347E7-97DE-14C3-9402-1B2A0FE14DD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884435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 Two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C824-D6B1-84AD-4D02-58A5DD72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BEC6DA-F0D6-6C13-8252-DD3CD328DB6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DE1CFEC-65E5-AE40-94E3-B098BDF3E0E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291072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05A685D-F87A-7E95-5666-A850472BAE0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B385C038-2509-71B7-275D-6D27512D77B0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069261BB-B597-5A1A-4F02-1068C401FA80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42256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5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3770-572F-A7EB-FE61-BD74A91E8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89EA8A-5F10-57E6-E9D1-990BB462C9E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02920" y="1783080"/>
            <a:ext cx="11183112" cy="4297680"/>
          </a:xfrm>
        </p:spPr>
        <p:txBody>
          <a:bodyPr/>
          <a:lstStyle>
            <a:lvl1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9262207-DA50-353B-D5E5-7DBAAC39C99B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089EA7E6-55F0-111D-3F96-E39555A4CBE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7FE3C47-2373-D3EF-4A93-77C5F285234B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99123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6 Code La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4DDD-212C-1D63-C399-269518A8C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Panel">
            <a:extLst>
              <a:ext uri="{FF2B5EF4-FFF2-40B4-BE49-F238E27FC236}">
                <a16:creationId xmlns:a16="http://schemas.microsoft.com/office/drawing/2014/main" id="{776273E8-AD3A-1C34-49C3-DC754F8B4655}"/>
              </a:ext>
            </a:extLst>
          </p:cNvPr>
          <p:cNvSpPr/>
          <p:nvPr userDrawn="1"/>
        </p:nvSpPr>
        <p:spPr>
          <a:xfrm>
            <a:off x="502920" y="1737360"/>
            <a:ext cx="11183112" cy="4572000"/>
          </a:xfrm>
          <a:prstGeom prst="roundRect">
            <a:avLst>
              <a:gd name="adj" fmla="val 6000"/>
            </a:avLst>
          </a:prstGeom>
          <a:solidFill>
            <a:srgbClr val="0D0D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F13386-576F-633E-9642-6069CF9B0B7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31520" y="1920240"/>
            <a:ext cx="10725912" cy="4206240"/>
          </a:xfrm>
        </p:spPr>
        <p:txBody>
          <a:bodyPr/>
          <a:lstStyle>
            <a:lvl1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1pPr>
            <a:lvl2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2pPr>
            <a:lvl3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3pPr>
            <a:lvl4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4pPr>
            <a:lvl5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6A364C23-0200-75DB-E887-D53D0760CA30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CD123CE5-BCD9-C048-2463-15511C29B60E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E3B40D2F-B569-5E54-9C13-6B620A39821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68904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7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9D54F-7887-8A44-868B-EEAD8D5CD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889D7C-256D-B603-21F0-014984F2AE8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920240"/>
            <a:ext cx="5120640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D303795-F2F2-BD1B-F013-A7BEDC9C21E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035040" y="1920240"/>
            <a:ext cx="5650992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5734C6E-DFF0-3B57-818C-69E93EBBA4D9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D34F2E4-2EFC-35B4-335A-C6685CE81AF6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E22CBFE-B40D-9D03-2AFC-7142E4A4B59C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98095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8 Closing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44D5-82AF-1F6F-6D81-485651FB1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743200"/>
            <a:ext cx="11183112" cy="1188720"/>
          </a:xfrm>
        </p:spPr>
        <p:txBody>
          <a:bodyPr/>
          <a:lstStyle>
            <a:lvl1pPr>
              <a:defRPr sz="6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57F960-21B7-7ABA-5A32-74E0A78A622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4114800"/>
            <a:ext cx="11183112" cy="822960"/>
          </a:xfrm>
        </p:spPr>
        <p:txBody>
          <a:bodyPr/>
          <a:lstStyle>
            <a:lvl1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2pPr>
            <a:lvl3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3pPr>
            <a:lvl4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4pPr>
            <a:lvl5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A49E17A-5A87-1B78-588F-DCEB268137FF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35DBE03E-E4F0-39D7-F041-68477893B78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E7B03E4-B170-4E44-4131-4D61229F43B8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1715879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D681-7824-3500-2A23-3D98C1DF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E8B42-9A59-95CD-9743-7DA33FD96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C859E-9E75-8253-5703-D8A8697D0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50564-7AFF-45C3-A26A-84A3050240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6B3B-860E-E2B1-C023-0B0E80CBD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E3BBA-287C-4617-EE72-89683A6B7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8F649-BB84-456D-AE44-E4FB38E42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86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ปกโมดูล — Plan Caching &amp; Query Store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latin typeface="Leelawadee UI"/>
                <a:cs typeface="Leelawadee UI"/>
              </a:rPr>
              <a:t>Module 8: Plan Caching &amp; Query Store</a:t>
            </a:r>
            <a:r>
              <a:rPr sz="1600" b="0">
                <a:latin typeface="Leelawadee UI"/>
                <a:cs typeface="Leelawadee UI"/>
              </a:rPr>
              <a:t> — "Compile ใช้ CPU แพงเสมอ การใช้ Plan ซ้ำ (Plan Reuse) จึงเป็นหัวใจของ Performance"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วันที่ 3 · 13:00–15:45 (บรรยาย 90 นาที + Lab 75 นาที)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สภาพแวดล้อม: SQL Server 2025 (17.x) · ฐานข้อมูล AdventureWorks2025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โรดแมป 3 Sections + งบเวลา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Section 1 — Plan Cache Internals: โครงสร้าง cache, cache stores, eviction · Section 2 — Plan Cache Troubleshooting: Recompilation, Parameter Sniffing, Plan Bloat</a:t>
            </a:r>
          </a:p>
          <a:p>
            <a:pPr marL="0" indent="0">
              <a:spcAft>
                <a:spcPts val="400"/>
              </a:spcAft>
              <a:buNone/>
            </a:pPr>
            <a:r>
              <a:rPr sz="1500" b="0">
                <a:latin typeface="Leelawadee UI"/>
                <a:cs typeface="Leelawadee UI"/>
              </a:rPr>
              <a:t>Section 3 — Query Store &amp; Automatic Tuning: Regression, Plan Forcing, Feedback Loop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Plan Cache คืออะไร — Plan Lookup 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Plan Cache = พื้นที่ Memory ที่เก็บ Execution Plan ที่ compile แล้ว เพื่อ Reuse — เพราะการ Compile ใช้ CPU สูง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Flow: Query เข้ามา → Hash Query Text → Cache Bucket → พบ Plan = Cache Hit (ใช้ซ้ำ) / ไม่พบ = Optimize &amp; Compile แล้วเก็บลง Cache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Compiled Plan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= โครงสร้างต้นแบบแชร์ข้าม Users ได้ / </a:t>
            </a: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Executable Plan (Context)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= instance ผูกกับ User/Parameter นั้น ๆ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Query Hash = fingerprint ของ query text, Query Plan Hash = fingerprint ของ plan — query เดียวกันแต่ plan_hash ต่าง = สัญญาณ Parameter Sniffing</a:t>
            </a:r>
          </a:p>
        </p:txBody>
      </p:sp>
      <p:pic>
        <p:nvPicPr>
          <p:cNvPr id="4" name="Picture 3" descr="plan-cache-lookup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Cache Stores — Compiled vs Executable และประเภท Store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Compiled Plan: generic structure, ใช้ร่วมได้ → ประหยัด memory เมื่อ reuse สูง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Object Plans (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CACHESTORE_OBJCP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— Stored Procedures, Functions, Triggers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ดูขนาดจริงด้วย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sys.dm_os_memory_cache_counters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(เทียบ SQL Plans vs Object Plans)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Executable Plan: per-session context (runtime state) → หลายใบต่อ 1 compiled plan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SQL Plans (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CACHESTORE_SQLCP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— Ad-hoc queries, Prepared statements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Bound Trees (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CACHESTORE_PHDR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— algebra tree ของ Views/Constraints · Extended SP (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CACHESTORE_XPROC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Eviction, Plan Bloat และ Parameterization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Memory Pressure (local store / global server) เป็นตัวกระตุ้น Eviction Loop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Cost-based Eviction (Clock Hand): plan ที่ไม่ถูกใช้ cost ลดลงจน 0 แล้วถูกขับออก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DBCC FREEPROCCACHE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= ล้างทั้ง cache: CPU spike จาก compile ใหม่ทั้งหมด (Compilation Storm) + เสีย I/O อ่าน Metadata — ห้ามใช้เล่นใน Production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Auto-parameterization ทำเฉพาะ Simple Query / Forced Parameterization: compile น้อยลงแต่เสี่ยง Parameter Sniffing รุนแรง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Optimize for Ad-hoc Workloads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: รันครั้งแรกเก็บแค่ Compiled Plan Stub ขนาดเล็ก รันซ้ำจึงเก็บ Full Plan — ลด Single-use plan มหาศาล</a:t>
            </a:r>
          </a:p>
        </p:txBody>
      </p:sp>
      <p:pic>
        <p:nvPicPr>
          <p:cNvPr id="4" name="Picture 3" descr="plan-cache-eviction-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Code Lab — สำรวจ Plan Cache ด้วย sys.dm_exec_cached_plans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รัน query จัดกลุ่มด้วย </a:t>
            </a:r>
            <a:r>
              <a:rPr sz="1600" b="0">
                <a:latin typeface="Consolas"/>
                <a:cs typeface="Consolas"/>
              </a:rPr>
              <a:t>objtype</a:t>
            </a:r>
            <a:r>
              <a:rPr sz="1600" b="0">
                <a:latin typeface="Leelawadee UI"/>
                <a:cs typeface="Leelawadee UI"/>
              </a:rPr>
              <a:t> (Adhoc / Prepared / Proc) ด้วย </a:t>
            </a:r>
            <a:r>
              <a:rPr sz="1600" b="0">
                <a:latin typeface="Consolas"/>
                <a:cs typeface="Consolas"/>
              </a:rPr>
              <a:t>COUNT_BIG</a:t>
            </a:r>
            <a:r>
              <a:rPr sz="1600" b="0">
                <a:latin typeface="Leelawadee UI"/>
                <a:cs typeface="Leelawadee UI"/>
              </a:rPr>
              <a:t>, </a:t>
            </a:r>
            <a:r>
              <a:rPr sz="1600" b="0">
                <a:latin typeface="Consolas"/>
                <a:cs typeface="Consolas"/>
              </a:rPr>
              <a:t>SUM(size_in_bytes)</a:t>
            </a:r>
            <a:r>
              <a:rPr sz="1600" b="0">
                <a:latin typeface="Leelawadee UI"/>
                <a:cs typeface="Leelawadee UI"/>
              </a:rPr>
              <a:t>, </a:t>
            </a:r>
            <a:r>
              <a:rPr sz="1600" b="0">
                <a:latin typeface="Consolas"/>
                <a:cs typeface="Consolas"/>
              </a:rPr>
              <a:t>AVG(usecounts)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โฟกัสคอลัมน์ </a:t>
            </a:r>
            <a:r>
              <a:rPr sz="1600" b="1">
                <a:latin typeface="Leelawadee UI"/>
                <a:cs typeface="Leelawadee UI"/>
              </a:rPr>
              <a:t>Single-Use Plans</a:t>
            </a:r>
            <a:r>
              <a:rPr sz="1600" b="0">
                <a:latin typeface="Leelawadee UI"/>
                <a:cs typeface="Leelawadee UI"/>
              </a:rPr>
              <a:t> และ </a:t>
            </a:r>
            <a:r>
              <a:rPr sz="1600" b="1">
                <a:latin typeface="Leelawadee UI"/>
                <a:cs typeface="Leelawadee UI"/>
              </a:rPr>
              <a:t>Single-Use Size (MB)</a:t>
            </a:r>
            <a:r>
              <a:rPr sz="1600" b="0">
                <a:latin typeface="Leelawadee UI"/>
                <a:cs typeface="Leelawadee UI"/>
              </a:rPr>
              <a:t> — ตัวชี้วัด Plan Bloat โดยตรง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อ่านผลลัพธ์: objtype ไหนกิน memory มากสุด / usecounts เฉลี่ยต่ำแค่ไหน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ต่อยอด: เปิด </a:t>
            </a:r>
            <a:r>
              <a:rPr sz="1600" b="0">
                <a:latin typeface="Consolas"/>
                <a:cs typeface="Consolas"/>
              </a:rPr>
              <a:t>optimize for ad hoc workloads</a:t>
            </a:r>
            <a:r>
              <a:rPr sz="1600" b="0">
                <a:latin typeface="Leelawadee UI"/>
                <a:cs typeface="Leelawadee UI"/>
              </a:rPr>
              <a:t> แล้วรันซ้ำเทียบ single-use size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Recompilation &amp; Compilation Storm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Recompilation = สร้าง Plan ใหม่ทับ Plan เดิมใน Cache — เกิดถี่ = CPU ถูกกัดเงียบ ๆ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สาเหตุ: Schema changes, Statistics update, SET option changes,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OPTION(RECOMPILE)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วัด: Perfmon counter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SQL Recompilations/sec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(คู่กับ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SQL Compilations/sec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Compilation Storm = โหลด compile พร้อมกันจำนวนมาก เช่น หลัง failover หรือ cache flush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ใหม่ใน 2025: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Optimized sp_executesql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batch ผ่าน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sp_executesql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compile แบบ serialize เหมือน stored procedure ช่วยลด storm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Parameter Sniffing — Plan ที่ดีครั้งแรก อาจช้าครั้งต่อไป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Sniffed Value: SQL Server compile plan ตามค่า Parameter ของ "การรันครั้งแรก" แล้วเก็บใช้รวมกับทุกค่า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Scenario ข้อมูลเบ้ (Skew): ค่าที่มี 1 แถว ได้ </a:t>
            </a: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Index Seek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(เร็ว) → ค่าที่มี 10,000 แถว ยังถูกบังคับใช้ Seek + Key Lookup ซ้ำ 10,000 ครั้ง (ควรเป็น Scan)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ตรวจจับ: query_hash เดียวกันแต่ plan_hash ต่าง / Logical Reads พุ่งเฉพาะบางค่า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ทางแก้: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OPTION(RECOMPILE)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OPTIMIZE FOR UNKNOWN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, หรือ Plan Forcing ผ่าน Query Store</a:t>
            </a:r>
          </a:p>
        </p:txBody>
      </p:sp>
      <p:pic>
        <p:nvPicPr>
          <p:cNvPr id="4" name="Picture 3" descr="parameter-sniffing-sk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Code Lab — จำลอง Parameter Sniffing บนข้อมูลเบ้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Setup: ตาราง </a:t>
            </a:r>
            <a:r>
              <a:rPr sz="1600" b="0">
                <a:latin typeface="Consolas"/>
                <a:cs typeface="Consolas"/>
              </a:rPr>
              <a:t>dbo.SniffLab</a:t>
            </a:r>
            <a:r>
              <a:rPr sz="1600" b="0">
                <a:latin typeface="Leelawadee UI"/>
                <a:cs typeface="Leelawadee UI"/>
              </a:rPr>
              <a:t> — 'TH' 1 แถว vs 'US' 10,000 แถว + Index </a:t>
            </a:r>
            <a:r>
              <a:rPr sz="1600" b="0">
                <a:latin typeface="Consolas"/>
                <a:cs typeface="Consolas"/>
              </a:rPr>
              <a:t>IX_Country</a:t>
            </a:r>
            <a:r>
              <a:rPr sz="1600" b="0">
                <a:latin typeface="Leelawadee UI"/>
                <a:cs typeface="Leelawadee UI"/>
              </a:rPr>
              <a:t> (ข้อมูลเบ้จงใจ)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สร้าง proc </a:t>
            </a:r>
            <a:r>
              <a:rPr sz="1600" b="0">
                <a:latin typeface="Consolas"/>
                <a:cs typeface="Consolas"/>
              </a:rPr>
              <a:t>dbo.GetCustomerByCountry</a:t>
            </a:r>
            <a:r>
              <a:rPr sz="1600" b="0">
                <a:latin typeface="Leelawadee UI"/>
                <a:cs typeface="Leelawadee UI"/>
              </a:rPr>
              <a:t> แล้วล้าง cache ด้วย </a:t>
            </a:r>
            <a:r>
              <a:rPr sz="1600" b="0">
                <a:latin typeface="Consolas"/>
                <a:cs typeface="Consolas"/>
              </a:rPr>
              <a:t>DBCC FREEPROCCACHE</a:t>
            </a:r>
            <a:r>
              <a:rPr sz="1600" b="0">
                <a:latin typeface="Leelawadee UI"/>
                <a:cs typeface="Leelawadee UI"/>
              </a:rPr>
              <a:t> (เฉพาะ VM ทดสอบ — ห้าม Production)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Scenario A: รัน 'TH' ก่อน → compile ได้ Seek; Scenario B: รัน 'US' ตาม → ยังใช้ Seek ของ TH, Logical Reads พุ่งผิดปกติ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แก้เฉพาะหน้า: </a:t>
            </a:r>
            <a:r>
              <a:rPr sz="1600" b="0">
                <a:latin typeface="Consolas"/>
                <a:cs typeface="Consolas"/>
              </a:rPr>
              <a:t>EXEC ... WITH RECOMPILE</a:t>
            </a:r>
            <a:r>
              <a:rPr sz="1600" b="0">
                <a:latin typeface="Leelawadee UI"/>
                <a:cs typeface="Leelawadee UI"/>
              </a:rPr>
              <a:t> → ได้ Scan ที่เหมาะกับ 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วินิจฉัย 3 อาการจาก Plan Cache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Q1: Perfmon ขึ้น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SQL Recompilations/sec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สูงผิดปกติช่วงสั้น ๆ — สงสัยสาเหตุกลุ่มไหน และดูอะไรต่อ?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Q2: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CACHESTORE_SQLCP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กิน memory ระดับ GB และ single-use plan เป็นส่วนใหญ่ — วินิจฉัยอะไร และทางแก้ "เร่งด่วน" กับ "ต้นเหตุ" ต่างกันอย่างไร?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Q3: Proc เดิมเร็วเฉพาะบางค่า parameter — วิธีระงับอาการแบบไม่แก้โค้ด application?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(เฉลยอยู่ใน speaker notes)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Query Store — Flight Data Recorder ของ Database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Query Store บันทึก Query Plans + Runtime Statistics ลง Database โดยอัตโนมัติ — วิเคราะห์ย้อนหลังและจับ Plan Regression ได้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โครงสร้าง 3 ส่วน: Query Text (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sys.query_store_query_text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), Plans (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sys.query_store_plan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), Runtime Stats แยกตาม interval + Wait Stats (2017+) และ Query Store Hints (2022+)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เปิดใช้งาน: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ALTER DATABASE ... SET QUERY_STORE = ON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+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OPERATION_MODE = READ_WRITE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QUERY_CAPTURE_MODE = AUTO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,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MAX_STORAGE_SIZE_MB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Capture mode: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AUTO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เหมาะ Production (เก็บเฉพาะ query ที่ใช้ resource พอสมควร) —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CUSTOM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ปรับ capture policy ละเอียดได้ (มีตั้งแต่ SQL Server 2019+; 2022 แก้เฉพาะค่า default ของ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QUERY_CAPTURE_POLICY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Query Store เป็น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Foundation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ของ Automatic Tuning และ Intelligent Query Processing — เปิดก่อนเสมอ</a:t>
            </a:r>
          </a:p>
        </p:txBody>
      </p:sp>
      <p:pic>
        <p:nvPicPr>
          <p:cNvPr id="4" name="Picture 3" descr="query-stor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จับ Plan Regression &amp; Plan Forcing — GUI vs T-SQL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Object Explorer → Database → Query Store →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Regressed Queries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JOIN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sys.query_store_query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/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query_text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/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plan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/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runtime_stats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เทียบ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avg_duration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ช่วงเก่า vs ล่าสุด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คำเตือน: Plan Forcing =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ยาฉุกเฉิน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ต้องตามแก้ต้นเหตุ (Statistics / Index) ต่อ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เลือก query เห็น 2 plans: Plan ดี (duration ต่ำ) vs Plan ช้า (duration สูง) → ปุ่ม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Force Plan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EXEC sp_query_store_force_plan @query_id, @plan_id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(ยกเลิกด้วย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sp_query_store_unforce_plan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→ ตรวจ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is_forced_plan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+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last_force_failure_reason_desc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Automatic Plan Correction — FORCE_LAST_GOOD_PLAN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เปิด: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ALTER DATABASE ... SET AUTOMATIC_TUNING (FORCE_LAST_GOOD_PLAN = ON)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— ระบบเรียนรู้ plan ที่ดีจาก Query Store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เงื่อนไข force อัตโนมัติ: CPU Gain &gt; 10 วินาที + Plan ใหม่ error มากกว่า Plan เดิม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Verification loop: Detect Regression → Force Last Good Plan → ดีกว่า = คงไว้ / แย่กว่า = Unforce อัตโนมัติแล้ว compile ใหม่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ดูคำแนะนำ: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sys.dm_db_tuning_recommendations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(มี script พร้อมแก้)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Best use case: เปิดหลัง Database Compatibility Level Upgrade เพื่อลดความเสี่ยง Regression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Automatic Index Management (create/drop) =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Azure SQL Database only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— on-prem ใช้ได้เฉพาะ Plan Correction</a:t>
            </a:r>
          </a:p>
        </p:txBody>
      </p:sp>
      <p:pic>
        <p:nvPicPr>
          <p:cNvPr id="4" name="Picture 3" descr="automatic-plan-correction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Feedback Loop ยุค 2022–2025 + Query Store Hints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Feedback ที่ Persist ลง Disk: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Memory Grant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(2019+, persist 2022+) /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DOP Feedback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(2022+) /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CE Feedback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(2022+) /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Optimized Plan Forcing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(2022+)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Query Store Hints: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sp_query_store_set_hints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ใส่ hint ต่อ query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โดยไม่แก้โค้ด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(2022+)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ABORT_QUERY_EXECUTION hint (2025)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บล็อก query ที่รู้ว่ามีปัญหา — ได้ error 8799 ทันที เหมาะกับ ad-hoc หนักที่แก้ app ไม่ทัน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Query Store สำหรับ readable secondary เปิด default ใน 2025 — วิเคราะห์ workload ฝั่ง AG secondary ได้เลย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Optimized sp_executesql (2025)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: ลด Compilation Storm (เชื่อมกับสไลด์ 7)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Lab 8 — Query Store: Regression, Force Plan &amp; Automatic Tuning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Scenario: proc เคยเร็วมาก แต่ "บางวันช้าตึ้ง" โดยไม่มีใครแก้โค้ด — ใช้ Query Store หา plan ที่ถดถอยแล้วบังคับใช้ plan ที่ดี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latin typeface="Leelawadee UI"/>
                <a:cs typeface="Leelawadee UI"/>
              </a:rPr>
              <a:t>4 Exercise:</a:t>
            </a:r>
            <a:r>
              <a:rPr sz="1600" b="0">
                <a:latin typeface="Leelawadee UI"/>
                <a:cs typeface="Leelawadee UI"/>
              </a:rPr>
              <a:t> (1) เปิด/ตั้งค่า Query Store (2) จำลอง Regression ด้วยการ drop index (3) วิเคราะห์ Regressed Plan + Force Plan ทั้ง GUI และ T-SQL (4) Query Store Hints + </a:t>
            </a:r>
            <a:r>
              <a:rPr sz="1600" b="0">
                <a:latin typeface="Consolas"/>
                <a:cs typeface="Consolas"/>
              </a:rPr>
              <a:t>ABORT_QUERY_EXECUTION</a:t>
            </a:r>
            <a:r>
              <a:rPr sz="1600" b="0">
                <a:latin typeface="Leelawadee UI"/>
                <a:cs typeface="Leelawadee UI"/>
              </a:rPr>
              <a:t> (2025) + Automatic Plan Correction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เครื่องมือ: SSMS + T-SQL บน AdventureWorks2025, permission </a:t>
            </a:r>
            <a:r>
              <a:rPr sz="1600" b="0">
                <a:latin typeface="Consolas"/>
                <a:cs typeface="Consolas"/>
              </a:rPr>
              <a:t>ALTER DATABASE</a:t>
            </a:r>
            <a:r>
              <a:rPr sz="1600" b="0">
                <a:latin typeface="Leelawadee UI"/>
                <a:cs typeface="Leelawadee UI"/>
              </a:rPr>
              <a:t> บน VM — รุ่นขั้นต่ำ 2019+ (แนะนำ 2025/17.x; Exercise 4 ต้องมี 17.x)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ปิดท้าย: Cleanup — </a:t>
            </a:r>
            <a:r>
              <a:rPr sz="1600" b="0">
                <a:latin typeface="Consolas"/>
                <a:cs typeface="Consolas"/>
              </a:rPr>
              <a:t>sp_query_store_remove_query</a:t>
            </a:r>
            <a:r>
              <a:rPr sz="1600" b="0">
                <a:latin typeface="Leelawadee UI"/>
                <a:cs typeface="Leelawadee UI"/>
              </a:rPr>
              <a:t>, ปิด AUTOMATIC_TUNING, คืน index ตามเดิม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สรุปโมดูล + เชื่อม Module 9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Plan Cache = การเทรด "ต้นทุน compile" กับ "พื้นที่ memory" — เป้าหมายคือ Reuse สูงและ Bloat ต่ำ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อาการป่วย 3 แบบที่วินิจฉัยได้ด้วย DMV + Counter: Recompile สูง / Parameter Sniffing / Ad-hoc Plan Bloat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Query Store เปิดก่อนเสมอ: จับ Regression, Force Plan เป็นยาฉุกเฉิน, Automatic Tuning ให้ระบบเยียวยาเอง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ถัดไป: </a:t>
            </a:r>
            <a:r>
              <a:rPr sz="1500" b="1">
                <a:latin typeface="Leelawadee UI"/>
                <a:cs typeface="Leelawadee UI"/>
              </a:rPr>
              <a:t>Module 9 — Extended Events</a:t>
            </a:r>
            <a:r>
              <a:rPr sz="1500" b="0">
                <a:latin typeface="Leelawadee UI"/>
                <a:cs typeface="Leelawadee UI"/>
              </a:rPr>
              <a:t> (Session/Event/Target — เครื่องมือจับพฤติกรรมเซิร์ฟเวอร์แบบละเอียด)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Quiz bank โมดูลนี้: มอบหมายตอบหลังเรียน (สร้างในเฟส 3 ของแผนผลิต)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rainocate">
      <a:dk1>
        <a:srgbClr val="1A1A1A"/>
      </a:dk1>
      <a:lt1>
        <a:sysClr val="window" lastClr="FFFFFF"/>
      </a:lt1>
      <a:dk2>
        <a:srgbClr val="000444"/>
      </a:dk2>
      <a:lt2>
        <a:srgbClr val="F7F7F7"/>
      </a:lt2>
      <a:accent1>
        <a:srgbClr val="000444"/>
      </a:accent1>
      <a:accent2>
        <a:srgbClr val="E94B22"/>
      </a:accent2>
      <a:accent3>
        <a:srgbClr val="FF3900"/>
      </a:accent3>
      <a:accent4>
        <a:srgbClr val="15155E"/>
      </a:accent4>
      <a:accent5>
        <a:srgbClr val="F5A623"/>
      </a:accent5>
      <a:accent6>
        <a:srgbClr val="6B6A6A"/>
      </a:accent6>
      <a:hlink>
        <a:srgbClr val="E94B22"/>
      </a:hlink>
      <a:folHlink>
        <a:srgbClr val="15155E"/>
      </a:folHlink>
    </a:clrScheme>
    <a:fontScheme name="Office">
      <a:majorFont>
        <a:latin typeface="Leelawadee UI" panose="02110004020202020204"/>
        <a:ea typeface=""/>
        <a:cs typeface="Leelawade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 panose="02110004020202020204"/>
        <a:ea typeface=""/>
        <a:cs typeface="Leelawade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ocate_SQLPerfTuning_Template.potx" id="{F1E5A7CF-DD4E-4134-8E80-8723502F551E}" vid="{3993AF59-4E85-4845-8CC3-0524E32EA5E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Leelawadee UI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Phakkhaphong Krittawat</dc:creator>
  <cp:lastModifiedBy>Phakkhaphong Krittawat</cp:lastModifiedBy>
  <cp:revision>1</cp:revision>
  <dcterms:created xsi:type="dcterms:W3CDTF">2026-09-26T12:09:30Z</dcterms:created>
  <dcterms:modified xsi:type="dcterms:W3CDTF">2026-09-26T12:09:30Z</dcterms:modified>
</cp:coreProperties>
</file>