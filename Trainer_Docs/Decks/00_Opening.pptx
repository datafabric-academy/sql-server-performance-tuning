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เปิดคอร์สด้วยคำสัญญาเดียว: "จบคอร์สแล้วคุณจะอ่านคอขวดจากข้อมูลภายใน SQL Server ได้เอง" **Ref:** 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ให้ผู้เรียนประเมินตัวเองตาม 3 ข้อแรก — ใครไม่แน่ใจ ให้เปิด Module 00 อ่าน 15 นาทีก่อนวันสอนวันที่ 2 **Ref:** Module_00_Getting_Started/README.md + README.md (Learning Path)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ย้ำว่าแต่ละโมดูลมีงบเวลาพิมพ์บนสไลด์ Divider ของโมดูลนั้น — เวลาจริงจากผู้เรียนทดสอบจะนำมาเทียบ **Ref:** Trainer_Docs/Course_Guide_4Days.md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ชี้ว่า M5/M9 คือแล็บจุดปิดคอร์ส (ยากสุด) — M11 รวมทุกอย่าง **Ref:** README.md (Learning Path) + Trainer_Docs/Production_Plan_Course_and_Slides.md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ให้ผู้เรียนถ่ายรูปสไลด์นี้ — 4 คำนี้จะถูกใช้ภายใน 30 นาทีแรกของ Module 1 **Ref:** Glossary.md + Module_00_Getting_Started/README.md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ให้ผู้เรียนรัน query ตรวจสิทธิ์สด ๆ ในห้อง — ใครได้ 0 ให้จัดการสิทธิ์ก่อนพัก **Ref:** Trainer_Docs/Course_Guide_4Days.md (Environment Setup) + Module_00_Getting_Started/README.md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ย้ำสัญญาของหลักสูตร: ทุกโค้ดในเอกสารรันจริงบน SQL Server 2025 RTM-GDR แล้ว — ถ้าเจออะไรต่างจาก Expected แจ้งผู้สอนทันที **Ref:** README.md (Usage) + Trainer_Docs/SignOff/AllLabs_SignOff.md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ปิดด้วยการชี้ว่า Module 1 จะเริ่มจากคำถาม "ระบบช้า" ของ Proseware Inc. ทันที — ไปพักแล้วเจอกัน 09:30 **Ref:** Module_01_Architecture_Scheduling_Waits/README.md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01 Cover (dark)">
    <p:bg>
      <p:bgPr>
        <a:solidFill>
          <a:srgbClr val="000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880A5-8FAB-9913-1EFC-8D73DF516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2057399"/>
            <a:ext cx="11183112" cy="1737360"/>
          </a:xfrm>
        </p:spPr>
        <p:txBody>
          <a:bodyPr/>
          <a:lstStyle>
            <a:lvl1pPr>
              <a:defRPr sz="4000" b="1">
                <a:solidFill>
                  <a:srgbClr val="FFFFFF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gline">
            <a:extLst>
              <a:ext uri="{FF2B5EF4-FFF2-40B4-BE49-F238E27FC236}">
                <a16:creationId xmlns:a16="http://schemas.microsoft.com/office/drawing/2014/main" id="{921E5C1F-D102-2273-4815-E78BE19D97B3}"/>
              </a:ext>
            </a:extLst>
          </p:cNvPr>
          <p:cNvSpPr txBox="1"/>
          <p:nvPr userDrawn="1"/>
        </p:nvSpPr>
        <p:spPr>
          <a:xfrm>
            <a:off x="502920" y="1371600"/>
            <a:ext cx="10515600" cy="26930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50">
                <a:solidFill>
                  <a:srgbClr val="8B8BA6"/>
                </a:solidFill>
                <a:latin typeface="Leelawadee UI" panose="020B0502040204020203" pitchFamily="34" charset="-34"/>
              </a:rPr>
              <a:t>WORLDWIDE LEADER IN PEOPLE, TECHNOLOGY AND BUSINESS TRAINING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22475ED5-2732-1ADD-A07D-4747CCB8FA0D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502920" y="3977640"/>
            <a:ext cx="11183112" cy="1097280"/>
          </a:xfrm>
        </p:spPr>
        <p:txBody>
          <a:bodyPr/>
          <a:lstStyle>
            <a:lvl1pPr marL="0" indent="0" algn="ctr">
              <a:buNone/>
              <a:defRPr sz="1700">
                <a:solidFill>
                  <a:srgbClr val="C9C9DB"/>
                </a:solidFill>
                <a:latin typeface="Leelawadee UI" panose="020B0502040204020203" pitchFamily="34" charset="-34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BrandSquare">
            <a:extLst>
              <a:ext uri="{FF2B5EF4-FFF2-40B4-BE49-F238E27FC236}">
                <a16:creationId xmlns:a16="http://schemas.microsoft.com/office/drawing/2014/main" id="{B0ECF00A-C239-A338-1330-D88658C633D7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BrandWordmark">
            <a:extLst>
              <a:ext uri="{FF2B5EF4-FFF2-40B4-BE49-F238E27FC236}">
                <a16:creationId xmlns:a16="http://schemas.microsoft.com/office/drawing/2014/main" id="{E2D2BF88-38BF-9016-9ECD-6B5B2CDEC683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8B8BA6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10" name="CourseFooter">
            <a:extLst>
              <a:ext uri="{FF2B5EF4-FFF2-40B4-BE49-F238E27FC236}">
                <a16:creationId xmlns:a16="http://schemas.microsoft.com/office/drawing/2014/main" id="{CFB404D7-FB5A-06B4-AF03-AC30A862FADE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2611173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02 Module Divider (dark)">
    <p:bg>
      <p:bgPr>
        <a:solidFill>
          <a:srgbClr val="000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C5AF3-C270-3F8C-6402-3028D2FF3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4224528"/>
            <a:ext cx="11183112" cy="1051560"/>
          </a:xfrm>
        </p:spPr>
        <p:txBody>
          <a:bodyPr/>
          <a:lstStyle>
            <a:lvl1pPr>
              <a:defRPr sz="3700" b="1">
                <a:solidFill>
                  <a:srgbClr val="FFFFFF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igNumber">
            <a:extLst>
              <a:ext uri="{FF2B5EF4-FFF2-40B4-BE49-F238E27FC236}">
                <a16:creationId xmlns:a16="http://schemas.microsoft.com/office/drawing/2014/main" id="{71608DF8-9323-8675-3E0F-69F575DBF6AD}"/>
              </a:ext>
            </a:extLst>
          </p:cNvPr>
          <p:cNvSpPr txBox="1"/>
          <p:nvPr userDrawn="1"/>
        </p:nvSpPr>
        <p:spPr>
          <a:xfrm>
            <a:off x="429768" y="1554480"/>
            <a:ext cx="4023360" cy="206210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800" b="1">
                <a:solidFill>
                  <a:srgbClr val="FFFFFF"/>
                </a:solidFill>
                <a:latin typeface="Leelawadee UI" panose="020B0502040204020203" pitchFamily="34" charset="-34"/>
              </a:rPr>
              <a:t>01</a:t>
            </a:r>
          </a:p>
        </p:txBody>
      </p:sp>
      <p:sp>
        <p:nvSpPr>
          <p:cNvPr id="7" name="ModuleKicker">
            <a:extLst>
              <a:ext uri="{FF2B5EF4-FFF2-40B4-BE49-F238E27FC236}">
                <a16:creationId xmlns:a16="http://schemas.microsoft.com/office/drawing/2014/main" id="{8F80D9DC-8352-308C-6D4C-1CF5C32E555E}"/>
              </a:ext>
            </a:extLst>
          </p:cNvPr>
          <p:cNvSpPr txBox="1"/>
          <p:nvPr userDrawn="1"/>
        </p:nvSpPr>
        <p:spPr>
          <a:xfrm>
            <a:off x="502920" y="3886200"/>
            <a:ext cx="27432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 b="1">
                <a:solidFill>
                  <a:srgbClr val="E94B22"/>
                </a:solidFill>
                <a:latin typeface="Leelawadee UI" panose="020B0502040204020203" pitchFamily="34" charset="-34"/>
              </a:rPr>
              <a:t>MODULE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051971E-2430-31F9-624F-3013E02F6408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02920" y="5285232"/>
            <a:ext cx="11183112" cy="822960"/>
          </a:xfrm>
        </p:spPr>
        <p:txBody>
          <a:bodyPr/>
          <a:lstStyle>
            <a:lvl1pPr>
              <a:defRPr sz="1600">
                <a:solidFill>
                  <a:srgbClr val="B9B9C9"/>
                </a:solidFill>
                <a:latin typeface="Leelawadee UI" panose="020B0502040204020203" pitchFamily="34" charset="-34"/>
              </a:defRPr>
            </a:lvl1pPr>
            <a:lvl2pPr>
              <a:defRPr sz="1600">
                <a:solidFill>
                  <a:srgbClr val="B9B9C9"/>
                </a:solidFill>
                <a:latin typeface="Leelawadee UI" panose="020B0502040204020203" pitchFamily="34" charset="-34"/>
              </a:defRPr>
            </a:lvl2pPr>
            <a:lvl3pPr>
              <a:defRPr sz="1600">
                <a:solidFill>
                  <a:srgbClr val="B9B9C9"/>
                </a:solidFill>
                <a:latin typeface="Leelawadee UI" panose="020B0502040204020203" pitchFamily="34" charset="-34"/>
              </a:defRPr>
            </a:lvl3pPr>
            <a:lvl4pPr>
              <a:defRPr sz="1600">
                <a:solidFill>
                  <a:srgbClr val="B9B9C9"/>
                </a:solidFill>
                <a:latin typeface="Leelawadee UI" panose="020B0502040204020203" pitchFamily="34" charset="-34"/>
              </a:defRPr>
            </a:lvl4pPr>
            <a:lvl5pPr>
              <a:defRPr sz="1600">
                <a:solidFill>
                  <a:srgbClr val="B9B9C9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BrandSquare">
            <a:extLst>
              <a:ext uri="{FF2B5EF4-FFF2-40B4-BE49-F238E27FC236}">
                <a16:creationId xmlns:a16="http://schemas.microsoft.com/office/drawing/2014/main" id="{ED7860CE-8BCD-1EDB-80A7-006E4B04889C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BrandWordmark">
            <a:extLst>
              <a:ext uri="{FF2B5EF4-FFF2-40B4-BE49-F238E27FC236}">
                <a16:creationId xmlns:a16="http://schemas.microsoft.com/office/drawing/2014/main" id="{3F9BBCD2-610E-34F6-3EBA-417303A22F28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8B8BA6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11" name="CourseFooter">
            <a:extLst>
              <a:ext uri="{FF2B5EF4-FFF2-40B4-BE49-F238E27FC236}">
                <a16:creationId xmlns:a16="http://schemas.microsoft.com/office/drawing/2014/main" id="{40298D1F-3D43-7E33-7DFB-202AFD609081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206097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03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8DF1E-9EFA-03E1-C45C-33A7D1558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859536"/>
            <a:ext cx="11183112" cy="685800"/>
          </a:xfrm>
        </p:spPr>
        <p:txBody>
          <a:bodyPr/>
          <a:lstStyle>
            <a:lvl1pPr>
              <a:defRPr sz="2900" b="1">
                <a:solidFill>
                  <a:srgbClr val="000444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0ECB77B-9789-F88B-5FEC-DD86D6BF9311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02920" y="1783080"/>
            <a:ext cx="11183112" cy="4480560"/>
          </a:xfrm>
        </p:spPr>
        <p:txBody>
          <a:bodyPr/>
          <a:lstStyle>
            <a:lvl1pPr>
              <a:defRPr sz="1550">
                <a:solidFill>
                  <a:srgbClr val="1F2333"/>
                </a:solidFill>
                <a:latin typeface="Leelawadee UI" panose="020B0502040204020203" pitchFamily="34" charset="-34"/>
              </a:defRPr>
            </a:lvl1pPr>
            <a:lvl2pPr>
              <a:defRPr sz="1550">
                <a:solidFill>
                  <a:srgbClr val="1F2333"/>
                </a:solidFill>
                <a:latin typeface="Leelawadee UI" panose="020B0502040204020203" pitchFamily="34" charset="-34"/>
              </a:defRPr>
            </a:lvl2pPr>
            <a:lvl3pPr>
              <a:defRPr sz="1550">
                <a:solidFill>
                  <a:srgbClr val="1F2333"/>
                </a:solidFill>
                <a:latin typeface="Leelawadee UI" panose="020B0502040204020203" pitchFamily="34" charset="-34"/>
              </a:defRPr>
            </a:lvl3pPr>
            <a:lvl4pPr>
              <a:defRPr sz="1550">
                <a:solidFill>
                  <a:srgbClr val="1F2333"/>
                </a:solidFill>
                <a:latin typeface="Leelawadee UI" panose="020B0502040204020203" pitchFamily="34" charset="-34"/>
              </a:defRPr>
            </a:lvl4pPr>
            <a:lvl5pPr>
              <a:defRPr sz="1550">
                <a:solidFill>
                  <a:srgbClr val="1F2333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BrandSquare">
            <a:extLst>
              <a:ext uri="{FF2B5EF4-FFF2-40B4-BE49-F238E27FC236}">
                <a16:creationId xmlns:a16="http://schemas.microsoft.com/office/drawing/2014/main" id="{7B531DF2-DA55-6E36-DA85-4CEA1D496EF3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BrandWordmark">
            <a:extLst>
              <a:ext uri="{FF2B5EF4-FFF2-40B4-BE49-F238E27FC236}">
                <a16:creationId xmlns:a16="http://schemas.microsoft.com/office/drawing/2014/main" id="{A7E44A4D-806B-DAD0-C11E-641D31AF7361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000444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6B6A6A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10" name="CourseFooter">
            <a:extLst>
              <a:ext uri="{FF2B5EF4-FFF2-40B4-BE49-F238E27FC236}">
                <a16:creationId xmlns:a16="http://schemas.microsoft.com/office/drawing/2014/main" id="{DBD347E7-97DE-14C3-9402-1B2A0FE14DDD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3884435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4 Two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FC824-D6B1-84AD-4D02-58A5DD72F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859536"/>
            <a:ext cx="11183112" cy="685800"/>
          </a:xfrm>
        </p:spPr>
        <p:txBody>
          <a:bodyPr/>
          <a:lstStyle>
            <a:lvl1pPr>
              <a:defRPr sz="2900" b="1">
                <a:solidFill>
                  <a:srgbClr val="000444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ABEC6DA-F0D6-6C13-8252-DD3CD328DB65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02920" y="1783080"/>
            <a:ext cx="5394960" cy="4480560"/>
          </a:xfrm>
        </p:spPr>
        <p:txBody>
          <a:bodyPr/>
          <a:lstStyle>
            <a:lvl1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1pPr>
            <a:lvl2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2pPr>
            <a:lvl3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3pPr>
            <a:lvl4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4pPr>
            <a:lvl5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5DE1CFEC-65E5-AE40-94E3-B098BDF3E0E4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6291072" y="1783080"/>
            <a:ext cx="5394960" cy="4480560"/>
          </a:xfrm>
        </p:spPr>
        <p:txBody>
          <a:bodyPr/>
          <a:lstStyle>
            <a:lvl1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1pPr>
            <a:lvl2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2pPr>
            <a:lvl3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3pPr>
            <a:lvl4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4pPr>
            <a:lvl5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BrandSquare">
            <a:extLst>
              <a:ext uri="{FF2B5EF4-FFF2-40B4-BE49-F238E27FC236}">
                <a16:creationId xmlns:a16="http://schemas.microsoft.com/office/drawing/2014/main" id="{005A685D-F87A-7E95-5666-A850472BAE07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BrandWordmark">
            <a:extLst>
              <a:ext uri="{FF2B5EF4-FFF2-40B4-BE49-F238E27FC236}">
                <a16:creationId xmlns:a16="http://schemas.microsoft.com/office/drawing/2014/main" id="{B385C038-2509-71B7-275D-6D27512D77B0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000444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6B6A6A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10" name="CourseFooter">
            <a:extLst>
              <a:ext uri="{FF2B5EF4-FFF2-40B4-BE49-F238E27FC236}">
                <a16:creationId xmlns:a16="http://schemas.microsoft.com/office/drawing/2014/main" id="{069261BB-B597-5A1A-4F02-1068C401FA80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422564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05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43770-572F-A7EB-FE61-BD74A91E8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859536"/>
            <a:ext cx="11183112" cy="685800"/>
          </a:xfrm>
        </p:spPr>
        <p:txBody>
          <a:bodyPr/>
          <a:lstStyle>
            <a:lvl1pPr>
              <a:defRPr sz="2900" b="1">
                <a:solidFill>
                  <a:srgbClr val="000444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89EA8A-5F10-57E6-E9D1-990BB462C9E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02920" y="1783080"/>
            <a:ext cx="11183112" cy="4297680"/>
          </a:xfrm>
        </p:spPr>
        <p:txBody>
          <a:bodyPr/>
          <a:lstStyle>
            <a:lvl1pPr>
              <a:defRPr sz="1250">
                <a:solidFill>
                  <a:srgbClr val="1F2333"/>
                </a:solidFill>
                <a:latin typeface="Leelawadee UI" panose="020B0502040204020203" pitchFamily="34" charset="-34"/>
              </a:defRPr>
            </a:lvl1pPr>
            <a:lvl2pPr>
              <a:defRPr sz="1250">
                <a:solidFill>
                  <a:srgbClr val="1F2333"/>
                </a:solidFill>
                <a:latin typeface="Leelawadee UI" panose="020B0502040204020203" pitchFamily="34" charset="-34"/>
              </a:defRPr>
            </a:lvl2pPr>
            <a:lvl3pPr>
              <a:defRPr sz="1250">
                <a:solidFill>
                  <a:srgbClr val="1F2333"/>
                </a:solidFill>
                <a:latin typeface="Leelawadee UI" panose="020B0502040204020203" pitchFamily="34" charset="-34"/>
              </a:defRPr>
            </a:lvl3pPr>
            <a:lvl4pPr>
              <a:defRPr sz="1250">
                <a:solidFill>
                  <a:srgbClr val="1F2333"/>
                </a:solidFill>
                <a:latin typeface="Leelawadee UI" panose="020B0502040204020203" pitchFamily="34" charset="-34"/>
              </a:defRPr>
            </a:lvl4pPr>
            <a:lvl5pPr>
              <a:defRPr sz="1250">
                <a:solidFill>
                  <a:srgbClr val="1F2333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BrandSquare">
            <a:extLst>
              <a:ext uri="{FF2B5EF4-FFF2-40B4-BE49-F238E27FC236}">
                <a16:creationId xmlns:a16="http://schemas.microsoft.com/office/drawing/2014/main" id="{F9262207-DA50-353B-D5E5-7DBAAC39C99B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BrandWordmark">
            <a:extLst>
              <a:ext uri="{FF2B5EF4-FFF2-40B4-BE49-F238E27FC236}">
                <a16:creationId xmlns:a16="http://schemas.microsoft.com/office/drawing/2014/main" id="{089EA7E6-55F0-111D-3F96-E39555A4CBEC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000444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6B6A6A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9" name="CourseFooter">
            <a:extLst>
              <a:ext uri="{FF2B5EF4-FFF2-40B4-BE49-F238E27FC236}">
                <a16:creationId xmlns:a16="http://schemas.microsoft.com/office/drawing/2014/main" id="{A7FE3C47-2373-D3EF-4A93-77C5F285234B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3991239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06 Code Lab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D4DDD-212C-1D63-C399-269518A8C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859536"/>
            <a:ext cx="11183112" cy="685800"/>
          </a:xfrm>
        </p:spPr>
        <p:txBody>
          <a:bodyPr/>
          <a:lstStyle>
            <a:lvl1pPr>
              <a:defRPr sz="2900" b="1">
                <a:solidFill>
                  <a:srgbClr val="000444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Panel">
            <a:extLst>
              <a:ext uri="{FF2B5EF4-FFF2-40B4-BE49-F238E27FC236}">
                <a16:creationId xmlns:a16="http://schemas.microsoft.com/office/drawing/2014/main" id="{776273E8-AD3A-1C34-49C3-DC754F8B4655}"/>
              </a:ext>
            </a:extLst>
          </p:cNvPr>
          <p:cNvSpPr/>
          <p:nvPr userDrawn="1"/>
        </p:nvSpPr>
        <p:spPr>
          <a:xfrm>
            <a:off x="502920" y="1737360"/>
            <a:ext cx="11183112" cy="4572000"/>
          </a:xfrm>
          <a:prstGeom prst="roundRect">
            <a:avLst>
              <a:gd name="adj" fmla="val 6000"/>
            </a:avLst>
          </a:prstGeom>
          <a:solidFill>
            <a:srgbClr val="0D0D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5F13386-576F-633E-9642-6069CF9B0B76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731520" y="1920240"/>
            <a:ext cx="10725912" cy="4206240"/>
          </a:xfrm>
        </p:spPr>
        <p:txBody>
          <a:bodyPr/>
          <a:lstStyle>
            <a:lvl1pPr>
              <a:defRPr sz="1200">
                <a:solidFill>
                  <a:srgbClr val="E9E9F4"/>
                </a:solidFill>
                <a:latin typeface="Consolas" panose="020B0609020204030204" pitchFamily="49" charset="0"/>
              </a:defRPr>
            </a:lvl1pPr>
            <a:lvl2pPr>
              <a:defRPr sz="1200">
                <a:solidFill>
                  <a:srgbClr val="E9E9F4"/>
                </a:solidFill>
                <a:latin typeface="Consolas" panose="020B0609020204030204" pitchFamily="49" charset="0"/>
              </a:defRPr>
            </a:lvl2pPr>
            <a:lvl3pPr>
              <a:defRPr sz="1200">
                <a:solidFill>
                  <a:srgbClr val="E9E9F4"/>
                </a:solidFill>
                <a:latin typeface="Consolas" panose="020B0609020204030204" pitchFamily="49" charset="0"/>
              </a:defRPr>
            </a:lvl3pPr>
            <a:lvl4pPr>
              <a:defRPr sz="1200">
                <a:solidFill>
                  <a:srgbClr val="E9E9F4"/>
                </a:solidFill>
                <a:latin typeface="Consolas" panose="020B0609020204030204" pitchFamily="49" charset="0"/>
              </a:defRPr>
            </a:lvl4pPr>
            <a:lvl5pPr>
              <a:defRPr sz="1200">
                <a:solidFill>
                  <a:srgbClr val="E9E9F4"/>
                </a:solidFill>
                <a:latin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BrandSquare">
            <a:extLst>
              <a:ext uri="{FF2B5EF4-FFF2-40B4-BE49-F238E27FC236}">
                <a16:creationId xmlns:a16="http://schemas.microsoft.com/office/drawing/2014/main" id="{6A364C23-0200-75DB-E887-D53D0760CA30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BrandWordmark">
            <a:extLst>
              <a:ext uri="{FF2B5EF4-FFF2-40B4-BE49-F238E27FC236}">
                <a16:creationId xmlns:a16="http://schemas.microsoft.com/office/drawing/2014/main" id="{CD123CE5-BCD9-C048-2463-15511C29B60E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000444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6B6A6A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10" name="CourseFooter">
            <a:extLst>
              <a:ext uri="{FF2B5EF4-FFF2-40B4-BE49-F238E27FC236}">
                <a16:creationId xmlns:a16="http://schemas.microsoft.com/office/drawing/2014/main" id="{E3B40D2F-B569-5E54-9C13-6B620A39821D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3689040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7 Stat Call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9D54F-7887-8A44-868B-EEAD8D5CD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859536"/>
            <a:ext cx="11183112" cy="685800"/>
          </a:xfrm>
        </p:spPr>
        <p:txBody>
          <a:bodyPr/>
          <a:lstStyle>
            <a:lvl1pPr>
              <a:defRPr sz="2900" b="1">
                <a:solidFill>
                  <a:srgbClr val="000444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889D7C-256D-B603-21F0-014984F2AE81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02920" y="1920240"/>
            <a:ext cx="5120640" cy="2468880"/>
          </a:xfrm>
        </p:spPr>
        <p:txBody>
          <a:bodyPr/>
          <a:lstStyle>
            <a:lvl1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1pPr>
            <a:lvl2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2pPr>
            <a:lvl3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3pPr>
            <a:lvl4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4pPr>
            <a:lvl5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2D303795-F2F2-BD1B-F013-A7BEDC9C21EE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6035040" y="1920240"/>
            <a:ext cx="5650992" cy="2468880"/>
          </a:xfrm>
        </p:spPr>
        <p:txBody>
          <a:bodyPr/>
          <a:lstStyle>
            <a:lvl1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1pPr>
            <a:lvl2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2pPr>
            <a:lvl3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3pPr>
            <a:lvl4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4pPr>
            <a:lvl5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BrandSquare">
            <a:extLst>
              <a:ext uri="{FF2B5EF4-FFF2-40B4-BE49-F238E27FC236}">
                <a16:creationId xmlns:a16="http://schemas.microsoft.com/office/drawing/2014/main" id="{05734C6E-DFF0-3B57-818C-69E93EBBA4D9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BrandWordmark">
            <a:extLst>
              <a:ext uri="{FF2B5EF4-FFF2-40B4-BE49-F238E27FC236}">
                <a16:creationId xmlns:a16="http://schemas.microsoft.com/office/drawing/2014/main" id="{ED34F2E4-2EFC-35B4-335A-C6685CE81AF6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000444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6B6A6A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10" name="CourseFooter">
            <a:extLst>
              <a:ext uri="{FF2B5EF4-FFF2-40B4-BE49-F238E27FC236}">
                <a16:creationId xmlns:a16="http://schemas.microsoft.com/office/drawing/2014/main" id="{CE22CBFE-B40D-9D03-2AFC-7142E4A4B59C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2980950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08 Closing (dark)">
    <p:bg>
      <p:bgPr>
        <a:solidFill>
          <a:srgbClr val="000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644D5-82AF-1F6F-6D81-485651FB1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2743200"/>
            <a:ext cx="11183112" cy="1188720"/>
          </a:xfrm>
        </p:spPr>
        <p:txBody>
          <a:bodyPr/>
          <a:lstStyle>
            <a:lvl1pPr>
              <a:defRPr sz="6000" b="1">
                <a:solidFill>
                  <a:srgbClr val="FFFFFF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357F960-21B7-7ABA-5A32-74E0A78A622B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02920" y="4114800"/>
            <a:ext cx="11183112" cy="822960"/>
          </a:xfrm>
        </p:spPr>
        <p:txBody>
          <a:bodyPr/>
          <a:lstStyle>
            <a:lvl1pPr>
              <a:defRPr sz="1700">
                <a:solidFill>
                  <a:srgbClr val="C9C9DB"/>
                </a:solidFill>
                <a:latin typeface="Leelawadee UI" panose="020B0502040204020203" pitchFamily="34" charset="-34"/>
              </a:defRPr>
            </a:lvl1pPr>
            <a:lvl2pPr>
              <a:defRPr sz="1700">
                <a:solidFill>
                  <a:srgbClr val="C9C9DB"/>
                </a:solidFill>
                <a:latin typeface="Leelawadee UI" panose="020B0502040204020203" pitchFamily="34" charset="-34"/>
              </a:defRPr>
            </a:lvl2pPr>
            <a:lvl3pPr>
              <a:defRPr sz="1700">
                <a:solidFill>
                  <a:srgbClr val="C9C9DB"/>
                </a:solidFill>
                <a:latin typeface="Leelawadee UI" panose="020B0502040204020203" pitchFamily="34" charset="-34"/>
              </a:defRPr>
            </a:lvl3pPr>
            <a:lvl4pPr>
              <a:defRPr sz="1700">
                <a:solidFill>
                  <a:srgbClr val="C9C9DB"/>
                </a:solidFill>
                <a:latin typeface="Leelawadee UI" panose="020B0502040204020203" pitchFamily="34" charset="-34"/>
              </a:defRPr>
            </a:lvl4pPr>
            <a:lvl5pPr>
              <a:defRPr sz="1700">
                <a:solidFill>
                  <a:srgbClr val="C9C9DB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BrandSquare">
            <a:extLst>
              <a:ext uri="{FF2B5EF4-FFF2-40B4-BE49-F238E27FC236}">
                <a16:creationId xmlns:a16="http://schemas.microsoft.com/office/drawing/2014/main" id="{FA49E17A-5A87-1B78-588F-DCEB268137FF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BrandWordmark">
            <a:extLst>
              <a:ext uri="{FF2B5EF4-FFF2-40B4-BE49-F238E27FC236}">
                <a16:creationId xmlns:a16="http://schemas.microsoft.com/office/drawing/2014/main" id="{35DBE03E-E4F0-39D7-F041-68477893B78C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8B8BA6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9" name="CourseFooter">
            <a:extLst>
              <a:ext uri="{FF2B5EF4-FFF2-40B4-BE49-F238E27FC236}">
                <a16:creationId xmlns:a16="http://schemas.microsoft.com/office/drawing/2014/main" id="{AE7B03E4-B170-4E44-4131-4D61229F43B8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17158797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DAD681-7824-3500-2A23-3D98C1DF7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BE8B42-9A59-95CD-9743-7DA33FD96A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DC859E-9E75-8253-5703-D8A8697D04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750564-7AFF-45C3-A26A-84A3050240D6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766B3B-860E-E2B1-C023-0B0E80CBDC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6E3BBA-287C-4617-EE72-89683A6B72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58F649-BB84-456D-AE44-E4FB38E42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886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SQL Server Performance Tuning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SQL Server Performance Tuning and Optimizing — หลักสูตร 4 วัน / 24 ชั่วโมง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วินิจฉัยด้วยข้อมูลจริง: DMVs · Extended Events · Query Store — ไม่เดาจาก Task Manager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ผู้สอน / วันที่อบรม: (เติมก่อนสอน)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เหมาะกับใคร / ต้องรู้อะไรก่อน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เหมาะกับ: DBA / Developer ที่ใช้ SQL Server อยู่แล้วและอยากแก้ปัญหา "ระบบช้า" อย่างเป็นระบบ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ต้องรู้ก่อน: การ admin เบื้องต้น (install, backup, SSMS) + </a:t>
            </a:r>
            <a:r>
              <a:rPr sz="1600" b="0">
                <a:solidFill>
                  <a:srgbClr val="243040"/>
                </a:solidFill>
                <a:latin typeface="Consolas"/>
                <a:cs typeface="Consolas"/>
              </a:rPr>
              <a:t>SELECT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/</a:t>
            </a:r>
            <a:r>
              <a:rPr sz="1600" b="0">
                <a:solidFill>
                  <a:srgbClr val="243040"/>
                </a:solidFill>
                <a:latin typeface="Consolas"/>
                <a:cs typeface="Consolas"/>
              </a:rPr>
              <a:t>JOIN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 — ไม่ต้องเคยใช้ DMV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เริ่มจากศูนย์ได้: Module 00 สอนศัพท์แกน (DMV / Wait Type / Scheduler / Plan) ก่อนเข้า Module 1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ตลอดคอร์ส: ศัพท์ใหม่ทุกตัวมีนิยาม + ลิงก์ Glossary กลางในทุก section และสไลด์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ผังการอบรม 4 วัน / 24 ชั่วโมง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วันที่ 1: Architecture &amp; I/O Foundation — Module 1–3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วันที่ 2: Memory, Concurrency &amp; Index — Module 4–6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วันที่ 3: Query Processing &amp; Plan Management — Module 7–9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วันที่ 4: Monitoring, Tuning Strategy &amp; Troubleshooting — Module 10–11 + Case Study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แผนที่ 11 โมดูล + เส้นทางการเรียน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สายพื้นฐาน: M1 Architecture/Waits → M2 I/O → M3 Structures → M4 Memory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สายปะทะจริง: M5 Concurrency → M6 Statistics/Index → M7 Query Execution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สายควบคุม: M8 Plan Caching → M9 Extended Events → M10 Monitoring → M11 Troubleshooting (capstone)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ทุกโมดูลจบด้วยแล็บที่รันได้จริง + Quiz Bank วัดความเข้าใจ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ศัพท์แกนที่ต้องติดตัวก่อนเริ่ม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DMV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— หน้าต่างอ่านสถานะภายในของ SQL Server (ต้องมีสิทธิ์ VIEW SERVER STATE)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Wait Type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— ชื่อเหตุผลที่งานต้อง "รอ" (คอขวดแท้จัดอันดับให้เอง)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Scheduler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— ผู้จัดคิว CPU ของ SQL Server (1 ตัวต่อ 1 CPU)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Execution Plan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— แผนที่ optimizer เลือกก่อนรัน query ของคุณ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นิยามเต็ม + ศัพท์อื่นทั้งหมด: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Glossary.md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ที่ root ของ repo (ใช้ตลอดคอร์ส)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Environment Setup — เตรียมเครื่องให้พร้อม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SQL Server 2025 (17.x) — </a:t>
            </a:r>
            <a:r>
              <a:rPr sz="1500" b="1">
                <a:latin typeface="Leelawadee UI"/>
                <a:cs typeface="Leelawadee UI"/>
              </a:rPr>
              <a:t>รุ่นต่ำสุดของคอร์ส</a:t>
            </a:r>
            <a:r>
              <a:rPr sz="1500" b="0">
                <a:latin typeface="Leelawadee UI"/>
                <a:cs typeface="Leelawadee UI"/>
              </a:rPr>
              <a:t> (แล็บ M5/M9 ใช้ฟีเจอร์ 2025 จริง)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Restore AdventureWorks2025 (2019/2022 ใช้ AdventureWorks2022)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สิทธิ์ </a:t>
            </a:r>
            <a:r>
              <a:rPr sz="1500" b="0">
                <a:latin typeface="Consolas"/>
                <a:cs typeface="Consolas"/>
              </a:rPr>
              <a:t>VIEW SERVER STATE</a:t>
            </a:r>
            <a:r>
              <a:rPr sz="1500" b="0">
                <a:latin typeface="Leelawadee UI"/>
                <a:cs typeface="Leelawadee UI"/>
              </a:rPr>
              <a:t> หรือบทบาท </a:t>
            </a:r>
            <a:r>
              <a:rPr sz="1500" b="0">
                <a:latin typeface="Consolas"/>
                <a:cs typeface="Consolas"/>
              </a:rPr>
              <a:t>##MS_ServerPerformanceStateReader##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ตรวจพร้อม: รัน </a:t>
            </a:r>
            <a:r>
              <a:rPr sz="1500" b="0">
                <a:latin typeface="Consolas"/>
                <a:cs typeface="Consolas"/>
              </a:rPr>
              <a:t>SELECT HAS_PERMS_BY_NAME(NULL,NULL,'VIEW SERVER STATE')</a:t>
            </a:r>
            <a:r>
              <a:rPr sz="1500" b="0">
                <a:latin typeface="Leelawadee UI"/>
                <a:cs typeface="Leelawadee UI"/>
              </a:rPr>
              <a:t> ต้องได้ 1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latin typeface="Leelawadee UI"/>
                <a:cs typeface="Leelawadee UI"/>
              </a:rPr>
              <a:t>Error ที่พบได้:</a:t>
            </a:r>
            <a:r>
              <a:rPr sz="1500" b="0">
                <a:latin typeface="Leelawadee UI"/>
                <a:cs typeface="Leelawadee UI"/>
              </a:rPr>
              <a:t> permission denied → ให้สิทธิ์ตามข้างบนก่อน (query ไม่ผิด)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latin typeface="Leelawadee UI"/>
                <a:cs typeface="Leelawadee UI"/>
              </a:rPr>
              <a:t>รุ่นขั้นต่ำ:</a:t>
            </a:r>
            <a:r>
              <a:rPr sz="1500" b="0">
                <a:latin typeface="Leelawadee UI"/>
                <a:cs typeface="Leelawadee UI"/>
              </a:rPr>
              <a:t> SQL Server 2025 (17.x) — Exercise ที่มี guard จะหยุดพร้อมข้อความแนะทางเลือกบนรุ่นเก่า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กติกาการเรียน — แล็บ, Quiz, และวิธีเดินตาม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ทุกโมดูล: บรรยาย → Demo → Lab (รวม 40 Exercise) — ทุก Exercise มีบล็อก </a:t>
            </a: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Expected: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ให้เทียบผลจริง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เจอ query error / ผลไม่ตรง: อ่าน ⚠️ หมายเหตุในแล็บ (จากการรันจริง) ก่อนถาม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จบแต่ละโมดูล: ทำ Quiz Bank (15–20 ข้อ เฉลยอธิบาย) เกณฑ์ผ่านตามที่ระบุท้ายไฟล์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ศัพท์ติดขัดทันที: เปิด Glossary.md — อย่าสะสมความงงข้ามโมดูล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ห้ามรันสิ่งที่แล็บห้ามบน production (เช่น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DBCC SQLPERF CLEAR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) — เตือนไว้ในตัวแล็บทุกจุด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พร้อมเริ่มแล้ว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4 วันนี้: จาก "ระบบช้า" ไม่รู้ต้นเหตุ → วินิจฉัยด้วย DMV/XE แล้วแก้ด้วยหลักฐาน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เครื่องมือติดตัว: Wait Statistics · DMVs · Query Store · Extended Events · Baseline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ทบทวน: Quiz Bank ทุกโมดูล + Glossary กลาง + แล็บรันซ้ำได้ทุกเมื่อ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เริ่มเลย: Module 01 — Architecture, Scheduling &amp; Waits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rainocate">
      <a:dk1>
        <a:srgbClr val="1A1A1A"/>
      </a:dk1>
      <a:lt1>
        <a:sysClr val="window" lastClr="FFFFFF"/>
      </a:lt1>
      <a:dk2>
        <a:srgbClr val="000444"/>
      </a:dk2>
      <a:lt2>
        <a:srgbClr val="F7F7F7"/>
      </a:lt2>
      <a:accent1>
        <a:srgbClr val="000444"/>
      </a:accent1>
      <a:accent2>
        <a:srgbClr val="E94B22"/>
      </a:accent2>
      <a:accent3>
        <a:srgbClr val="FF3900"/>
      </a:accent3>
      <a:accent4>
        <a:srgbClr val="15155E"/>
      </a:accent4>
      <a:accent5>
        <a:srgbClr val="F5A623"/>
      </a:accent5>
      <a:accent6>
        <a:srgbClr val="6B6A6A"/>
      </a:accent6>
      <a:hlink>
        <a:srgbClr val="E94B22"/>
      </a:hlink>
      <a:folHlink>
        <a:srgbClr val="15155E"/>
      </a:folHlink>
    </a:clrScheme>
    <a:fontScheme name="Office">
      <a:majorFont>
        <a:latin typeface="Leelawadee UI" panose="02110004020202020204"/>
        <a:ea typeface=""/>
        <a:cs typeface="Leelawadee UI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eelawadee UI" panose="02110004020202020204"/>
        <a:ea typeface=""/>
        <a:cs typeface="Leelawadee UI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rainocate_SQLPerfTuning_Template.potx" id="{F1E5A7CF-DD4E-4134-8E80-8723502F551E}" vid="{3993AF59-4E85-4845-8CC3-0524E32EA5E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Aptos</vt:lpstr>
      <vt:lpstr>Aptos Display</vt:lpstr>
      <vt:lpstr>Arial</vt:lpstr>
      <vt:lpstr>Consolas</vt:lpstr>
      <vt:lpstr>Leelawadee UI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Phakkhaphong Krittawat</dc:creator>
  <cp:lastModifiedBy>Phakkhaphong Krittawat</cp:lastModifiedBy>
  <cp:revision>1</cp:revision>
  <dcterms:created xsi:type="dcterms:W3CDTF">2026-09-26T12:09:30Z</dcterms:created>
  <dcterms:modified xsi:type="dcterms:W3CDTF">2026-09-26T12:09:30Z</dcterms:modified>
</cp:coreProperties>
</file>